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3"/>
    <p:sldId id="257" r:id="rId4"/>
    <p:sldId id="258" r:id="rId5"/>
    <p:sldId id="262" r:id="rId6"/>
    <p:sldId id="281" r:id="rId7"/>
    <p:sldId id="259" r:id="rId8"/>
    <p:sldId id="260" r:id="rId9"/>
    <p:sldId id="263" r:id="rId10"/>
    <p:sldId id="264" r:id="rId11"/>
    <p:sldId id="265" r:id="rId12"/>
    <p:sldId id="275" r:id="rId14"/>
    <p:sldId id="266" r:id="rId15"/>
    <p:sldId id="268" r:id="rId16"/>
    <p:sldId id="269" r:id="rId17"/>
    <p:sldId id="270" r:id="rId18"/>
    <p:sldId id="271" r:id="rId19"/>
    <p:sldId id="272" r:id="rId20"/>
    <p:sldId id="273" r:id="rId21"/>
    <p:sldId id="274" r:id="rId22"/>
    <p:sldId id="276" r:id="rId23"/>
    <p:sldId id="277" r:id="rId24"/>
    <p:sldId id="278" r:id="rId25"/>
    <p:sldId id="279" r:id="rId26"/>
    <p:sldId id="280" r:id="rId2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6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6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a:fld>
            <a:endParaRPr lang="en-US"/>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fld id="{B6F15528-21DE-4FAA-801E-634DDDAF4B2B}" type="slidenum">
              <a:rPr/>
            </a:fld>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fld>
            <a:endParaRPr lang="en-US"/>
          </a:p>
        </p:txBody>
      </p:sp>
      <p:sp>
        <p:nvSpPr>
          <p:cNvPr id="5" name="Footer Placeholder 4"/>
          <p:cNvSpPr>
            <a:spLocks noGrp="1"/>
          </p:cNvSpPr>
          <p:nvPr>
            <p:ph type="ftr" sz="quarter" idx="11"/>
          </p:nvPr>
        </p:nvSpPr>
        <p:spPr/>
        <p:txBody>
          <a:bodyPr/>
          <a:lstStyle/>
          <a:p/>
        </p:txBody>
      </p:sp>
      <p:sp>
        <p:nvSpPr>
          <p:cNvPr id="6" name="Slide Number Placeholder 5"/>
          <p:cNvSpPr>
            <a:spLocks noGrp="1"/>
          </p:cNvSpPr>
          <p:nvPr>
            <p:ph type="sldNum" sz="quarter" idx="12"/>
          </p:nvPr>
        </p:nvSpPr>
        <p:spPr/>
        <p:txBody>
          <a:bodyPr/>
          <a:lstStyle/>
          <a:p>
            <a:fld id="{B6F15528-21DE-4FAA-801E-634DDDAF4B2B}" type="slidenum">
              <a:rPr/>
            </a:fld>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205728" y="1600200"/>
            <a:ext cx="5376672"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a:fld>
            <a:endParaRPr lang="en-US"/>
          </a:p>
        </p:txBody>
      </p:sp>
      <p:sp>
        <p:nvSpPr>
          <p:cNvPr id="6" name="Footer Placeholder 5"/>
          <p:cNvSpPr>
            <a:spLocks noGrp="1"/>
          </p:cNvSpPr>
          <p:nvPr>
            <p:ph type="ftr" sz="quarter" idx="11"/>
          </p:nvPr>
        </p:nvSpPr>
        <p:spPr/>
        <p:txBody>
          <a:bodyPr/>
          <a:lstStyle/>
          <a:p/>
        </p:txBody>
      </p:sp>
      <p:sp>
        <p:nvSpPr>
          <p:cNvPr id="7" name="Slide Number Placeholder 6"/>
          <p:cNvSpPr>
            <a:spLocks noGrp="1"/>
          </p:cNvSpPr>
          <p:nvPr>
            <p:ph type="sldNum" sz="quarter" idx="12"/>
          </p:nvPr>
        </p:nvSpPr>
        <p:spPr/>
        <p:txBody>
          <a:bodyPr/>
          <a:lstStyle/>
          <a:p>
            <a:fld id="{B6F15528-21DE-4FAA-801E-634DDDAF4B2B}" type="slidenum">
              <a:rPr/>
            </a:fld>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lvl="0"/>
            <a:endParaRPr lang="en-US"/>
          </a:p>
        </p:txBody>
      </p:sp>
      <p:sp>
        <p:nvSpPr>
          <p:cNvPr id="8" name="Footer Placeholder 7"/>
          <p:cNvSpPr>
            <a:spLocks noGrp="1"/>
          </p:cNvSpPr>
          <p:nvPr>
            <p:ph type="ftr" sz="quarter" idx="11"/>
          </p:nvPr>
        </p:nvSpPr>
        <p:spPr/>
        <p:txBody>
          <a:bodyPr/>
          <a:lstStyle/>
          <a:p>
            <a:pPr lvl="0"/>
            <a:endParaRPr lang="en-US"/>
          </a:p>
        </p:txBody>
      </p:sp>
      <p:sp>
        <p:nvSpPr>
          <p:cNvPr id="9" name="Slide Number Placeholder 8"/>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a:fld>
            <a:endParaRPr lang="en-US"/>
          </a:p>
        </p:txBody>
      </p:sp>
      <p:sp>
        <p:nvSpPr>
          <p:cNvPr id="4" name="Footer Placeholder 3"/>
          <p:cNvSpPr>
            <a:spLocks noGrp="1"/>
          </p:cNvSpPr>
          <p:nvPr>
            <p:ph type="ftr" sz="quarter" idx="11"/>
          </p:nvPr>
        </p:nvSpPr>
        <p:spPr/>
        <p:txBody>
          <a:bodyPr/>
          <a:lstStyle/>
          <a:p/>
        </p:txBody>
      </p:sp>
      <p:sp>
        <p:nvSpPr>
          <p:cNvPr id="5" name="Slide Number Placeholder 4"/>
          <p:cNvSpPr>
            <a:spLocks noGrp="1"/>
          </p:cNvSpPr>
          <p:nvPr>
            <p:ph type="sldNum" sz="quarter" idx="12"/>
          </p:nvPr>
        </p:nvSpPr>
        <p:spPr/>
        <p:txBody>
          <a:bodyPr/>
          <a:lstStyle/>
          <a:p>
            <a:fld id="{B6F15528-21DE-4FAA-801E-634DDDAF4B2B}" type="slidenum">
              <a:rPr/>
            </a:fld>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a:fld>
            <a:endParaRPr lang="en-US"/>
          </a:p>
        </p:txBody>
      </p:sp>
      <p:sp>
        <p:nvSpPr>
          <p:cNvPr id="3" name="Footer Placeholder 2"/>
          <p:cNvSpPr>
            <a:spLocks noGrp="1"/>
          </p:cNvSpPr>
          <p:nvPr>
            <p:ph type="ftr" sz="quarter" idx="11"/>
          </p:nvPr>
        </p:nvSpPr>
        <p:spPr/>
        <p:txBody>
          <a:bodyPr/>
          <a:lstStyle/>
          <a:p/>
        </p:txBody>
      </p:sp>
      <p:sp>
        <p:nvSpPr>
          <p:cNvPr id="4" name="Slide Number Placeholder 3"/>
          <p:cNvSpPr>
            <a:spLocks noGrp="1"/>
          </p:cNvSpPr>
          <p:nvPr>
            <p:ph type="sldNum" sz="quarter" idx="12"/>
          </p:nvPr>
        </p:nvSpPr>
        <p:spPr/>
        <p:txBody>
          <a:bodyPr/>
          <a:lstStyle/>
          <a:p>
            <a:fld id="{B6F15528-21DE-4FAA-801E-634DDDAF4B2B}" type="slidenum">
              <a:rPr/>
            </a:fld>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lvl="0"/>
            <a:endParaRPr lang="en-US"/>
          </a:p>
        </p:txBody>
      </p:sp>
      <p:sp>
        <p:nvSpPr>
          <p:cNvPr id="6" name="Footer Placeholder 5"/>
          <p:cNvSpPr>
            <a:spLocks noGrp="1"/>
          </p:cNvSpPr>
          <p:nvPr>
            <p:ph type="ftr" sz="quarter" idx="11"/>
          </p:nvPr>
        </p:nvSpPr>
        <p:spPr/>
        <p:txBody>
          <a:bodyPr/>
          <a:lstStyle/>
          <a:p>
            <a:pPr lvl="0"/>
            <a:endParaRPr lang="en-US"/>
          </a:p>
        </p:txBody>
      </p:sp>
      <p:sp>
        <p:nvSpPr>
          <p:cNvPr id="7" name="Slide Number Placeholder 6"/>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70573"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n-US"/>
          </a:p>
        </p:txBody>
      </p:sp>
      <p:sp>
        <p:nvSpPr>
          <p:cNvPr id="5" name="Footer Placeholder 4"/>
          <p:cNvSpPr>
            <a:spLocks noGrp="1"/>
          </p:cNvSpPr>
          <p:nvPr>
            <p:ph type="ftr" sz="quarter" idx="11"/>
          </p:nvPr>
        </p:nvSpPr>
        <p:spPr/>
        <p:txBody>
          <a:bodyPr/>
          <a:lstStyle/>
          <a:p>
            <a:pPr lvl="0"/>
            <a:endParaRPr lang="en-US"/>
          </a:p>
        </p:txBody>
      </p:sp>
      <p:sp>
        <p:nvSpPr>
          <p:cNvPr id="6" name="Slide Number Placeholder 5"/>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609600" y="274638"/>
            <a:ext cx="109728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609600" y="1600200"/>
            <a:ext cx="109728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609600" y="6245225"/>
            <a:ext cx="2844800" cy="476250"/>
          </a:xfrm>
          <a:prstGeom prst="rect">
            <a:avLst/>
          </a:prstGeom>
          <a:noFill/>
          <a:ln w="9525">
            <a:noFill/>
          </a:ln>
        </p:spPr>
        <p:txBody>
          <a:bodyPr/>
          <a:lstStyle>
            <a:lvl1pPr>
              <a:defRPr sz="1400"/>
            </a:lvl1pPr>
          </a:lstStyle>
          <a:p>
            <a:fld id="{1D8BD707-D9CF-40AE-B4C6-C98DA3205C09}" type="datetimeFigureOut">
              <a:rPr lang="en-US"/>
            </a:fld>
            <a:endParaRPr lang="en-US"/>
          </a:p>
        </p:txBody>
      </p:sp>
      <p:sp>
        <p:nvSpPr>
          <p:cNvPr id="1029" name="Footer Placeholder 1028"/>
          <p:cNvSpPr/>
          <p:nvPr>
            <p:ph type="ftr" sz="quarter" idx="3"/>
          </p:nvPr>
        </p:nvSpPr>
        <p:spPr>
          <a:xfrm>
            <a:off x="4165600" y="6245225"/>
            <a:ext cx="3860800" cy="476250"/>
          </a:xfrm>
          <a:prstGeom prst="rect">
            <a:avLst/>
          </a:prstGeom>
          <a:noFill/>
          <a:ln w="9525">
            <a:noFill/>
          </a:ln>
        </p:spPr>
        <p:txBody>
          <a:bodyPr/>
          <a:lstStyle>
            <a:lvl1pPr algn="ctr">
              <a:defRPr sz="1400"/>
            </a:lvl1pPr>
          </a:lstStyle>
          <a:p/>
        </p:txBody>
      </p:sp>
      <p:sp>
        <p:nvSpPr>
          <p:cNvPr id="1030" name="Slide Number Placeholder 1029"/>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jpeg"/><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17.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3" Type="http://schemas.openxmlformats.org/officeDocument/2006/relationships/slideLayout" Target="../slideLayouts/slideLayout7.xml"/><Relationship Id="rId22" Type="http://schemas.openxmlformats.org/officeDocument/2006/relationships/image" Target="../media/image32.png"/><Relationship Id="rId21" Type="http://schemas.openxmlformats.org/officeDocument/2006/relationships/image" Target="../media/image31.png"/><Relationship Id="rId20" Type="http://schemas.openxmlformats.org/officeDocument/2006/relationships/image" Target="../media/image30.png"/><Relationship Id="rId2" Type="http://schemas.openxmlformats.org/officeDocument/2006/relationships/image" Target="../media/image12.png"/><Relationship Id="rId19" Type="http://schemas.openxmlformats.org/officeDocument/2006/relationships/image" Target="../media/image29.png"/><Relationship Id="rId18" Type="http://schemas.openxmlformats.org/officeDocument/2006/relationships/image" Target="../media/image28.png"/><Relationship Id="rId17" Type="http://schemas.openxmlformats.org/officeDocument/2006/relationships/image" Target="../media/image27.png"/><Relationship Id="rId16" Type="http://schemas.openxmlformats.org/officeDocument/2006/relationships/image" Target="../media/image26.png"/><Relationship Id="rId15" Type="http://schemas.openxmlformats.org/officeDocument/2006/relationships/image" Target="../media/image25.png"/><Relationship Id="rId14" Type="http://schemas.openxmlformats.org/officeDocument/2006/relationships/image" Target="../media/image24.png"/><Relationship Id="rId13" Type="http://schemas.openxmlformats.org/officeDocument/2006/relationships/image" Target="../media/image23.png"/><Relationship Id="rId12" Type="http://schemas.openxmlformats.org/officeDocument/2006/relationships/image" Target="../media/image22.png"/><Relationship Id="rId11" Type="http://schemas.openxmlformats.org/officeDocument/2006/relationships/image" Target="../media/image21.png"/><Relationship Id="rId10" Type="http://schemas.openxmlformats.org/officeDocument/2006/relationships/image" Target="../media/image20.png"/><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5.png"/><Relationship Id="rId1"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a:spLocks noGrp="1"/>
          </p:cNvSpPr>
          <p:nvPr>
            <p:ph type="title"/>
          </p:nvPr>
        </p:nvSpPr>
        <p:spPr>
          <a:xfrm>
            <a:off x="675640" y="696913"/>
            <a:ext cx="10674350" cy="1366520"/>
          </a:xfrm>
          <a:prstGeom prst="rect">
            <a:avLst/>
          </a:prstGeom>
          <a:solidFill>
            <a:schemeClr val="bg1"/>
          </a:solidFill>
        </p:spPr>
        <p:txBody>
          <a:bodyPr vert="horz" wrap="square" lIns="0" tIns="12700" rIns="0" bIns="0" rtlCol="0">
            <a:spAutoFit/>
          </a:bodyPr>
          <a:lstStyle/>
          <a:p>
            <a:pPr marL="12700" marR="5080">
              <a:lnSpc>
                <a:spcPct val="100000"/>
              </a:lnSpc>
              <a:spcBef>
                <a:spcPts val="100"/>
              </a:spcBef>
            </a:pPr>
            <a:r>
              <a:rPr spc="-305" dirty="0">
                <a:ln/>
                <a:solidFill>
                  <a:schemeClr val="tx1"/>
                </a:solidFill>
                <a:effectLst>
                  <a:outerShdw blurRad="38100" dist="19050" dir="2700000" algn="tl" rotWithShape="0">
                    <a:schemeClr val="dk1">
                      <a:alpha val="40000"/>
                    </a:schemeClr>
                  </a:outerShdw>
                </a:effectLst>
              </a:rPr>
              <a:t>CRIME</a:t>
            </a:r>
            <a:r>
              <a:rPr spc="-80" dirty="0">
                <a:ln/>
                <a:solidFill>
                  <a:schemeClr val="tx1"/>
                </a:solidFill>
                <a:effectLst>
                  <a:outerShdw blurRad="38100" dist="19050" dir="2700000" algn="tl" rotWithShape="0">
                    <a:schemeClr val="dk1">
                      <a:alpha val="40000"/>
                    </a:schemeClr>
                  </a:outerShdw>
                </a:effectLst>
              </a:rPr>
              <a:t> </a:t>
            </a:r>
            <a:r>
              <a:rPr spc="-440" dirty="0">
                <a:ln/>
                <a:solidFill>
                  <a:schemeClr val="tx1"/>
                </a:solidFill>
                <a:effectLst>
                  <a:outerShdw blurRad="38100" dist="19050" dir="2700000" algn="tl" rotWithShape="0">
                    <a:schemeClr val="dk1">
                      <a:alpha val="40000"/>
                    </a:schemeClr>
                  </a:outerShdw>
                </a:effectLst>
              </a:rPr>
              <a:t>RATE</a:t>
            </a:r>
            <a:r>
              <a:rPr spc="-70" dirty="0">
                <a:ln/>
                <a:solidFill>
                  <a:schemeClr val="tx1"/>
                </a:solidFill>
                <a:effectLst>
                  <a:outerShdw blurRad="38100" dist="19050" dir="2700000" algn="tl" rotWithShape="0">
                    <a:schemeClr val="dk1">
                      <a:alpha val="40000"/>
                    </a:schemeClr>
                  </a:outerShdw>
                </a:effectLst>
              </a:rPr>
              <a:t> </a:t>
            </a:r>
            <a:r>
              <a:rPr spc="-325" dirty="0">
                <a:ln/>
                <a:solidFill>
                  <a:schemeClr val="tx1"/>
                </a:solidFill>
                <a:effectLst>
                  <a:outerShdw blurRad="38100" dist="19050" dir="2700000" algn="tl" rotWithShape="0">
                    <a:schemeClr val="dk1">
                      <a:alpha val="40000"/>
                    </a:schemeClr>
                  </a:outerShdw>
                </a:effectLst>
              </a:rPr>
              <a:t>ANALYSIS</a:t>
            </a:r>
            <a:r>
              <a:rPr spc="-75" dirty="0">
                <a:ln/>
                <a:solidFill>
                  <a:schemeClr val="tx1"/>
                </a:solidFill>
                <a:effectLst>
                  <a:outerShdw blurRad="38100" dist="19050" dir="2700000" algn="tl" rotWithShape="0">
                    <a:schemeClr val="dk1">
                      <a:alpha val="40000"/>
                    </a:schemeClr>
                  </a:outerShdw>
                </a:effectLst>
              </a:rPr>
              <a:t> </a:t>
            </a:r>
            <a:r>
              <a:rPr spc="-25" dirty="0">
                <a:ln/>
                <a:solidFill>
                  <a:schemeClr val="tx1"/>
                </a:solidFill>
                <a:effectLst>
                  <a:outerShdw blurRad="38100" dist="19050" dir="2700000" algn="tl" rotWithShape="0">
                    <a:schemeClr val="dk1">
                      <a:alpha val="40000"/>
                    </a:schemeClr>
                  </a:outerShdw>
                </a:effectLst>
              </a:rPr>
              <a:t>AND </a:t>
            </a:r>
            <a:r>
              <a:rPr spc="-390" dirty="0">
                <a:ln/>
                <a:solidFill>
                  <a:schemeClr val="tx1"/>
                </a:solidFill>
                <a:effectLst>
                  <a:outerShdw blurRad="38100" dist="19050" dir="2700000" algn="tl" rotWithShape="0">
                    <a:schemeClr val="dk1">
                      <a:alpha val="40000"/>
                    </a:schemeClr>
                  </a:outerShdw>
                </a:effectLst>
              </a:rPr>
              <a:t>PREDICTION</a:t>
            </a:r>
            <a:r>
              <a:rPr spc="-75" dirty="0">
                <a:ln/>
                <a:solidFill>
                  <a:schemeClr val="tx1"/>
                </a:solidFill>
                <a:effectLst>
                  <a:outerShdw blurRad="38100" dist="19050" dir="2700000" algn="tl" rotWithShape="0">
                    <a:schemeClr val="dk1">
                      <a:alpha val="40000"/>
                    </a:schemeClr>
                  </a:outerShdw>
                </a:effectLst>
              </a:rPr>
              <a:t> </a:t>
            </a:r>
            <a:r>
              <a:rPr spc="-330" dirty="0">
                <a:ln/>
                <a:solidFill>
                  <a:schemeClr val="tx1"/>
                </a:solidFill>
                <a:effectLst>
                  <a:outerShdw blurRad="38100" dist="19050" dir="2700000" algn="tl" rotWithShape="0">
                    <a:schemeClr val="dk1">
                      <a:alpha val="40000"/>
                    </a:schemeClr>
                  </a:outerShdw>
                </a:effectLst>
              </a:rPr>
              <a:t>USING</a:t>
            </a:r>
            <a:r>
              <a:rPr spc="-65" dirty="0">
                <a:ln/>
                <a:solidFill>
                  <a:schemeClr val="tx1"/>
                </a:solidFill>
                <a:effectLst>
                  <a:outerShdw blurRad="38100" dist="19050" dir="2700000" algn="tl" rotWithShape="0">
                    <a:schemeClr val="dk1">
                      <a:alpha val="40000"/>
                    </a:schemeClr>
                  </a:outerShdw>
                </a:effectLst>
              </a:rPr>
              <a:t> </a:t>
            </a:r>
            <a:r>
              <a:rPr spc="-120" dirty="0">
                <a:ln/>
                <a:solidFill>
                  <a:schemeClr val="tx1"/>
                </a:solidFill>
                <a:effectLst>
                  <a:outerShdw blurRad="38100" dist="19050" dir="2700000" algn="tl" rotWithShape="0">
                    <a:schemeClr val="dk1">
                      <a:alpha val="40000"/>
                    </a:schemeClr>
                  </a:outerShdw>
                </a:effectLst>
              </a:rPr>
              <a:t>MACHINE</a:t>
            </a:r>
            <a:r>
              <a:rPr lang="en-US" spc="-120" dirty="0">
                <a:ln/>
                <a:solidFill>
                  <a:schemeClr val="tx1"/>
                </a:solidFill>
                <a:effectLst>
                  <a:outerShdw blurRad="38100" dist="19050" dir="2700000" algn="tl" rotWithShape="0">
                    <a:schemeClr val="dk1">
                      <a:alpha val="40000"/>
                    </a:schemeClr>
                  </a:outerShdw>
                </a:effectLst>
              </a:rPr>
              <a:t> </a:t>
            </a:r>
            <a:r>
              <a:rPr spc="-295" dirty="0">
                <a:ln/>
                <a:solidFill>
                  <a:schemeClr val="tx1"/>
                </a:solidFill>
                <a:effectLst>
                  <a:outerShdw blurRad="38100" dist="19050" dir="2700000" algn="tl" rotWithShape="0">
                    <a:schemeClr val="dk1">
                      <a:alpha val="40000"/>
                    </a:schemeClr>
                  </a:outerShdw>
                </a:effectLst>
              </a:rPr>
              <a:t>LEARNING</a:t>
            </a:r>
            <a:endParaRPr spc="-295" dirty="0">
              <a:ln/>
              <a:solidFill>
                <a:schemeClr val="tx1"/>
              </a:solidFill>
              <a:effectLst>
                <a:outerShdw blurRad="38100" dist="19050" dir="2700000" algn="tl" rotWithShape="0">
                  <a:schemeClr val="dk1">
                    <a:alpha val="40000"/>
                  </a:schemeClr>
                </a:outerShdw>
              </a:effectLst>
            </a:endParaRPr>
          </a:p>
        </p:txBody>
      </p:sp>
      <p:grpSp>
        <p:nvGrpSpPr>
          <p:cNvPr id="11" name="object 11"/>
          <p:cNvGrpSpPr/>
          <p:nvPr/>
        </p:nvGrpSpPr>
        <p:grpSpPr>
          <a:xfrm>
            <a:off x="5250179" y="3329940"/>
            <a:ext cx="6708140" cy="1090930"/>
            <a:chOff x="5250179" y="3329940"/>
            <a:chExt cx="6708140" cy="1090930"/>
          </a:xfrm>
        </p:grpSpPr>
        <p:pic>
          <p:nvPicPr>
            <p:cNvPr id="12" name="object 12"/>
            <p:cNvPicPr/>
            <p:nvPr/>
          </p:nvPicPr>
          <p:blipFill>
            <a:blip r:embed="rId1" cstate="print"/>
            <a:stretch>
              <a:fillRect/>
            </a:stretch>
          </p:blipFill>
          <p:spPr>
            <a:xfrm>
              <a:off x="5250179" y="3329940"/>
              <a:ext cx="1605533" cy="733806"/>
            </a:xfrm>
            <a:prstGeom prst="rect">
              <a:avLst/>
            </a:prstGeom>
          </p:spPr>
        </p:pic>
        <p:pic>
          <p:nvPicPr>
            <p:cNvPr id="13" name="object 13"/>
            <p:cNvPicPr/>
            <p:nvPr/>
          </p:nvPicPr>
          <p:blipFill>
            <a:blip r:embed="rId2" cstate="print"/>
            <a:stretch>
              <a:fillRect/>
            </a:stretch>
          </p:blipFill>
          <p:spPr>
            <a:xfrm>
              <a:off x="6419087" y="3329940"/>
              <a:ext cx="5538977" cy="733806"/>
            </a:xfrm>
            <a:prstGeom prst="rect">
              <a:avLst/>
            </a:prstGeom>
          </p:spPr>
        </p:pic>
        <p:pic>
          <p:nvPicPr>
            <p:cNvPr id="14" name="object 14"/>
            <p:cNvPicPr/>
            <p:nvPr/>
          </p:nvPicPr>
          <p:blipFill>
            <a:blip r:embed="rId3" cstate="print"/>
            <a:stretch>
              <a:fillRect/>
            </a:stretch>
          </p:blipFill>
          <p:spPr>
            <a:xfrm>
              <a:off x="5250179" y="3686556"/>
              <a:ext cx="2248662" cy="733806"/>
            </a:xfrm>
            <a:prstGeom prst="rect">
              <a:avLst/>
            </a:prstGeom>
          </p:spPr>
        </p:pic>
      </p:grpSp>
      <p:sp>
        <p:nvSpPr>
          <p:cNvPr id="15" name="object 15"/>
          <p:cNvSpPr txBox="1"/>
          <p:nvPr/>
        </p:nvSpPr>
        <p:spPr>
          <a:xfrm>
            <a:off x="5450840" y="3425190"/>
            <a:ext cx="6535420" cy="786765"/>
          </a:xfrm>
          <a:prstGeom prst="rect">
            <a:avLst/>
          </a:prstGeom>
          <a:solidFill>
            <a:schemeClr val="bg1"/>
          </a:solidFill>
        </p:spPr>
        <p:style>
          <a:lnRef idx="0">
            <a:srgbClr val="FFFFFF"/>
          </a:lnRef>
          <a:fillRef idx="2">
            <a:prstClr val="black"/>
          </a:fillRef>
          <a:effectRef idx="0">
            <a:srgbClr val="FFFFFF"/>
          </a:effectRef>
          <a:fontRef idx="minor">
            <a:schemeClr val="lt1"/>
          </a:fontRef>
        </p:style>
        <p:txBody>
          <a:bodyPr vert="horz" wrap="square" lIns="0" tIns="13335" rIns="0" bIns="0" rtlCol="0">
            <a:spAutoFit/>
          </a:bodyPr>
          <a:lstStyle/>
          <a:p>
            <a:pPr marL="12700">
              <a:lnSpc>
                <a:spcPts val="2965"/>
              </a:lnSpc>
              <a:spcBef>
                <a:spcPts val="105"/>
              </a:spcBef>
            </a:pPr>
            <a:r>
              <a:rPr lang="en-US" sz="2600" b="1" dirty="0">
                <a:ln>
                  <a:solidFill>
                    <a:schemeClr val="tx1"/>
                  </a:solidFill>
                </a:ln>
                <a:solidFill>
                  <a:schemeClr val="tx1"/>
                </a:solidFill>
                <a:latin typeface="Times New Roman" panose="02020603050405020304" charset="0"/>
                <a:cs typeface="Times New Roman" panose="02020603050405020304" charset="0"/>
              </a:rPr>
              <a:t>Under The </a:t>
            </a:r>
            <a:r>
              <a:rPr sz="2600" b="1" dirty="0">
                <a:ln>
                  <a:solidFill>
                    <a:schemeClr val="tx1"/>
                  </a:solidFill>
                </a:ln>
                <a:solidFill>
                  <a:schemeClr val="tx1"/>
                </a:solidFill>
                <a:latin typeface="Times New Roman" panose="02020603050405020304" charset="0"/>
                <a:cs typeface="Times New Roman" panose="02020603050405020304" charset="0"/>
              </a:rPr>
              <a:t>Guid</a:t>
            </a:r>
            <a:r>
              <a:rPr lang="en-US" sz="2600" b="1" dirty="0">
                <a:ln>
                  <a:solidFill>
                    <a:schemeClr val="tx1"/>
                  </a:solidFill>
                </a:ln>
                <a:solidFill>
                  <a:schemeClr val="tx1"/>
                </a:solidFill>
                <a:latin typeface="Times New Roman" panose="02020603050405020304" charset="0"/>
                <a:cs typeface="Times New Roman" panose="02020603050405020304" charset="0"/>
              </a:rPr>
              <a:t>ance of </a:t>
            </a:r>
            <a:r>
              <a:rPr sz="2600" b="1" dirty="0">
                <a:ln>
                  <a:solidFill>
                    <a:schemeClr val="tx1"/>
                  </a:solidFill>
                </a:ln>
                <a:solidFill>
                  <a:schemeClr val="tx1"/>
                </a:solidFill>
                <a:latin typeface="Times New Roman" panose="02020603050405020304" charset="0"/>
                <a:cs typeface="Times New Roman" panose="02020603050405020304" charset="0"/>
              </a:rPr>
              <a:t>:</a:t>
            </a:r>
            <a:r>
              <a:rPr sz="2600" b="1" spc="-110" dirty="0">
                <a:ln>
                  <a:solidFill>
                    <a:schemeClr val="tx1"/>
                  </a:solidFill>
                </a:ln>
                <a:solidFill>
                  <a:schemeClr val="tx1"/>
                </a:solidFill>
                <a:latin typeface="Times New Roman" panose="02020603050405020304" charset="0"/>
                <a:cs typeface="Times New Roman" panose="02020603050405020304" charset="0"/>
              </a:rPr>
              <a:t> </a:t>
            </a:r>
            <a:endParaRPr sz="2600" b="1" spc="-110" dirty="0">
              <a:ln>
                <a:solidFill>
                  <a:schemeClr val="tx1"/>
                </a:solidFill>
              </a:ln>
              <a:solidFill>
                <a:schemeClr val="tx1"/>
              </a:solidFill>
              <a:latin typeface="Times New Roman" panose="02020603050405020304" charset="0"/>
              <a:cs typeface="Times New Roman" panose="02020603050405020304" charset="0"/>
            </a:endParaRPr>
          </a:p>
          <a:p>
            <a:pPr marL="12700">
              <a:lnSpc>
                <a:spcPts val="2965"/>
              </a:lnSpc>
              <a:spcBef>
                <a:spcPts val="105"/>
              </a:spcBef>
            </a:pPr>
            <a:r>
              <a:rPr sz="2000" spc="-55" dirty="0">
                <a:ln>
                  <a:solidFill>
                    <a:schemeClr val="tx1"/>
                  </a:solidFill>
                </a:ln>
                <a:solidFill>
                  <a:schemeClr val="tx1"/>
                </a:solidFill>
                <a:latin typeface="Times New Roman" panose="02020603050405020304" charset="0"/>
                <a:cs typeface="Times New Roman" panose="02020603050405020304" charset="0"/>
              </a:rPr>
              <a:t>Mr.D.PAVAN</a:t>
            </a:r>
            <a:r>
              <a:rPr sz="2000" spc="-90" dirty="0">
                <a:ln>
                  <a:solidFill>
                    <a:schemeClr val="tx1"/>
                  </a:solidFill>
                </a:ln>
                <a:solidFill>
                  <a:schemeClr val="tx1"/>
                </a:solidFill>
                <a:latin typeface="Times New Roman" panose="02020603050405020304" charset="0"/>
                <a:cs typeface="Times New Roman" panose="02020603050405020304" charset="0"/>
              </a:rPr>
              <a:t> </a:t>
            </a:r>
            <a:r>
              <a:rPr sz="2000" spc="-145" dirty="0">
                <a:ln>
                  <a:solidFill>
                    <a:schemeClr val="tx1"/>
                  </a:solidFill>
                </a:ln>
                <a:solidFill>
                  <a:schemeClr val="tx1"/>
                </a:solidFill>
                <a:latin typeface="Times New Roman" panose="02020603050405020304" charset="0"/>
                <a:cs typeface="Times New Roman" panose="02020603050405020304" charset="0"/>
              </a:rPr>
              <a:t>KUMAR,</a:t>
            </a:r>
            <a:r>
              <a:rPr sz="2000" spc="-60" dirty="0">
                <a:ln>
                  <a:solidFill>
                    <a:schemeClr val="tx1"/>
                  </a:solidFill>
                </a:ln>
                <a:solidFill>
                  <a:schemeClr val="tx1"/>
                </a:solidFill>
                <a:latin typeface="Times New Roman" panose="02020603050405020304" charset="0"/>
                <a:cs typeface="Times New Roman" panose="02020603050405020304" charset="0"/>
              </a:rPr>
              <a:t> </a:t>
            </a:r>
            <a:r>
              <a:rPr sz="2000" spc="-185" dirty="0">
                <a:ln>
                  <a:solidFill>
                    <a:schemeClr val="tx1"/>
                  </a:solidFill>
                </a:ln>
                <a:solidFill>
                  <a:schemeClr val="tx1"/>
                </a:solidFill>
                <a:latin typeface="Times New Roman" panose="02020603050405020304" charset="0"/>
                <a:cs typeface="Times New Roman" panose="02020603050405020304" charset="0"/>
              </a:rPr>
              <a:t>B.</a:t>
            </a:r>
            <a:r>
              <a:rPr sz="2000" spc="-35" dirty="0">
                <a:ln>
                  <a:solidFill>
                    <a:schemeClr val="tx1"/>
                  </a:solidFill>
                </a:ln>
                <a:solidFill>
                  <a:schemeClr val="tx1"/>
                </a:solidFill>
                <a:latin typeface="Times New Roman" panose="02020603050405020304" charset="0"/>
                <a:cs typeface="Times New Roman" panose="02020603050405020304" charset="0"/>
              </a:rPr>
              <a:t> </a:t>
            </a:r>
            <a:r>
              <a:rPr sz="2000" spc="-10" dirty="0">
                <a:ln>
                  <a:solidFill>
                    <a:schemeClr val="tx1"/>
                  </a:solidFill>
                </a:ln>
                <a:solidFill>
                  <a:schemeClr val="tx1"/>
                </a:solidFill>
                <a:latin typeface="Times New Roman" panose="02020603050405020304" charset="0"/>
                <a:cs typeface="Times New Roman" panose="02020603050405020304" charset="0"/>
              </a:rPr>
              <a:t>Tech,</a:t>
            </a:r>
            <a:r>
              <a:rPr lang="en-US" sz="2000" spc="-10" dirty="0">
                <a:ln>
                  <a:solidFill>
                    <a:schemeClr val="tx1"/>
                  </a:solidFill>
                </a:ln>
                <a:solidFill>
                  <a:schemeClr val="tx1"/>
                </a:solidFill>
                <a:latin typeface="Times New Roman" panose="02020603050405020304" charset="0"/>
                <a:cs typeface="Times New Roman" panose="02020603050405020304" charset="0"/>
              </a:rPr>
              <a:t> </a:t>
            </a:r>
            <a:r>
              <a:rPr sz="2000" spc="-10" dirty="0">
                <a:ln>
                  <a:solidFill>
                    <a:schemeClr val="tx1"/>
                  </a:solidFill>
                </a:ln>
                <a:solidFill>
                  <a:schemeClr val="tx1"/>
                </a:solidFill>
                <a:latin typeface="Times New Roman" panose="02020603050405020304" charset="0"/>
                <a:cs typeface="Times New Roman" panose="02020603050405020304" charset="0"/>
              </a:rPr>
              <a:t>M</a:t>
            </a:r>
            <a:r>
              <a:rPr lang="en-US" sz="2000" spc="-10" dirty="0">
                <a:ln>
                  <a:solidFill>
                    <a:schemeClr val="tx1"/>
                  </a:solidFill>
                </a:ln>
                <a:solidFill>
                  <a:schemeClr val="tx1"/>
                </a:solidFill>
                <a:latin typeface="Times New Roman" panose="02020603050405020304" charset="0"/>
                <a:cs typeface="Times New Roman" panose="02020603050405020304" charset="0"/>
              </a:rPr>
              <a:t>.</a:t>
            </a:r>
            <a:r>
              <a:rPr sz="2000" spc="-35" dirty="0">
                <a:ln>
                  <a:solidFill>
                    <a:schemeClr val="tx1"/>
                  </a:solidFill>
                </a:ln>
                <a:solidFill>
                  <a:schemeClr val="tx1"/>
                </a:solidFill>
                <a:latin typeface="Times New Roman" panose="02020603050405020304" charset="0"/>
                <a:cs typeface="Times New Roman" panose="02020603050405020304" charset="0"/>
              </a:rPr>
              <a:t>Tech,</a:t>
            </a:r>
            <a:r>
              <a:rPr lang="en-US" sz="2000" spc="-35" dirty="0">
                <a:ln>
                  <a:solidFill>
                    <a:schemeClr val="tx1"/>
                  </a:solidFill>
                </a:ln>
                <a:solidFill>
                  <a:schemeClr val="tx1"/>
                </a:solidFill>
                <a:latin typeface="Times New Roman" panose="02020603050405020304" charset="0"/>
                <a:cs typeface="Times New Roman" panose="02020603050405020304" charset="0"/>
              </a:rPr>
              <a:t> </a:t>
            </a:r>
            <a:r>
              <a:rPr sz="2000" spc="-35" dirty="0">
                <a:ln>
                  <a:solidFill>
                    <a:schemeClr val="tx1"/>
                  </a:solidFill>
                </a:ln>
                <a:solidFill>
                  <a:schemeClr val="tx1"/>
                </a:solidFill>
                <a:latin typeface="Times New Roman" panose="02020603050405020304" charset="0"/>
                <a:cs typeface="Times New Roman" panose="02020603050405020304" charset="0"/>
              </a:rPr>
              <a:t>(Ph.D)</a:t>
            </a:r>
            <a:r>
              <a:rPr lang="en-US" sz="2000" spc="-35" dirty="0">
                <a:ln>
                  <a:solidFill>
                    <a:schemeClr val="tx1"/>
                  </a:solidFill>
                </a:ln>
                <a:solidFill>
                  <a:schemeClr val="tx1"/>
                </a:solidFill>
                <a:latin typeface="Times New Roman" panose="02020603050405020304" charset="0"/>
                <a:cs typeface="Times New Roman" panose="02020603050405020304" charset="0"/>
              </a:rPr>
              <a:t>.,</a:t>
            </a:r>
            <a:endParaRPr lang="en-US" sz="2000" spc="-35" dirty="0">
              <a:ln>
                <a:solidFill>
                  <a:schemeClr val="tx1"/>
                </a:solidFill>
              </a:ln>
              <a:solidFill>
                <a:schemeClr val="tx1"/>
              </a:solidFill>
              <a:latin typeface="Times New Roman" panose="02020603050405020304" charset="0"/>
              <a:cs typeface="Times New Roman" panose="02020603050405020304" charset="0"/>
            </a:endParaRPr>
          </a:p>
        </p:txBody>
      </p:sp>
      <p:sp>
        <p:nvSpPr>
          <p:cNvPr id="28" name="object 28"/>
          <p:cNvSpPr txBox="1"/>
          <p:nvPr/>
        </p:nvSpPr>
        <p:spPr>
          <a:xfrm>
            <a:off x="5250180" y="4523105"/>
            <a:ext cx="3849370" cy="1874520"/>
          </a:xfrm>
          <a:prstGeom prst="rect">
            <a:avLst/>
          </a:prstGeom>
        </p:spPr>
        <p:txBody>
          <a:bodyPr vert="horz" wrap="square" lIns="0" tIns="114300" rIns="0" bIns="0" rtlCol="0">
            <a:noAutofit/>
          </a:bodyPr>
          <a:lstStyle/>
          <a:p>
            <a:pPr marL="12700" algn="ctr">
              <a:lnSpc>
                <a:spcPct val="100000"/>
              </a:lnSpc>
              <a:spcBef>
                <a:spcPts val="900"/>
              </a:spcBef>
            </a:pPr>
            <a:r>
              <a:rPr sz="1700" b="1" u="sng" spc="-105" dirty="0">
                <a:uFill>
                  <a:solidFill>
                    <a:srgbClr val="000000"/>
                  </a:solidFill>
                </a:uFill>
                <a:latin typeface="Tahoma" panose="020B0604030504040204"/>
                <a:cs typeface="Tahoma" panose="020B0604030504040204"/>
              </a:rPr>
              <a:t>TEAM</a:t>
            </a:r>
            <a:r>
              <a:rPr sz="1700" b="1" u="sng" spc="-15" dirty="0">
                <a:uFill>
                  <a:solidFill>
                    <a:srgbClr val="000000"/>
                  </a:solidFill>
                </a:uFill>
                <a:latin typeface="Tahoma" panose="020B0604030504040204"/>
                <a:cs typeface="Tahoma" panose="020B0604030504040204"/>
              </a:rPr>
              <a:t> </a:t>
            </a:r>
            <a:r>
              <a:rPr sz="1700" b="1" u="sng" spc="-35" dirty="0">
                <a:uFill>
                  <a:solidFill>
                    <a:srgbClr val="000000"/>
                  </a:solidFill>
                </a:uFill>
                <a:latin typeface="Tahoma" panose="020B0604030504040204"/>
                <a:cs typeface="Tahoma" panose="020B0604030504040204"/>
              </a:rPr>
              <a:t>MEMBERS</a:t>
            </a:r>
            <a:r>
              <a:rPr sz="1700" spc="-35" dirty="0">
                <a:latin typeface="Verdana" panose="020B0604030504040204"/>
                <a:cs typeface="Verdana" panose="020B0604030504040204"/>
              </a:rPr>
              <a:t>:</a:t>
            </a:r>
            <a:endParaRPr sz="1700">
              <a:latin typeface="Verdana" panose="020B0604030504040204"/>
              <a:cs typeface="Verdana" panose="020B0604030504040204"/>
            </a:endParaRPr>
          </a:p>
          <a:p>
            <a:pPr marL="12700" marR="5080">
              <a:lnSpc>
                <a:spcPct val="139000"/>
              </a:lnSpc>
              <a:spcBef>
                <a:spcPts val="5"/>
              </a:spcBef>
            </a:pPr>
            <a:r>
              <a:rPr sz="1700" spc="-90" dirty="0">
                <a:latin typeface="Verdana" panose="020B0604030504040204"/>
                <a:cs typeface="Verdana" panose="020B0604030504040204"/>
              </a:rPr>
              <a:t>BANDARUPALLI</a:t>
            </a:r>
            <a:r>
              <a:rPr sz="1700" spc="-50" dirty="0">
                <a:latin typeface="Verdana" panose="020B0604030504040204"/>
                <a:cs typeface="Verdana" panose="020B0604030504040204"/>
              </a:rPr>
              <a:t> </a:t>
            </a:r>
            <a:r>
              <a:rPr sz="1700" spc="-10" dirty="0">
                <a:latin typeface="Verdana" panose="020B0604030504040204"/>
                <a:cs typeface="Verdana" panose="020B0604030504040204"/>
              </a:rPr>
              <a:t>PRIYANKA </a:t>
            </a:r>
            <a:br>
              <a:rPr sz="1700" spc="-10" dirty="0">
                <a:latin typeface="Verdana" panose="020B0604030504040204"/>
                <a:cs typeface="Verdana" panose="020B0604030504040204"/>
              </a:rPr>
            </a:br>
            <a:r>
              <a:rPr lang="en-IN" altLang="en-US" sz="1700" spc="-10" dirty="0">
                <a:latin typeface="Verdana" panose="020B0604030504040204"/>
                <a:cs typeface="Verdana" panose="020B0604030504040204"/>
              </a:rPr>
              <a:t>PALLAPOTHU BINDU MADHAVI</a:t>
            </a:r>
            <a:br>
              <a:rPr lang="en-IN" altLang="en-US" sz="1700" spc="-10" dirty="0">
                <a:latin typeface="Verdana" panose="020B0604030504040204"/>
                <a:cs typeface="Verdana" panose="020B0604030504040204"/>
              </a:rPr>
            </a:br>
            <a:r>
              <a:rPr sz="1700" spc="-75" dirty="0">
                <a:latin typeface="Verdana" panose="020B0604030504040204"/>
                <a:cs typeface="Verdana" panose="020B0604030504040204"/>
              </a:rPr>
              <a:t>CHIRUMAMILLA</a:t>
            </a:r>
            <a:r>
              <a:rPr sz="1700" spc="-85" dirty="0">
                <a:latin typeface="Verdana" panose="020B0604030504040204"/>
                <a:cs typeface="Verdana" panose="020B0604030504040204"/>
              </a:rPr>
              <a:t> </a:t>
            </a:r>
            <a:r>
              <a:rPr sz="1700" spc="-50" dirty="0">
                <a:latin typeface="Verdana" panose="020B0604030504040204"/>
                <a:cs typeface="Verdana" panose="020B0604030504040204"/>
              </a:rPr>
              <a:t>BALA</a:t>
            </a:r>
            <a:r>
              <a:rPr sz="1700" spc="-85" dirty="0">
                <a:latin typeface="Verdana" panose="020B0604030504040204"/>
                <a:cs typeface="Verdana" panose="020B0604030504040204"/>
              </a:rPr>
              <a:t> </a:t>
            </a:r>
            <a:r>
              <a:rPr sz="1700" spc="-75" dirty="0">
                <a:latin typeface="Verdana" panose="020B0604030504040204"/>
                <a:cs typeface="Verdana" panose="020B0604030504040204"/>
              </a:rPr>
              <a:t>VENKATA</a:t>
            </a:r>
            <a:r>
              <a:rPr sz="1700" spc="-85" dirty="0">
                <a:latin typeface="Verdana" panose="020B0604030504040204"/>
                <a:cs typeface="Verdana" panose="020B0604030504040204"/>
              </a:rPr>
              <a:t> </a:t>
            </a:r>
            <a:r>
              <a:rPr sz="1700" spc="-140" dirty="0">
                <a:latin typeface="Verdana" panose="020B0604030504040204"/>
                <a:cs typeface="Verdana" panose="020B0604030504040204"/>
              </a:rPr>
              <a:t>SAI </a:t>
            </a:r>
            <a:r>
              <a:rPr sz="1700" spc="45" dirty="0">
                <a:latin typeface="Verdana" panose="020B0604030504040204"/>
                <a:cs typeface="Verdana" panose="020B0604030504040204"/>
              </a:rPr>
              <a:t>JANGALA</a:t>
            </a:r>
            <a:r>
              <a:rPr sz="1700" spc="-120" dirty="0">
                <a:latin typeface="Verdana" panose="020B0604030504040204"/>
                <a:cs typeface="Verdana" panose="020B0604030504040204"/>
              </a:rPr>
              <a:t> </a:t>
            </a:r>
            <a:r>
              <a:rPr sz="1700" spc="-10" dirty="0">
                <a:latin typeface="Verdana" panose="020B0604030504040204"/>
                <a:cs typeface="Verdana" panose="020B0604030504040204"/>
              </a:rPr>
              <a:t>RAJESH</a:t>
            </a:r>
            <a:endParaRPr sz="1700">
              <a:latin typeface="Verdana" panose="020B0604030504040204"/>
              <a:cs typeface="Verdana" panose="020B0604030504040204"/>
            </a:endParaRPr>
          </a:p>
        </p:txBody>
      </p:sp>
      <p:sp>
        <p:nvSpPr>
          <p:cNvPr id="30" name="object 30"/>
          <p:cNvSpPr txBox="1"/>
          <p:nvPr/>
        </p:nvSpPr>
        <p:spPr>
          <a:xfrm>
            <a:off x="9554845" y="4810125"/>
            <a:ext cx="1449070" cy="1532255"/>
          </a:xfrm>
          <a:prstGeom prst="rect">
            <a:avLst/>
          </a:prstGeom>
        </p:spPr>
        <p:txBody>
          <a:bodyPr vert="horz" wrap="square" lIns="0" tIns="113664" rIns="0" bIns="0" rtlCol="0">
            <a:noAutofit/>
          </a:bodyPr>
          <a:lstStyle/>
          <a:p>
            <a:pPr marL="38100">
              <a:lnSpc>
                <a:spcPct val="100000"/>
              </a:lnSpc>
              <a:spcBef>
                <a:spcPts val="895"/>
              </a:spcBef>
            </a:pPr>
            <a:r>
              <a:rPr sz="1700" spc="-100" dirty="0">
                <a:latin typeface="Verdana" panose="020B0604030504040204"/>
                <a:cs typeface="Verdana" panose="020B0604030504040204"/>
              </a:rPr>
              <a:t>22NE1A1208</a:t>
            </a:r>
            <a:endParaRPr sz="1700">
              <a:latin typeface="Verdana" panose="020B0604030504040204"/>
              <a:cs typeface="Verdana" panose="020B0604030504040204"/>
            </a:endParaRPr>
          </a:p>
          <a:p>
            <a:pPr marL="12700">
              <a:lnSpc>
                <a:spcPct val="100000"/>
              </a:lnSpc>
              <a:spcBef>
                <a:spcPts val="795"/>
              </a:spcBef>
            </a:pPr>
            <a:r>
              <a:rPr sz="1700" spc="-80" dirty="0">
                <a:latin typeface="Verdana" panose="020B0604030504040204"/>
                <a:cs typeface="Verdana" panose="020B0604030504040204"/>
              </a:rPr>
              <a:t>22NE1A123</a:t>
            </a:r>
            <a:r>
              <a:rPr lang="en-IN" altLang="en-US" sz="1700" spc="-80" dirty="0">
                <a:latin typeface="Verdana" panose="020B0604030504040204"/>
                <a:cs typeface="Verdana" panose="020B0604030504040204"/>
              </a:rPr>
              <a:t>9</a:t>
            </a:r>
            <a:endParaRPr sz="1700">
              <a:latin typeface="Verdana" panose="020B0604030504040204"/>
              <a:cs typeface="Verdana" panose="020B0604030504040204"/>
            </a:endParaRPr>
          </a:p>
          <a:p>
            <a:pPr marL="12700">
              <a:lnSpc>
                <a:spcPct val="100000"/>
              </a:lnSpc>
              <a:spcBef>
                <a:spcPts val="790"/>
              </a:spcBef>
            </a:pPr>
            <a:r>
              <a:rPr sz="1700" spc="-80" dirty="0">
                <a:latin typeface="Verdana" panose="020B0604030504040204"/>
                <a:cs typeface="Verdana" panose="020B0604030504040204"/>
              </a:rPr>
              <a:t>22NE1A123</a:t>
            </a:r>
            <a:r>
              <a:rPr lang="en-IN" altLang="en-US" sz="1700" spc="-80" dirty="0">
                <a:latin typeface="Verdana" panose="020B0604030504040204"/>
                <a:cs typeface="Verdana" panose="020B0604030504040204"/>
              </a:rPr>
              <a:t>1</a:t>
            </a:r>
            <a:endParaRPr sz="1700">
              <a:latin typeface="Verdana" panose="020B0604030504040204"/>
              <a:cs typeface="Verdana" panose="020B0604030504040204"/>
            </a:endParaRPr>
          </a:p>
          <a:p>
            <a:pPr marL="12700">
              <a:lnSpc>
                <a:spcPct val="100000"/>
              </a:lnSpc>
              <a:spcBef>
                <a:spcPts val="805"/>
              </a:spcBef>
            </a:pPr>
            <a:r>
              <a:rPr sz="1700" spc="-80" dirty="0">
                <a:latin typeface="Verdana" panose="020B0604030504040204"/>
                <a:cs typeface="Verdana" panose="020B0604030504040204"/>
              </a:rPr>
              <a:t>22NE1A1256</a:t>
            </a:r>
            <a:endParaRPr sz="1700">
              <a:latin typeface="Verdana" panose="020B0604030504040204"/>
              <a:cs typeface="Verdana" panose="020B0604030504040204"/>
            </a:endParaRPr>
          </a:p>
        </p:txBody>
      </p:sp>
      <p:pic>
        <p:nvPicPr>
          <p:cNvPr id="16" name="Picture 15"/>
          <p:cNvPicPr>
            <a:picLocks noChangeAspect="1"/>
          </p:cNvPicPr>
          <p:nvPr/>
        </p:nvPicPr>
        <p:blipFill>
          <a:blip r:embed="rId4"/>
          <a:stretch>
            <a:fillRect/>
          </a:stretch>
        </p:blipFill>
        <p:spPr>
          <a:xfrm>
            <a:off x="990600" y="3200400"/>
            <a:ext cx="3593465" cy="33210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a:blip r:embed="rId1"/>
          <a:stretch>
            <a:fillRect/>
          </a:stretch>
        </a:blipFill>
        <a:effectLst/>
      </p:bgPr>
    </p:bg>
    <p:spTree>
      <p:nvGrpSpPr>
        <p:cNvPr id="1" name=""/>
        <p:cNvGrpSpPr/>
        <p:nvPr/>
      </p:nvGrpSpPr>
      <p:grpSpPr>
        <a:xfrm>
          <a:off x="0" y="0"/>
          <a:ext cx="0" cy="0"/>
          <a:chOff x="0" y="0"/>
          <a:chExt cx="0" cy="0"/>
        </a:xfrm>
      </p:grpSpPr>
      <p:sp>
        <p:nvSpPr>
          <p:cNvPr id="7" name="object 7"/>
          <p:cNvSpPr txBox="1">
            <a:spLocks noGrp="1"/>
          </p:cNvSpPr>
          <p:nvPr>
            <p:ph type="title"/>
          </p:nvPr>
        </p:nvSpPr>
        <p:spPr>
          <a:xfrm>
            <a:off x="304800" y="152400"/>
            <a:ext cx="11199495" cy="6200775"/>
          </a:xfrm>
          <a:prstGeom prst="rect">
            <a:avLst/>
          </a:prstGeom>
        </p:spPr>
        <p:txBody>
          <a:bodyPr vert="horz" wrap="square" lIns="0" tIns="12065" rIns="0" bIns="0" rtlCol="0">
            <a:noAutofit/>
          </a:bodyPr>
          <a:lstStyle/>
          <a:p>
            <a:pPr marL="12700" marR="5080">
              <a:lnSpc>
                <a:spcPct val="100000"/>
              </a:lnSpc>
              <a:spcBef>
                <a:spcPts val="95"/>
              </a:spcBef>
            </a:pPr>
            <a:r>
              <a:rPr spc="-305" dirty="0">
                <a:solidFill>
                  <a:schemeClr val="bg1"/>
                </a:solidFill>
                <a:effectLst>
                  <a:outerShdw blurRad="38100" dist="19050" dir="2700000" algn="tl" rotWithShape="0">
                    <a:schemeClr val="dk1">
                      <a:alpha val="40000"/>
                    </a:schemeClr>
                  </a:outerShdw>
                </a:effectLst>
                <a:sym typeface="+mn-ea"/>
              </a:rPr>
              <a:t>CRIME</a:t>
            </a:r>
            <a:r>
              <a:rPr spc="-80" dirty="0">
                <a:solidFill>
                  <a:schemeClr val="bg1"/>
                </a:solidFill>
                <a:effectLst>
                  <a:outerShdw blurRad="38100" dist="19050" dir="2700000" algn="tl" rotWithShape="0">
                    <a:schemeClr val="dk1">
                      <a:alpha val="40000"/>
                    </a:schemeClr>
                  </a:outerShdw>
                </a:effectLst>
                <a:sym typeface="+mn-ea"/>
              </a:rPr>
              <a:t> </a:t>
            </a:r>
            <a:r>
              <a:rPr spc="-440" dirty="0">
                <a:solidFill>
                  <a:schemeClr val="bg1"/>
                </a:solidFill>
                <a:effectLst>
                  <a:outerShdw blurRad="38100" dist="19050" dir="2700000" algn="tl" rotWithShape="0">
                    <a:schemeClr val="dk1">
                      <a:alpha val="40000"/>
                    </a:schemeClr>
                  </a:outerShdw>
                </a:effectLst>
                <a:sym typeface="+mn-ea"/>
              </a:rPr>
              <a:t>RATE</a:t>
            </a:r>
            <a:r>
              <a:rPr spc="-70" dirty="0">
                <a:solidFill>
                  <a:schemeClr val="bg1"/>
                </a:solidFill>
                <a:effectLst>
                  <a:outerShdw blurRad="38100" dist="19050" dir="2700000" algn="tl" rotWithShape="0">
                    <a:schemeClr val="dk1">
                      <a:alpha val="40000"/>
                    </a:schemeClr>
                  </a:outerShdw>
                </a:effectLst>
                <a:sym typeface="+mn-ea"/>
              </a:rPr>
              <a:t> </a:t>
            </a:r>
            <a:r>
              <a:rPr spc="-325" dirty="0">
                <a:solidFill>
                  <a:schemeClr val="bg1"/>
                </a:solidFill>
                <a:effectLst>
                  <a:outerShdw blurRad="38100" dist="19050" dir="2700000" algn="tl" rotWithShape="0">
                    <a:schemeClr val="dk1">
                      <a:alpha val="40000"/>
                    </a:schemeClr>
                  </a:outerShdw>
                </a:effectLst>
                <a:sym typeface="+mn-ea"/>
              </a:rPr>
              <a:t>ANALYSIS</a:t>
            </a:r>
            <a:r>
              <a:rPr spc="-75" dirty="0">
                <a:solidFill>
                  <a:schemeClr val="bg1"/>
                </a:solidFill>
                <a:effectLst>
                  <a:outerShdw blurRad="38100" dist="19050" dir="2700000" algn="tl" rotWithShape="0">
                    <a:schemeClr val="dk1">
                      <a:alpha val="40000"/>
                    </a:schemeClr>
                  </a:outerShdw>
                </a:effectLst>
                <a:sym typeface="+mn-ea"/>
              </a:rPr>
              <a:t> </a:t>
            </a:r>
            <a:r>
              <a:rPr spc="-25" dirty="0">
                <a:solidFill>
                  <a:schemeClr val="bg1"/>
                </a:solidFill>
                <a:effectLst>
                  <a:outerShdw blurRad="38100" dist="19050" dir="2700000" algn="tl" rotWithShape="0">
                    <a:schemeClr val="dk1">
                      <a:alpha val="40000"/>
                    </a:schemeClr>
                  </a:outerShdw>
                </a:effectLst>
                <a:sym typeface="+mn-ea"/>
              </a:rPr>
              <a:t>AND </a:t>
            </a:r>
            <a:r>
              <a:rPr spc="-390" dirty="0">
                <a:solidFill>
                  <a:schemeClr val="bg1"/>
                </a:solidFill>
                <a:effectLst>
                  <a:outerShdw blurRad="38100" dist="19050" dir="2700000" algn="tl" rotWithShape="0">
                    <a:schemeClr val="dk1">
                      <a:alpha val="40000"/>
                    </a:schemeClr>
                  </a:outerShdw>
                </a:effectLst>
                <a:sym typeface="+mn-ea"/>
              </a:rPr>
              <a:t>PREDICTION</a:t>
            </a:r>
            <a:r>
              <a:rPr spc="-75" dirty="0">
                <a:solidFill>
                  <a:schemeClr val="bg1"/>
                </a:solidFill>
                <a:effectLst>
                  <a:outerShdw blurRad="38100" dist="19050" dir="2700000" algn="tl" rotWithShape="0">
                    <a:schemeClr val="dk1">
                      <a:alpha val="40000"/>
                    </a:schemeClr>
                  </a:outerShdw>
                </a:effectLst>
                <a:sym typeface="+mn-ea"/>
              </a:rPr>
              <a:t> </a:t>
            </a:r>
            <a:r>
              <a:rPr spc="-330" dirty="0">
                <a:solidFill>
                  <a:schemeClr val="bg1"/>
                </a:solidFill>
                <a:effectLst>
                  <a:outerShdw blurRad="38100" dist="19050" dir="2700000" algn="tl" rotWithShape="0">
                    <a:schemeClr val="dk1">
                      <a:alpha val="40000"/>
                    </a:schemeClr>
                  </a:outerShdw>
                </a:effectLst>
                <a:sym typeface="+mn-ea"/>
              </a:rPr>
              <a:t>USING</a:t>
            </a:r>
            <a:r>
              <a:rPr spc="-65" dirty="0">
                <a:solidFill>
                  <a:schemeClr val="bg1"/>
                </a:solidFill>
                <a:effectLst>
                  <a:outerShdw blurRad="38100" dist="19050" dir="2700000" algn="tl" rotWithShape="0">
                    <a:schemeClr val="dk1">
                      <a:alpha val="40000"/>
                    </a:schemeClr>
                  </a:outerShdw>
                </a:effectLst>
                <a:sym typeface="+mn-ea"/>
              </a:rPr>
              <a:t> </a:t>
            </a:r>
            <a:r>
              <a:rPr spc="-120" dirty="0">
                <a:solidFill>
                  <a:schemeClr val="bg1"/>
                </a:solidFill>
                <a:effectLst>
                  <a:outerShdw blurRad="38100" dist="19050" dir="2700000" algn="tl" rotWithShape="0">
                    <a:schemeClr val="dk1">
                      <a:alpha val="40000"/>
                    </a:schemeClr>
                  </a:outerShdw>
                </a:effectLst>
                <a:sym typeface="+mn-ea"/>
              </a:rPr>
              <a:t>MACHINE</a:t>
            </a:r>
            <a:r>
              <a:rPr lang="en-US" spc="-120" dirty="0">
                <a:solidFill>
                  <a:schemeClr val="bg1"/>
                </a:solidFill>
                <a:effectLst>
                  <a:outerShdw blurRad="38100" dist="19050" dir="2700000" algn="tl" rotWithShape="0">
                    <a:schemeClr val="dk1">
                      <a:alpha val="40000"/>
                    </a:schemeClr>
                  </a:outerShdw>
                </a:effectLst>
                <a:sym typeface="+mn-ea"/>
              </a:rPr>
              <a:t> </a:t>
            </a:r>
            <a:r>
              <a:rPr spc="-295" dirty="0">
                <a:solidFill>
                  <a:schemeClr val="bg1"/>
                </a:solidFill>
                <a:effectLst>
                  <a:outerShdw blurRad="38100" dist="19050" dir="2700000" algn="tl" rotWithShape="0">
                    <a:schemeClr val="dk1">
                      <a:alpha val="40000"/>
                    </a:schemeClr>
                  </a:outerShdw>
                </a:effectLst>
                <a:sym typeface="+mn-ea"/>
              </a:rPr>
              <a:t>LEARNING</a:t>
            </a:r>
            <a:endParaRPr b="0" spc="-295" dirty="0">
              <a:solidFill>
                <a:schemeClr val="bg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3497579" y="0"/>
            <a:ext cx="3509010" cy="1087374"/>
          </a:xfrm>
          <a:prstGeom prst="rect">
            <a:avLst/>
          </a:prstGeom>
        </p:spPr>
      </p:pic>
      <p:sp>
        <p:nvSpPr>
          <p:cNvPr id="3" name="object 3"/>
          <p:cNvSpPr txBox="1">
            <a:spLocks noGrp="1"/>
          </p:cNvSpPr>
          <p:nvPr>
            <p:ph type="title"/>
          </p:nvPr>
        </p:nvSpPr>
        <p:spPr>
          <a:xfrm>
            <a:off x="3170301" y="12903"/>
            <a:ext cx="5511165" cy="689610"/>
          </a:xfrm>
          <a:prstGeom prst="rect">
            <a:avLst/>
          </a:prstGeom>
        </p:spPr>
        <p:txBody>
          <a:bodyPr vert="horz" wrap="square" lIns="0" tIns="12700" rIns="0" bIns="0" rtlCol="0">
            <a:spAutoFit/>
          </a:bodyPr>
          <a:lstStyle/>
          <a:p>
            <a:pPr marL="681990" algn="just">
              <a:lnSpc>
                <a:spcPct val="100000"/>
              </a:lnSpc>
              <a:spcBef>
                <a:spcPts val="100"/>
              </a:spcBef>
            </a:pPr>
            <a:r>
              <a:rPr spc="-300" dirty="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rPr>
              <a:t>CONTENTS</a:t>
            </a:r>
            <a:endParaRPr spc="-300" dirty="0">
              <a:solidFill>
                <a:schemeClr val="tx1"/>
              </a:solidFill>
              <a:effectLst>
                <a:outerShdw blurRad="38100" dist="19050" dir="2700000" algn="tl" rotWithShape="0">
                  <a:schemeClr val="dk1">
                    <a:alpha val="40000"/>
                  </a:schemeClr>
                </a:outerShdw>
              </a:effectLst>
              <a:latin typeface="Times New Roman" panose="02020603050405020304" charset="0"/>
              <a:cs typeface="Times New Roman" panose="02020603050405020304" charset="0"/>
            </a:endParaRPr>
          </a:p>
        </p:txBody>
      </p:sp>
      <p:sp>
        <p:nvSpPr>
          <p:cNvPr id="4" name="object 4"/>
          <p:cNvSpPr txBox="1"/>
          <p:nvPr/>
        </p:nvSpPr>
        <p:spPr>
          <a:xfrm>
            <a:off x="1752600" y="685800"/>
            <a:ext cx="7836535" cy="5741035"/>
          </a:xfrm>
          <a:prstGeom prst="rect">
            <a:avLst/>
          </a:prstGeom>
        </p:spPr>
        <p:txBody>
          <a:bodyPr vert="horz" wrap="square" lIns="0" tIns="142240" rIns="0" bIns="0" rtlCol="0">
            <a:noAutofit/>
          </a:bodyPr>
          <a:lstStyle/>
          <a:p>
            <a:pPr marL="469900" indent="-457200" algn="just">
              <a:lnSpc>
                <a:spcPct val="100000"/>
              </a:lnSpc>
              <a:spcBef>
                <a:spcPts val="1120"/>
              </a:spcBef>
              <a:buFont typeface="Arial" panose="020B0604020202020204" pitchFamily="34" charset="0"/>
              <a:buChar char="•"/>
            </a:pPr>
            <a:r>
              <a:rPr lang="en-US" altLang="" sz="2800" spc="635" dirty="0">
                <a:solidFill>
                  <a:srgbClr val="404040"/>
                </a:solidFill>
                <a:effectLst/>
                <a:latin typeface="Times New Roman" panose="02020603050405020304" charset="0"/>
                <a:cs typeface="Times New Roman" panose="02020603050405020304" charset="0"/>
              </a:rPr>
              <a:t>Introduction</a:t>
            </a:r>
            <a:endParaRPr lang="en-US" altLang="" sz="2800" spc="635" dirty="0">
              <a:solidFill>
                <a:srgbClr val="404040"/>
              </a:solidFill>
              <a:effectLst/>
              <a:latin typeface="Times New Roman" panose="02020603050405020304" charset="0"/>
              <a:cs typeface="Times New Roman" panose="02020603050405020304" charset="0"/>
            </a:endParaRPr>
          </a:p>
          <a:p>
            <a:pPr marL="469900" indent="-457200" algn="just">
              <a:lnSpc>
                <a:spcPct val="100000"/>
              </a:lnSpc>
              <a:spcBef>
                <a:spcPts val="1120"/>
              </a:spcBef>
              <a:buFont typeface="Arial" panose="020B0604020202020204" pitchFamily="34" charset="0"/>
              <a:buChar char="•"/>
            </a:pPr>
            <a:r>
              <a:rPr sz="2800" spc="635" dirty="0">
                <a:solidFill>
                  <a:srgbClr val="404040"/>
                </a:solidFill>
                <a:effectLst/>
                <a:latin typeface="Times New Roman" panose="02020603050405020304" charset="0"/>
                <a:cs typeface="Times New Roman" panose="02020603050405020304" charset="0"/>
              </a:rPr>
              <a:t>Objective</a:t>
            </a:r>
            <a:endParaRPr sz="2800" spc="635" dirty="0">
              <a:solidFill>
                <a:srgbClr val="404040"/>
              </a:solidFill>
              <a:effectLst/>
              <a:latin typeface="Times New Roman" panose="02020603050405020304" charset="0"/>
              <a:cs typeface="Times New Roman" panose="02020603050405020304" charset="0"/>
            </a:endParaRPr>
          </a:p>
          <a:p>
            <a:pPr marL="469900" indent="-457200" algn="just">
              <a:lnSpc>
                <a:spcPct val="100000"/>
              </a:lnSpc>
              <a:spcBef>
                <a:spcPts val="1120"/>
              </a:spcBef>
              <a:buFont typeface="Arial" panose="020B0604020202020204" pitchFamily="34" charset="0"/>
              <a:buChar char="•"/>
            </a:pPr>
            <a:r>
              <a:rPr lang="en-US" altLang="" sz="2800" spc="635" dirty="0">
                <a:solidFill>
                  <a:srgbClr val="404040"/>
                </a:solidFill>
                <a:effectLst/>
                <a:latin typeface="Times New Roman" panose="02020603050405020304" charset="0"/>
                <a:cs typeface="Times New Roman" panose="02020603050405020304" charset="0"/>
              </a:rPr>
              <a:t>Literature survey</a:t>
            </a:r>
            <a:endParaRPr sz="2800">
              <a:effectLst/>
              <a:latin typeface="Times New Roman" panose="02020603050405020304" charset="0"/>
              <a:cs typeface="Times New Roman" panose="02020603050405020304" charset="0"/>
            </a:endParaRPr>
          </a:p>
          <a:p>
            <a:pPr marL="469900" indent="-457200" algn="just">
              <a:lnSpc>
                <a:spcPct val="100000"/>
              </a:lnSpc>
              <a:spcBef>
                <a:spcPts val="1020"/>
              </a:spcBef>
              <a:buFont typeface="Arial" panose="020B0604020202020204" pitchFamily="34" charset="0"/>
              <a:buChar char="•"/>
            </a:pPr>
            <a:r>
              <a:rPr sz="2800" spc="695" dirty="0">
                <a:solidFill>
                  <a:srgbClr val="404040"/>
                </a:solidFill>
                <a:effectLst/>
                <a:latin typeface="Times New Roman" panose="02020603050405020304" charset="0"/>
                <a:cs typeface="Times New Roman" panose="02020603050405020304" charset="0"/>
              </a:rPr>
              <a:t>Abstract</a:t>
            </a:r>
            <a:endParaRPr sz="2800" spc="695" dirty="0">
              <a:solidFill>
                <a:srgbClr val="404040"/>
              </a:solidFill>
              <a:effectLst/>
              <a:latin typeface="Times New Roman" panose="02020603050405020304" charset="0"/>
              <a:cs typeface="Times New Roman" panose="02020603050405020304" charset="0"/>
            </a:endParaRPr>
          </a:p>
          <a:p>
            <a:pPr marL="469900" indent="-457200" algn="just">
              <a:lnSpc>
                <a:spcPct val="100000"/>
              </a:lnSpc>
              <a:spcBef>
                <a:spcPts val="1020"/>
              </a:spcBef>
              <a:buFont typeface="Arial" panose="020B0604020202020204" pitchFamily="34" charset="0"/>
              <a:buChar char="•"/>
            </a:pPr>
            <a:r>
              <a:rPr sz="2800" spc="805" dirty="0">
                <a:solidFill>
                  <a:srgbClr val="404040"/>
                </a:solidFill>
                <a:effectLst/>
                <a:latin typeface="Times New Roman" panose="02020603050405020304" charset="0"/>
                <a:cs typeface="Times New Roman" panose="02020603050405020304" charset="0"/>
              </a:rPr>
              <a:t>Problem</a:t>
            </a:r>
            <a:r>
              <a:rPr sz="2800" spc="10" dirty="0">
                <a:solidFill>
                  <a:srgbClr val="404040"/>
                </a:solidFill>
                <a:effectLst/>
                <a:latin typeface="Times New Roman" panose="02020603050405020304" charset="0"/>
                <a:cs typeface="Times New Roman" panose="02020603050405020304" charset="0"/>
              </a:rPr>
              <a:t> </a:t>
            </a:r>
            <a:r>
              <a:rPr sz="2800" spc="-10" dirty="0">
                <a:solidFill>
                  <a:srgbClr val="404040"/>
                </a:solidFill>
                <a:effectLst/>
                <a:latin typeface="Times New Roman" panose="02020603050405020304" charset="0"/>
                <a:cs typeface="Times New Roman" panose="02020603050405020304" charset="0"/>
              </a:rPr>
              <a:t>Statement</a:t>
            </a:r>
            <a:endParaRPr sz="2800">
              <a:effectLst/>
              <a:latin typeface="Times New Roman" panose="02020603050405020304" charset="0"/>
              <a:cs typeface="Times New Roman" panose="02020603050405020304" charset="0"/>
            </a:endParaRPr>
          </a:p>
          <a:p>
            <a:pPr marL="469900" indent="-457200" algn="just">
              <a:lnSpc>
                <a:spcPct val="100000"/>
              </a:lnSpc>
              <a:spcBef>
                <a:spcPts val="1000"/>
              </a:spcBef>
              <a:buFont typeface="Arial" panose="020B0604020202020204" pitchFamily="34" charset="0"/>
              <a:buChar char="•"/>
            </a:pPr>
            <a:r>
              <a:rPr sz="2800" spc="710" dirty="0">
                <a:solidFill>
                  <a:srgbClr val="404040"/>
                </a:solidFill>
                <a:effectLst/>
                <a:latin typeface="Times New Roman" panose="02020603050405020304" charset="0"/>
                <a:cs typeface="Times New Roman" panose="02020603050405020304" charset="0"/>
              </a:rPr>
              <a:t>Existing</a:t>
            </a:r>
            <a:r>
              <a:rPr sz="2800" spc="40" dirty="0">
                <a:solidFill>
                  <a:srgbClr val="404040"/>
                </a:solidFill>
                <a:effectLst/>
                <a:latin typeface="Times New Roman" panose="02020603050405020304" charset="0"/>
                <a:cs typeface="Times New Roman" panose="02020603050405020304" charset="0"/>
              </a:rPr>
              <a:t> </a:t>
            </a:r>
            <a:r>
              <a:rPr sz="2800" spc="-10" dirty="0">
                <a:solidFill>
                  <a:srgbClr val="404040"/>
                </a:solidFill>
                <a:effectLst/>
                <a:latin typeface="Times New Roman" panose="02020603050405020304" charset="0"/>
                <a:cs typeface="Times New Roman" panose="02020603050405020304" charset="0"/>
              </a:rPr>
              <a:t>System</a:t>
            </a:r>
            <a:endParaRPr sz="2800">
              <a:effectLst/>
              <a:latin typeface="Times New Roman" panose="02020603050405020304" charset="0"/>
              <a:cs typeface="Times New Roman" panose="02020603050405020304" charset="0"/>
            </a:endParaRPr>
          </a:p>
          <a:p>
            <a:pPr marL="469900" indent="-457200" algn="just">
              <a:lnSpc>
                <a:spcPct val="100000"/>
              </a:lnSpc>
              <a:spcBef>
                <a:spcPts val="995"/>
              </a:spcBef>
              <a:buFont typeface="Arial" panose="020B0604020202020204" pitchFamily="34" charset="0"/>
              <a:buChar char="•"/>
            </a:pPr>
            <a:r>
              <a:rPr lang="en-US" altLang="" sz="2800" spc="800" dirty="0">
                <a:solidFill>
                  <a:srgbClr val="797979"/>
                </a:solidFill>
                <a:effectLst/>
                <a:latin typeface="Times New Roman" panose="02020603050405020304" charset="0"/>
                <a:cs typeface="Times New Roman" panose="02020603050405020304" charset="0"/>
              </a:rPr>
              <a:t>P</a:t>
            </a:r>
            <a:r>
              <a:rPr sz="2800" spc="800" dirty="0">
                <a:solidFill>
                  <a:srgbClr val="404040"/>
                </a:solidFill>
                <a:effectLst/>
                <a:latin typeface="Times New Roman" panose="02020603050405020304" charset="0"/>
                <a:cs typeface="Times New Roman" panose="02020603050405020304" charset="0"/>
              </a:rPr>
              <a:t>ropsed</a:t>
            </a:r>
            <a:r>
              <a:rPr sz="2800" spc="-10" dirty="0">
                <a:solidFill>
                  <a:srgbClr val="404040"/>
                </a:solidFill>
                <a:effectLst/>
                <a:latin typeface="Times New Roman" panose="02020603050405020304" charset="0"/>
                <a:cs typeface="Times New Roman" panose="02020603050405020304" charset="0"/>
              </a:rPr>
              <a:t> System</a:t>
            </a:r>
            <a:endParaRPr sz="2800">
              <a:effectLst/>
              <a:latin typeface="Times New Roman" panose="02020603050405020304" charset="0"/>
              <a:cs typeface="Times New Roman" panose="02020603050405020304" charset="0"/>
            </a:endParaRPr>
          </a:p>
          <a:p>
            <a:pPr marL="469900" indent="-457200" algn="just">
              <a:lnSpc>
                <a:spcPct val="100000"/>
              </a:lnSpc>
              <a:spcBef>
                <a:spcPts val="1010"/>
              </a:spcBef>
              <a:buFont typeface="Arial" panose="020B0604020202020204" pitchFamily="34" charset="0"/>
              <a:buChar char="•"/>
            </a:pPr>
            <a:r>
              <a:rPr lang="en-US" altLang="" sz="2800" spc="790" dirty="0">
                <a:solidFill>
                  <a:srgbClr val="404040"/>
                </a:solidFill>
                <a:effectLst/>
                <a:latin typeface="Times New Roman" panose="02020603050405020304" charset="0"/>
                <a:cs typeface="Times New Roman" panose="02020603050405020304" charset="0"/>
              </a:rPr>
              <a:t>M</a:t>
            </a:r>
            <a:r>
              <a:rPr sz="2800" spc="790" dirty="0">
                <a:solidFill>
                  <a:srgbClr val="404040"/>
                </a:solidFill>
                <a:effectLst/>
                <a:latin typeface="Times New Roman" panose="02020603050405020304" charset="0"/>
                <a:cs typeface="Times New Roman" panose="02020603050405020304" charset="0"/>
              </a:rPr>
              <a:t>odules</a:t>
            </a:r>
            <a:endParaRPr sz="2800">
              <a:effectLst/>
              <a:latin typeface="Times New Roman" panose="02020603050405020304" charset="0"/>
              <a:cs typeface="Times New Roman" panose="02020603050405020304" charset="0"/>
            </a:endParaRPr>
          </a:p>
          <a:p>
            <a:pPr marL="469900" indent="-457200" algn="just">
              <a:lnSpc>
                <a:spcPct val="100000"/>
              </a:lnSpc>
              <a:spcBef>
                <a:spcPts val="1000"/>
              </a:spcBef>
              <a:buFont typeface="Arial" panose="020B0604020202020204" pitchFamily="34" charset="0"/>
              <a:buChar char="•"/>
            </a:pPr>
            <a:r>
              <a:rPr sz="2800" spc="225" dirty="0">
                <a:solidFill>
                  <a:srgbClr val="404040"/>
                </a:solidFill>
                <a:effectLst/>
                <a:latin typeface="Times New Roman" panose="02020603050405020304" charset="0"/>
                <a:cs typeface="Times New Roman" panose="02020603050405020304" charset="0"/>
              </a:rPr>
              <a:t>Advantages</a:t>
            </a:r>
            <a:endParaRPr sz="2800">
              <a:effectLst/>
              <a:latin typeface="Times New Roman" panose="02020603050405020304" charset="0"/>
              <a:cs typeface="Times New Roman" panose="02020603050405020304" charset="0"/>
            </a:endParaRPr>
          </a:p>
          <a:p>
            <a:pPr marL="469900" indent="-457200" algn="just">
              <a:lnSpc>
                <a:spcPct val="100000"/>
              </a:lnSpc>
              <a:spcBef>
                <a:spcPts val="995"/>
              </a:spcBef>
              <a:buFont typeface="Arial" panose="020B0604020202020204" pitchFamily="34" charset="0"/>
              <a:buChar char="•"/>
            </a:pPr>
            <a:r>
              <a:rPr sz="2800" spc="345" dirty="0">
                <a:solidFill>
                  <a:srgbClr val="404040"/>
                </a:solidFill>
                <a:effectLst/>
                <a:latin typeface="Times New Roman" panose="02020603050405020304" charset="0"/>
                <a:cs typeface="Times New Roman" panose="02020603050405020304" charset="0"/>
              </a:rPr>
              <a:t>Software/Hardware</a:t>
            </a:r>
            <a:r>
              <a:rPr sz="2800" spc="70" dirty="0">
                <a:solidFill>
                  <a:srgbClr val="404040"/>
                </a:solidFill>
                <a:effectLst/>
                <a:latin typeface="Times New Roman" panose="02020603050405020304" charset="0"/>
                <a:cs typeface="Times New Roman" panose="02020603050405020304" charset="0"/>
              </a:rPr>
              <a:t> </a:t>
            </a:r>
            <a:r>
              <a:rPr lang="en-IN" altLang="en-US" sz="2800" spc="70" dirty="0">
                <a:solidFill>
                  <a:srgbClr val="404040"/>
                </a:solidFill>
                <a:effectLst/>
                <a:latin typeface="Times New Roman" panose="02020603050405020304" charset="0"/>
                <a:cs typeface="Times New Roman" panose="02020603050405020304" charset="0"/>
              </a:rPr>
              <a:t>Requirements</a:t>
            </a:r>
            <a:endParaRPr sz="2800">
              <a:effectLst/>
              <a:latin typeface="Times New Roman" panose="02020603050405020304" charset="0"/>
              <a:cs typeface="Times New Roman" panose="02020603050405020304" charset="0"/>
            </a:endParaRPr>
          </a:p>
          <a:p>
            <a:pPr marL="469900" indent="-457200" algn="just">
              <a:lnSpc>
                <a:spcPct val="100000"/>
              </a:lnSpc>
              <a:spcBef>
                <a:spcPts val="1010"/>
              </a:spcBef>
              <a:buFont typeface="Arial" panose="020B0604020202020204" pitchFamily="34" charset="0"/>
              <a:buChar char="•"/>
            </a:pPr>
            <a:r>
              <a:rPr sz="2800" spc="620" dirty="0">
                <a:solidFill>
                  <a:srgbClr val="404040"/>
                </a:solidFill>
                <a:effectLst/>
                <a:latin typeface="Times New Roman" panose="02020603050405020304" charset="0"/>
                <a:cs typeface="Times New Roman" panose="02020603050405020304" charset="0"/>
              </a:rPr>
              <a:t>Reference</a:t>
            </a:r>
            <a:endParaRPr sz="2800">
              <a:effectLst/>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0301" y="12903"/>
            <a:ext cx="5511165" cy="690245"/>
          </a:xfrm>
          <a:prstGeom prst="rect">
            <a:avLst/>
          </a:prstGeom>
        </p:spPr>
        <p:txBody>
          <a:bodyPr vert="horz" wrap="square" lIns="0" tIns="13335" rIns="0" bIns="0" rtlCol="0">
            <a:spAutoFit/>
          </a:bodyPr>
          <a:lstStyle/>
          <a:p>
            <a:pPr marL="837565">
              <a:lnSpc>
                <a:spcPct val="100000"/>
              </a:lnSpc>
              <a:spcBef>
                <a:spcPts val="105"/>
              </a:spcBef>
            </a:pPr>
            <a:r>
              <a:rPr spc="-355" dirty="0">
                <a:latin typeface="Times New Roman" panose="02020603050405020304" charset="0"/>
                <a:cs typeface="Times New Roman" panose="02020603050405020304" charset="0"/>
              </a:rPr>
              <a:t>INTRODUCTION</a:t>
            </a:r>
            <a:endParaRPr spc="-355" dirty="0">
              <a:latin typeface="Times New Roman" panose="02020603050405020304" charset="0"/>
              <a:cs typeface="Times New Roman" panose="02020603050405020304" charset="0"/>
            </a:endParaRPr>
          </a:p>
        </p:txBody>
      </p:sp>
      <p:sp>
        <p:nvSpPr>
          <p:cNvPr id="3" name="object 3"/>
          <p:cNvSpPr txBox="1"/>
          <p:nvPr/>
        </p:nvSpPr>
        <p:spPr>
          <a:xfrm>
            <a:off x="797153" y="789559"/>
            <a:ext cx="10605135" cy="6000115"/>
          </a:xfrm>
          <a:prstGeom prst="rect">
            <a:avLst/>
          </a:prstGeom>
        </p:spPr>
        <p:txBody>
          <a:bodyPr vert="horz" wrap="square" lIns="0" tIns="12065" rIns="0" bIns="0" rtlCol="0">
            <a:spAutoFit/>
          </a:bodyPr>
          <a:lstStyle/>
          <a:p>
            <a:pPr marL="12700" marR="5080" indent="2667000" algn="just">
              <a:lnSpc>
                <a:spcPct val="100000"/>
              </a:lnSpc>
              <a:spcBef>
                <a:spcPts val="95"/>
              </a:spcBef>
            </a:pPr>
            <a:r>
              <a:rPr sz="2800" dirty="0">
                <a:latin typeface="Times New Roman" panose="02020603050405020304"/>
                <a:cs typeface="Times New Roman" panose="02020603050405020304"/>
              </a:rPr>
              <a:t>Crime</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one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major</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challenges</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affecting</a:t>
            </a:r>
            <a:r>
              <a:rPr sz="2800" spc="3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the </a:t>
            </a:r>
            <a:r>
              <a:rPr sz="2800" dirty="0">
                <a:latin typeface="Times New Roman" panose="02020603050405020304"/>
                <a:cs typeface="Times New Roman" panose="02020603050405020304"/>
              </a:rPr>
              <a:t>safety,</a:t>
            </a:r>
            <a:r>
              <a:rPr sz="2800" spc="355" dirty="0">
                <a:latin typeface="Times New Roman" panose="02020603050405020304"/>
                <a:cs typeface="Times New Roman" panose="02020603050405020304"/>
              </a:rPr>
              <a:t> </a:t>
            </a:r>
            <a:r>
              <a:rPr sz="2800" dirty="0">
                <a:latin typeface="Times New Roman" panose="02020603050405020304"/>
                <a:cs typeface="Times New Roman" panose="02020603050405020304"/>
              </a:rPr>
              <a:t>economic</a:t>
            </a:r>
            <a:r>
              <a:rPr sz="2800" spc="365" dirty="0">
                <a:latin typeface="Times New Roman" panose="02020603050405020304"/>
                <a:cs typeface="Times New Roman" panose="02020603050405020304"/>
              </a:rPr>
              <a:t> </a:t>
            </a:r>
            <a:r>
              <a:rPr sz="2800" dirty="0">
                <a:latin typeface="Times New Roman" panose="02020603050405020304"/>
                <a:cs typeface="Times New Roman" panose="02020603050405020304"/>
              </a:rPr>
              <a:t>growth,</a:t>
            </a:r>
            <a:r>
              <a:rPr sz="2800" spc="37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385" dirty="0">
                <a:latin typeface="Times New Roman" panose="02020603050405020304"/>
                <a:cs typeface="Times New Roman" panose="02020603050405020304"/>
              </a:rPr>
              <a:t> </a:t>
            </a:r>
            <a:r>
              <a:rPr sz="2800" dirty="0">
                <a:latin typeface="Times New Roman" panose="02020603050405020304"/>
                <a:cs typeface="Times New Roman" panose="02020603050405020304"/>
              </a:rPr>
              <a:t>social</a:t>
            </a:r>
            <a:r>
              <a:rPr sz="2800" spc="365" dirty="0">
                <a:latin typeface="Times New Roman" panose="02020603050405020304"/>
                <a:cs typeface="Times New Roman" panose="02020603050405020304"/>
              </a:rPr>
              <a:t> </a:t>
            </a:r>
            <a:r>
              <a:rPr sz="2800" dirty="0">
                <a:latin typeface="Times New Roman" panose="02020603050405020304"/>
                <a:cs typeface="Times New Roman" panose="02020603050405020304"/>
              </a:rPr>
              <a:t>stability</a:t>
            </a:r>
            <a:r>
              <a:rPr sz="2800" spc="35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370" dirty="0">
                <a:latin typeface="Times New Roman" panose="02020603050405020304"/>
                <a:cs typeface="Times New Roman" panose="02020603050405020304"/>
              </a:rPr>
              <a:t> </a:t>
            </a:r>
            <a:r>
              <a:rPr sz="2800" dirty="0">
                <a:latin typeface="Times New Roman" panose="02020603050405020304"/>
                <a:cs typeface="Times New Roman" panose="02020603050405020304"/>
              </a:rPr>
              <a:t>society.</a:t>
            </a:r>
            <a:r>
              <a:rPr sz="2800" spc="365" dirty="0">
                <a:latin typeface="Times New Roman" panose="02020603050405020304"/>
                <a:cs typeface="Times New Roman" panose="02020603050405020304"/>
              </a:rPr>
              <a:t> </a:t>
            </a:r>
            <a:r>
              <a:rPr sz="2800" dirty="0">
                <a:latin typeface="Times New Roman" panose="02020603050405020304"/>
                <a:cs typeface="Times New Roman" panose="02020603050405020304"/>
              </a:rPr>
              <a:t>With</a:t>
            </a:r>
            <a:r>
              <a:rPr sz="2800" spc="34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37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rapid </a:t>
            </a:r>
            <a:r>
              <a:rPr sz="2800" dirty="0">
                <a:latin typeface="Times New Roman" panose="02020603050405020304"/>
                <a:cs typeface="Times New Roman" panose="02020603050405020304"/>
              </a:rPr>
              <a:t>increase</a:t>
            </a:r>
            <a:r>
              <a:rPr sz="2800" spc="29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305"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300"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295" dirty="0">
                <a:latin typeface="Times New Roman" panose="02020603050405020304"/>
                <a:cs typeface="Times New Roman" panose="02020603050405020304"/>
              </a:rPr>
              <a:t>  </a:t>
            </a:r>
            <a:r>
              <a:rPr sz="2800" dirty="0">
                <a:latin typeface="Times New Roman" panose="02020603050405020304"/>
                <a:cs typeface="Times New Roman" panose="02020603050405020304"/>
              </a:rPr>
              <a:t>traditional</a:t>
            </a:r>
            <a:r>
              <a:rPr sz="2800" spc="30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analysis</a:t>
            </a:r>
            <a:r>
              <a:rPr sz="2800" spc="305" dirty="0">
                <a:latin typeface="Times New Roman" panose="02020603050405020304"/>
                <a:cs typeface="Times New Roman" panose="02020603050405020304"/>
              </a:rPr>
              <a:t>  </a:t>
            </a:r>
            <a:r>
              <a:rPr sz="2800" dirty="0">
                <a:latin typeface="Times New Roman" panose="02020603050405020304"/>
                <a:cs typeface="Times New Roman" panose="02020603050405020304"/>
              </a:rPr>
              <a:t>methods</a:t>
            </a:r>
            <a:r>
              <a:rPr sz="2800" spc="300" dirty="0">
                <a:latin typeface="Times New Roman" panose="02020603050405020304"/>
                <a:cs typeface="Times New Roman" panose="02020603050405020304"/>
              </a:rPr>
              <a:t>  </a:t>
            </a:r>
            <a:r>
              <a:rPr sz="2800" dirty="0">
                <a:latin typeface="Times New Roman" panose="02020603050405020304"/>
                <a:cs typeface="Times New Roman" panose="02020603050405020304"/>
              </a:rPr>
              <a:t>have</a:t>
            </a:r>
            <a:r>
              <a:rPr sz="2800" spc="29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become </a:t>
            </a:r>
            <a:r>
              <a:rPr sz="2800" dirty="0">
                <a:latin typeface="Times New Roman" panose="02020603050405020304"/>
                <a:cs typeface="Times New Roman" panose="02020603050405020304"/>
              </a:rPr>
              <a:t>inefficient</a:t>
            </a:r>
            <a:r>
              <a:rPr sz="2800" spc="4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4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time-</a:t>
            </a:r>
            <a:r>
              <a:rPr sz="2800" dirty="0">
                <a:latin typeface="Times New Roman" panose="02020603050405020304"/>
                <a:cs typeface="Times New Roman" panose="02020603050405020304"/>
              </a:rPr>
              <a:t>consuming.</a:t>
            </a:r>
            <a:r>
              <a:rPr sz="2800" spc="42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Machine</a:t>
            </a:r>
            <a:r>
              <a:rPr sz="2800" b="1" spc="434"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learning</a:t>
            </a:r>
            <a:r>
              <a:rPr sz="2800" b="1" spc="45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provides</a:t>
            </a:r>
            <a:r>
              <a:rPr sz="2800" b="1" spc="430" dirty="0">
                <a:latin typeface="Times New Roman" panose="02020603050405020304"/>
                <a:cs typeface="Times New Roman" panose="02020603050405020304"/>
              </a:rPr>
              <a:t> </a:t>
            </a:r>
            <a:r>
              <a:rPr sz="2800" b="1" spc="-10" dirty="0">
                <a:latin typeface="Times New Roman" panose="02020603050405020304"/>
                <a:cs typeface="Times New Roman" panose="02020603050405020304"/>
              </a:rPr>
              <a:t>advanced </a:t>
            </a:r>
            <a:r>
              <a:rPr sz="2800" b="1" dirty="0">
                <a:latin typeface="Times New Roman" panose="02020603050405020304"/>
                <a:cs typeface="Times New Roman" panose="02020603050405020304"/>
              </a:rPr>
              <a:t>techniques</a:t>
            </a:r>
            <a:r>
              <a:rPr sz="2800" b="1" spc="7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to</a:t>
            </a:r>
            <a:r>
              <a:rPr sz="2800" b="1" spc="7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analyze</a:t>
            </a:r>
            <a:r>
              <a:rPr sz="2800" b="1" spc="7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large</a:t>
            </a:r>
            <a:r>
              <a:rPr sz="2800" b="1" spc="8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volumes</a:t>
            </a:r>
            <a:r>
              <a:rPr sz="2800" b="1" spc="7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of</a:t>
            </a:r>
            <a:r>
              <a:rPr sz="2800" b="1" spc="7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crime</a:t>
            </a:r>
            <a:r>
              <a:rPr sz="2800" b="1" spc="7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data</a:t>
            </a:r>
            <a:r>
              <a:rPr sz="2800" b="1" spc="7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and</a:t>
            </a:r>
            <a:r>
              <a:rPr sz="2800" b="1" spc="70" dirty="0">
                <a:latin typeface="Times New Roman" panose="02020603050405020304"/>
                <a:cs typeface="Times New Roman" panose="02020603050405020304"/>
              </a:rPr>
              <a:t>  </a:t>
            </a:r>
            <a:r>
              <a:rPr sz="2800" b="1" spc="-10" dirty="0">
                <a:latin typeface="Times New Roman" panose="02020603050405020304"/>
                <a:cs typeface="Times New Roman" panose="02020603050405020304"/>
              </a:rPr>
              <a:t>discover </a:t>
            </a:r>
            <a:r>
              <a:rPr sz="2800" b="1" dirty="0">
                <a:latin typeface="Times New Roman" panose="02020603050405020304"/>
                <a:cs typeface="Times New Roman" panose="02020603050405020304"/>
              </a:rPr>
              <a:t>hidden</a:t>
            </a:r>
            <a:r>
              <a:rPr sz="2800" b="1" spc="12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patterns.</a:t>
            </a:r>
            <a:r>
              <a:rPr sz="2800" b="1" spc="1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This</a:t>
            </a:r>
            <a:r>
              <a:rPr sz="2800" spc="12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project</a:t>
            </a:r>
            <a:r>
              <a:rPr sz="2800" spc="105" dirty="0">
                <a:latin typeface="Times New Roman" panose="02020603050405020304"/>
                <a:cs typeface="Times New Roman" panose="02020603050405020304"/>
              </a:rPr>
              <a:t> </a:t>
            </a:r>
            <a:r>
              <a:rPr sz="2800" dirty="0">
                <a:latin typeface="Times New Roman" panose="02020603050405020304"/>
                <a:cs typeface="Times New Roman" panose="02020603050405020304"/>
              </a:rPr>
              <a:t>focuses</a:t>
            </a:r>
            <a:r>
              <a:rPr sz="2800" spc="125" dirty="0">
                <a:latin typeface="Times New Roman" panose="02020603050405020304"/>
                <a:cs typeface="Times New Roman" panose="02020603050405020304"/>
              </a:rPr>
              <a:t> </a:t>
            </a:r>
            <a:r>
              <a:rPr sz="2800" dirty="0">
                <a:latin typeface="Times New Roman" panose="02020603050405020304"/>
                <a:cs typeface="Times New Roman" panose="02020603050405020304"/>
              </a:rPr>
              <a:t>on</a:t>
            </a:r>
            <a:r>
              <a:rPr sz="2800" spc="114" dirty="0">
                <a:latin typeface="Times New Roman" panose="02020603050405020304"/>
                <a:cs typeface="Times New Roman" panose="02020603050405020304"/>
              </a:rPr>
              <a:t> </a:t>
            </a:r>
            <a:r>
              <a:rPr sz="2800" dirty="0">
                <a:latin typeface="Times New Roman" panose="02020603050405020304"/>
                <a:cs typeface="Times New Roman" panose="02020603050405020304"/>
              </a:rPr>
              <a:t>analyzing</a:t>
            </a:r>
            <a:r>
              <a:rPr sz="2800" spc="11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12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predicting</a:t>
            </a:r>
            <a:r>
              <a:rPr sz="2800" spc="1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crime </a:t>
            </a:r>
            <a:r>
              <a:rPr sz="2800" dirty="0">
                <a:latin typeface="Times New Roman" panose="02020603050405020304"/>
                <a:cs typeface="Times New Roman" panose="02020603050405020304"/>
              </a:rPr>
              <a:t>rates</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using</a:t>
            </a:r>
            <a:r>
              <a:rPr sz="2800" spc="-4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real-</a:t>
            </a:r>
            <a:r>
              <a:rPr sz="2800" dirty="0">
                <a:latin typeface="Times New Roman" panose="02020603050405020304"/>
                <a:cs typeface="Times New Roman" panose="02020603050405020304"/>
              </a:rPr>
              <a:t>world</a:t>
            </a:r>
            <a:r>
              <a:rPr sz="2800" spc="-10" dirty="0">
                <a:latin typeface="Times New Roman" panose="02020603050405020304"/>
                <a:cs typeface="Times New Roman" panose="02020603050405020304"/>
              </a:rPr>
              <a:t> datasets.</a:t>
            </a:r>
            <a:endParaRPr sz="2800">
              <a:latin typeface="Times New Roman" panose="02020603050405020304"/>
              <a:cs typeface="Times New Roman" panose="02020603050405020304"/>
            </a:endParaRPr>
          </a:p>
          <a:p>
            <a:pPr marL="12700" marR="8255" indent="3555365" algn="just">
              <a:lnSpc>
                <a:spcPct val="100000"/>
              </a:lnSpc>
              <a:spcBef>
                <a:spcPts val="5"/>
              </a:spcBef>
            </a:pPr>
            <a:r>
              <a:rPr sz="2800" dirty="0">
                <a:latin typeface="Times New Roman" panose="02020603050405020304"/>
                <a:cs typeface="Times New Roman" panose="02020603050405020304"/>
              </a:rPr>
              <a:t>By</a:t>
            </a:r>
            <a:r>
              <a:rPr sz="2800" spc="300" dirty="0">
                <a:latin typeface="Times New Roman" panose="02020603050405020304"/>
                <a:cs typeface="Times New Roman" panose="02020603050405020304"/>
              </a:rPr>
              <a:t>  </a:t>
            </a:r>
            <a:r>
              <a:rPr sz="2800" dirty="0">
                <a:latin typeface="Times New Roman" panose="02020603050405020304"/>
                <a:cs typeface="Times New Roman" panose="02020603050405020304"/>
              </a:rPr>
              <a:t>applying</a:t>
            </a:r>
            <a:r>
              <a:rPr sz="2800" spc="310"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30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preprocessing</a:t>
            </a:r>
            <a:r>
              <a:rPr sz="2800" spc="30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30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feature </a:t>
            </a:r>
            <a:r>
              <a:rPr sz="2800" dirty="0">
                <a:latin typeface="Times New Roman" panose="02020603050405020304"/>
                <a:cs typeface="Times New Roman" panose="02020603050405020304"/>
              </a:rPr>
              <a:t>selection,</a:t>
            </a:r>
            <a:r>
              <a:rPr sz="2800" spc="450" dirty="0">
                <a:latin typeface="Times New Roman" panose="02020603050405020304"/>
                <a:cs typeface="Times New Roman" panose="02020603050405020304"/>
              </a:rPr>
              <a:t> </a:t>
            </a:r>
            <a:r>
              <a:rPr sz="2800" dirty="0">
                <a:latin typeface="Times New Roman" panose="02020603050405020304"/>
                <a:cs typeface="Times New Roman" panose="02020603050405020304"/>
              </a:rPr>
              <a:t>meaningful</a:t>
            </a:r>
            <a:r>
              <a:rPr sz="2800" spc="459" dirty="0">
                <a:latin typeface="Times New Roman" panose="02020603050405020304"/>
                <a:cs typeface="Times New Roman" panose="02020603050405020304"/>
              </a:rPr>
              <a:t> </a:t>
            </a:r>
            <a:r>
              <a:rPr sz="2800" dirty="0">
                <a:latin typeface="Times New Roman" panose="02020603050405020304"/>
                <a:cs typeface="Times New Roman" panose="02020603050405020304"/>
              </a:rPr>
              <a:t>information</a:t>
            </a:r>
            <a:r>
              <a:rPr sz="2800" spc="470"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455" dirty="0">
                <a:latin typeface="Times New Roman" panose="02020603050405020304"/>
                <a:cs typeface="Times New Roman" panose="02020603050405020304"/>
              </a:rPr>
              <a:t> </a:t>
            </a:r>
            <a:r>
              <a:rPr sz="2800" dirty="0">
                <a:latin typeface="Times New Roman" panose="02020603050405020304"/>
                <a:cs typeface="Times New Roman" panose="02020603050405020304"/>
              </a:rPr>
              <a:t>extracted</a:t>
            </a:r>
            <a:r>
              <a:rPr sz="2800" spc="445" dirty="0">
                <a:latin typeface="Times New Roman" panose="02020603050405020304"/>
                <a:cs typeface="Times New Roman" panose="02020603050405020304"/>
              </a:rPr>
              <a:t> </a:t>
            </a:r>
            <a:r>
              <a:rPr sz="2800" dirty="0">
                <a:latin typeface="Times New Roman" panose="02020603050405020304"/>
                <a:cs typeface="Times New Roman" panose="02020603050405020304"/>
              </a:rPr>
              <a:t>from</a:t>
            </a:r>
            <a:r>
              <a:rPr sz="2800" spc="455" dirty="0">
                <a:latin typeface="Times New Roman" panose="02020603050405020304"/>
                <a:cs typeface="Times New Roman" panose="02020603050405020304"/>
              </a:rPr>
              <a:t> </a:t>
            </a:r>
            <a:r>
              <a:rPr sz="2800" dirty="0">
                <a:latin typeface="Times New Roman" panose="02020603050405020304"/>
                <a:cs typeface="Times New Roman" panose="02020603050405020304"/>
              </a:rPr>
              <a:t>raw</a:t>
            </a:r>
            <a:r>
              <a:rPr sz="2800" spc="455"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459"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records. </a:t>
            </a:r>
            <a:r>
              <a:rPr sz="2800" spc="-20" dirty="0">
                <a:latin typeface="Times New Roman" panose="02020603050405020304"/>
                <a:cs typeface="Times New Roman" panose="02020603050405020304"/>
              </a:rPr>
              <a:t>Various</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machine</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learning</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models</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are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trained</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classify</a:t>
            </a:r>
            <a:r>
              <a:rPr sz="2800" spc="5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predict</a:t>
            </a:r>
            <a:r>
              <a:rPr sz="2800" spc="4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crime </a:t>
            </a:r>
            <a:r>
              <a:rPr sz="2800" dirty="0">
                <a:latin typeface="Times New Roman" panose="02020603050405020304"/>
                <a:cs typeface="Times New Roman" panose="02020603050405020304"/>
              </a:rPr>
              <a:t>types</a:t>
            </a:r>
            <a:r>
              <a:rPr sz="2800" spc="465" dirty="0">
                <a:latin typeface="Times New Roman" panose="02020603050405020304"/>
                <a:cs typeface="Times New Roman" panose="02020603050405020304"/>
              </a:rPr>
              <a:t> </a:t>
            </a:r>
            <a:r>
              <a:rPr sz="2800" dirty="0">
                <a:latin typeface="Times New Roman" panose="02020603050405020304"/>
                <a:cs typeface="Times New Roman" panose="02020603050405020304"/>
              </a:rPr>
              <a:t>accurately.</a:t>
            </a:r>
            <a:r>
              <a:rPr sz="2800" spc="459"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3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web-</a:t>
            </a:r>
            <a:r>
              <a:rPr sz="2800" dirty="0">
                <a:latin typeface="Times New Roman" panose="02020603050405020304"/>
                <a:cs typeface="Times New Roman" panose="02020603050405020304"/>
              </a:rPr>
              <a:t>based</a:t>
            </a:r>
            <a:r>
              <a:rPr sz="2800" spc="46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interface</a:t>
            </a:r>
            <a:r>
              <a:rPr sz="2800" spc="470"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465" dirty="0">
                <a:latin typeface="Times New Roman" panose="02020603050405020304"/>
                <a:cs typeface="Times New Roman" panose="02020603050405020304"/>
              </a:rPr>
              <a:t> </a:t>
            </a:r>
            <a:r>
              <a:rPr sz="2800" dirty="0">
                <a:latin typeface="Times New Roman" panose="02020603050405020304"/>
                <a:cs typeface="Times New Roman" panose="02020603050405020304"/>
              </a:rPr>
              <a:t>developed</a:t>
            </a:r>
            <a:r>
              <a:rPr sz="2800" spc="47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470" dirty="0">
                <a:latin typeface="Times New Roman" panose="02020603050405020304"/>
                <a:cs typeface="Times New Roman" panose="02020603050405020304"/>
              </a:rPr>
              <a:t> </a:t>
            </a:r>
            <a:r>
              <a:rPr sz="2800" dirty="0">
                <a:latin typeface="Times New Roman" panose="02020603050405020304"/>
                <a:cs typeface="Times New Roman" panose="02020603050405020304"/>
              </a:rPr>
              <a:t>allow</a:t>
            </a:r>
            <a:r>
              <a:rPr sz="2800" spc="459" dirty="0">
                <a:latin typeface="Times New Roman" panose="02020603050405020304"/>
                <a:cs typeface="Times New Roman" panose="02020603050405020304"/>
              </a:rPr>
              <a:t> </a:t>
            </a:r>
            <a:r>
              <a:rPr sz="2800" dirty="0">
                <a:latin typeface="Times New Roman" panose="02020603050405020304"/>
                <a:cs typeface="Times New Roman" panose="02020603050405020304"/>
              </a:rPr>
              <a:t>users</a:t>
            </a:r>
            <a:r>
              <a:rPr sz="2800" spc="47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to </a:t>
            </a:r>
            <a:r>
              <a:rPr sz="2800" dirty="0">
                <a:latin typeface="Times New Roman" panose="02020603050405020304"/>
                <a:cs typeface="Times New Roman" panose="02020603050405020304"/>
              </a:rPr>
              <a:t>input</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obtain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predictions</a:t>
            </a:r>
            <a:r>
              <a:rPr sz="2800" spc="-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real</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time.</a:t>
            </a:r>
            <a:r>
              <a:rPr sz="2800" spc="-10" dirty="0">
                <a:latin typeface="Times New Roman" panose="02020603050405020304"/>
                <a:cs typeface="Times New Roman" panose="02020603050405020304"/>
              </a:rPr>
              <a:t> Visualization</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techniques</a:t>
            </a:r>
            <a:r>
              <a:rPr sz="2800" spc="-1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are </a:t>
            </a:r>
            <a:r>
              <a:rPr sz="2800" dirty="0">
                <a:latin typeface="Times New Roman" panose="02020603050405020304"/>
                <a:cs typeface="Times New Roman" panose="02020603050405020304"/>
              </a:rPr>
              <a:t>used</a:t>
            </a:r>
            <a:r>
              <a:rPr sz="2800" spc="15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represent</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trends</a:t>
            </a:r>
            <a:r>
              <a:rPr sz="2800" spc="16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patterns</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effectively.</a:t>
            </a:r>
            <a:r>
              <a:rPr sz="2800" spc="14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145" dirty="0">
                <a:latin typeface="Times New Roman" panose="02020603050405020304"/>
                <a:cs typeface="Times New Roman" panose="02020603050405020304"/>
              </a:rPr>
              <a:t> </a:t>
            </a:r>
            <a:r>
              <a:rPr sz="2800" dirty="0">
                <a:latin typeface="Times New Roman" panose="02020603050405020304"/>
                <a:cs typeface="Times New Roman" panose="02020603050405020304"/>
              </a:rPr>
              <a:t>system</a:t>
            </a:r>
            <a:r>
              <a:rPr sz="2800" spc="14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helps </a:t>
            </a:r>
            <a:r>
              <a:rPr sz="2800" dirty="0">
                <a:latin typeface="Times New Roman" panose="02020603050405020304"/>
                <a:cs typeface="Times New Roman" panose="02020603050405020304"/>
              </a:rPr>
              <a:t>identify</a:t>
            </a:r>
            <a:r>
              <a:rPr sz="2800" spc="-50"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crime-</a:t>
            </a:r>
            <a:r>
              <a:rPr sz="2800" dirty="0">
                <a:latin typeface="Times New Roman" panose="02020603050405020304"/>
                <a:cs typeface="Times New Roman" panose="02020603050405020304"/>
              </a:rPr>
              <a:t>prone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areas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time</a:t>
            </a:r>
            <a:r>
              <a:rPr sz="2800" spc="-5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periods.</a:t>
            </a:r>
            <a:endParaRPr sz="2800">
              <a:latin typeface="Times New Roman" panose="02020603050405020304"/>
              <a:cs typeface="Times New Roman" panose="0202060305040502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OBJECTIVE</a:t>
            </a:r>
            <a:endParaRPr lang="en-US"/>
          </a:p>
        </p:txBody>
      </p:sp>
      <p:sp>
        <p:nvSpPr>
          <p:cNvPr id="3" name="Content Placeholder 2"/>
          <p:cNvSpPr>
            <a:spLocks noGrp="1"/>
          </p:cNvSpPr>
          <p:nvPr>
            <p:ph idx="1"/>
          </p:nvPr>
        </p:nvSpPr>
        <p:spPr/>
        <p:txBody>
          <a:bodyPr/>
          <a:p>
            <a:pPr marL="0" indent="0" algn="just">
              <a:buNone/>
            </a:pPr>
            <a:r>
              <a:rPr sz="3600" dirty="0">
                <a:solidFill>
                  <a:srgbClr val="404040"/>
                </a:solidFill>
                <a:latin typeface="Times New Roman" panose="02020603050405020304"/>
                <a:cs typeface="Times New Roman" panose="02020603050405020304"/>
                <a:sym typeface="+mn-ea"/>
              </a:rPr>
              <a:t>The</a:t>
            </a:r>
            <a:r>
              <a:rPr sz="3600" spc="484"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objective</a:t>
            </a:r>
            <a:r>
              <a:rPr sz="3600" spc="500"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of</a:t>
            </a:r>
            <a:r>
              <a:rPr sz="3600" spc="490"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this</a:t>
            </a:r>
            <a:r>
              <a:rPr sz="3600" spc="495"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project</a:t>
            </a:r>
            <a:r>
              <a:rPr sz="3600" spc="500"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to</a:t>
            </a:r>
            <a:r>
              <a:rPr sz="3600" spc="505"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construct</a:t>
            </a:r>
            <a:r>
              <a:rPr sz="3600" spc="490"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a</a:t>
            </a:r>
            <a:r>
              <a:rPr sz="3600" spc="500" dirty="0">
                <a:solidFill>
                  <a:srgbClr val="404040"/>
                </a:solidFill>
                <a:latin typeface="Times New Roman" panose="02020603050405020304"/>
                <a:cs typeface="Times New Roman" panose="02020603050405020304"/>
                <a:sym typeface="+mn-ea"/>
              </a:rPr>
              <a:t> </a:t>
            </a:r>
            <a:r>
              <a:rPr sz="3600" spc="-10" dirty="0">
                <a:solidFill>
                  <a:srgbClr val="404040"/>
                </a:solidFill>
                <a:latin typeface="Times New Roman" panose="02020603050405020304"/>
                <a:cs typeface="Times New Roman" panose="02020603050405020304"/>
                <a:sym typeface="+mn-ea"/>
              </a:rPr>
              <a:t>model </a:t>
            </a:r>
            <a:r>
              <a:rPr sz="3600" dirty="0">
                <a:solidFill>
                  <a:srgbClr val="404040"/>
                </a:solidFill>
                <a:latin typeface="Times New Roman" panose="02020603050405020304"/>
                <a:cs typeface="Times New Roman" panose="02020603050405020304"/>
                <a:sym typeface="+mn-ea"/>
              </a:rPr>
              <a:t>for</a:t>
            </a:r>
            <a:r>
              <a:rPr sz="3600" spc="570"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identifying</a:t>
            </a:r>
            <a:r>
              <a:rPr sz="3600" spc="585"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the</a:t>
            </a:r>
            <a:r>
              <a:rPr sz="3600" spc="575"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crime</a:t>
            </a:r>
            <a:r>
              <a:rPr sz="3600" spc="555" dirty="0">
                <a:solidFill>
                  <a:srgbClr val="404040"/>
                </a:solidFill>
                <a:latin typeface="Times New Roman" panose="02020603050405020304"/>
                <a:cs typeface="Times New Roman" panose="02020603050405020304"/>
                <a:sym typeface="+mn-ea"/>
              </a:rPr>
              <a:t> </a:t>
            </a:r>
            <a:r>
              <a:rPr lang="en-US" sz="3600" spc="555" dirty="0">
                <a:solidFill>
                  <a:srgbClr val="404040"/>
                </a:solidFill>
                <a:latin typeface="Times New Roman" panose="02020603050405020304"/>
                <a:cs typeface="Times New Roman" panose="02020603050405020304"/>
                <a:sym typeface="+mn-ea"/>
              </a:rPr>
              <a:t>types</a:t>
            </a:r>
            <a:r>
              <a:rPr sz="3600" dirty="0">
                <a:solidFill>
                  <a:srgbClr val="404040"/>
                </a:solidFill>
                <a:latin typeface="Times New Roman" panose="02020603050405020304"/>
                <a:cs typeface="Times New Roman" panose="02020603050405020304"/>
                <a:sym typeface="+mn-ea"/>
              </a:rPr>
              <a:t>,</a:t>
            </a:r>
            <a:r>
              <a:rPr sz="3600" spc="570"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uncovering</a:t>
            </a:r>
            <a:r>
              <a:rPr sz="3600" spc="580" dirty="0">
                <a:solidFill>
                  <a:srgbClr val="404040"/>
                </a:solidFill>
                <a:latin typeface="Times New Roman" panose="02020603050405020304"/>
                <a:cs typeface="Times New Roman" panose="02020603050405020304"/>
                <a:sym typeface="+mn-ea"/>
              </a:rPr>
              <a:t> </a:t>
            </a:r>
            <a:r>
              <a:rPr sz="3600" spc="-25" dirty="0">
                <a:solidFill>
                  <a:srgbClr val="404040"/>
                </a:solidFill>
                <a:latin typeface="Times New Roman" panose="02020603050405020304"/>
                <a:cs typeface="Times New Roman" panose="02020603050405020304"/>
                <a:sym typeface="+mn-ea"/>
              </a:rPr>
              <a:t>the </a:t>
            </a:r>
            <a:r>
              <a:rPr sz="3600" dirty="0">
                <a:solidFill>
                  <a:srgbClr val="404040"/>
                </a:solidFill>
                <a:latin typeface="Times New Roman" panose="02020603050405020304"/>
                <a:cs typeface="Times New Roman" panose="02020603050405020304"/>
                <a:sym typeface="+mn-ea"/>
              </a:rPr>
              <a:t>crime</a:t>
            </a:r>
            <a:r>
              <a:rPr sz="3600" spc="290"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patterns</a:t>
            </a:r>
            <a:r>
              <a:rPr sz="3600" spc="300"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and</a:t>
            </a:r>
            <a:r>
              <a:rPr sz="3600" spc="295"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predicting</a:t>
            </a:r>
            <a:r>
              <a:rPr sz="3600" spc="300"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the</a:t>
            </a:r>
            <a:r>
              <a:rPr sz="3600" spc="300" dirty="0">
                <a:solidFill>
                  <a:srgbClr val="404040"/>
                </a:solidFill>
                <a:latin typeface="Times New Roman" panose="02020603050405020304"/>
                <a:cs typeface="Times New Roman" panose="02020603050405020304"/>
                <a:sym typeface="+mn-ea"/>
              </a:rPr>
              <a:t>  </a:t>
            </a:r>
            <a:r>
              <a:rPr sz="3600" dirty="0">
                <a:solidFill>
                  <a:srgbClr val="404040"/>
                </a:solidFill>
                <a:latin typeface="Times New Roman" panose="02020603050405020304"/>
                <a:cs typeface="Times New Roman" panose="02020603050405020304"/>
                <a:sym typeface="+mn-ea"/>
              </a:rPr>
              <a:t>future</a:t>
            </a:r>
            <a:r>
              <a:rPr sz="3600" spc="295" dirty="0">
                <a:solidFill>
                  <a:srgbClr val="404040"/>
                </a:solidFill>
                <a:latin typeface="Times New Roman" panose="02020603050405020304"/>
                <a:cs typeface="Times New Roman" panose="02020603050405020304"/>
                <a:sym typeface="+mn-ea"/>
              </a:rPr>
              <a:t>  </a:t>
            </a:r>
            <a:r>
              <a:rPr sz="3600" spc="-10" dirty="0">
                <a:solidFill>
                  <a:srgbClr val="404040"/>
                </a:solidFill>
                <a:latin typeface="Times New Roman" panose="02020603050405020304"/>
                <a:cs typeface="Times New Roman" panose="02020603050405020304"/>
                <a:sym typeface="+mn-ea"/>
              </a:rPr>
              <a:t>crime occurrences.</a:t>
            </a:r>
            <a:endParaRPr sz="3600">
              <a:latin typeface="Times New Roman" panose="02020603050405020304"/>
              <a:cs typeface="Times New Roman" panose="02020603050405020304"/>
            </a:endParaRPr>
          </a:p>
          <a:p>
            <a:endParaRPr lang="en-US" sz="3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 name="object 7"/>
          <p:cNvSpPr txBox="1">
            <a:spLocks noGrp="1"/>
          </p:cNvSpPr>
          <p:nvPr>
            <p:ph type="title"/>
          </p:nvPr>
        </p:nvSpPr>
        <p:spPr>
          <a:xfrm>
            <a:off x="2337435" y="304800"/>
            <a:ext cx="6528435" cy="689610"/>
          </a:xfrm>
          <a:prstGeom prst="rect">
            <a:avLst/>
          </a:prstGeom>
        </p:spPr>
        <p:txBody>
          <a:bodyPr vert="horz" wrap="square" lIns="0" tIns="12700" rIns="0" bIns="0" rtlCol="0">
            <a:spAutoFit/>
          </a:bodyPr>
          <a:lstStyle/>
          <a:p>
            <a:pPr marL="12700">
              <a:lnSpc>
                <a:spcPct val="100000"/>
              </a:lnSpc>
              <a:spcBef>
                <a:spcPts val="100"/>
              </a:spcBef>
            </a:pPr>
            <a:r>
              <a:rPr lang="en-US" spc="-204" dirty="0">
                <a:latin typeface="Times New Roman" panose="02020603050405020304" charset="0"/>
                <a:cs typeface="Times New Roman" panose="02020603050405020304" charset="0"/>
              </a:rPr>
              <a:t>LITERATURE SURVEY</a:t>
            </a:r>
            <a:endParaRPr lang="en-US" spc="-204" dirty="0">
              <a:latin typeface="Times New Roman" panose="02020603050405020304" charset="0"/>
              <a:cs typeface="Times New Roman" panose="02020603050405020304" charset="0"/>
            </a:endParaRPr>
          </a:p>
        </p:txBody>
      </p:sp>
      <p:sp>
        <p:nvSpPr>
          <p:cNvPr id="8" name="object 8"/>
          <p:cNvSpPr txBox="1"/>
          <p:nvPr/>
        </p:nvSpPr>
        <p:spPr>
          <a:xfrm>
            <a:off x="228600" y="1066800"/>
            <a:ext cx="11303000" cy="6249035"/>
          </a:xfrm>
          <a:prstGeom prst="rect">
            <a:avLst/>
          </a:prstGeom>
        </p:spPr>
        <p:txBody>
          <a:bodyPr vert="horz" wrap="square" lIns="0" tIns="13335" rIns="0" bIns="0" rtlCol="0">
            <a:noAutofit/>
          </a:bodyPr>
          <a:lstStyle/>
          <a:p>
            <a:pPr marL="0" indent="0" algn="just">
              <a:buNone/>
            </a:pPr>
            <a:r>
              <a:rPr lang="en-US" sz="2800" dirty="0">
                <a:solidFill>
                  <a:schemeClr val="tx1"/>
                </a:solidFill>
                <a:latin typeface="Times New Roman" panose="02020603050405020304" charset="0"/>
                <a:cs typeface="Times New Roman" panose="02020603050405020304" charset="0"/>
                <a:sym typeface="+mn-ea"/>
              </a:rPr>
              <a:t>Several studies have explored the use of data mining and machine learning techniques for crime analysis and prediction. </a:t>
            </a:r>
            <a:r>
              <a:rPr lang="en-US" sz="2800" b="1" dirty="0">
                <a:solidFill>
                  <a:schemeClr val="tx1"/>
                </a:solidFill>
                <a:latin typeface="Times New Roman" panose="02020603050405020304" charset="0"/>
                <a:cs typeface="Times New Roman" panose="02020603050405020304" charset="0"/>
                <a:sym typeface="+mn-ea"/>
              </a:rPr>
              <a:t>De Bruin et al</a:t>
            </a:r>
            <a:r>
              <a:rPr lang="en-US" sz="2800" dirty="0">
                <a:solidFill>
                  <a:schemeClr val="tx1"/>
                </a:solidFill>
                <a:latin typeface="Times New Roman" panose="02020603050405020304" charset="0"/>
                <a:cs typeface="Times New Roman" panose="02020603050405020304" charset="0"/>
                <a:sym typeface="+mn-ea"/>
              </a:rPr>
              <a:t>. proposed a framework for identifying crime trends by clustering individuals based on their profiles. </a:t>
            </a:r>
            <a:r>
              <a:rPr lang="en-US" sz="2800" b="1" dirty="0">
                <a:solidFill>
                  <a:schemeClr val="tx1"/>
                </a:solidFill>
                <a:latin typeface="Times New Roman" panose="02020603050405020304" charset="0"/>
                <a:cs typeface="Times New Roman" panose="02020603050405020304" charset="0"/>
                <a:sym typeface="+mn-ea"/>
              </a:rPr>
              <a:t>Manish Gupta et al</a:t>
            </a:r>
            <a:r>
              <a:rPr lang="en-US" sz="2800" dirty="0">
                <a:solidFill>
                  <a:schemeClr val="tx1"/>
                </a:solidFill>
                <a:latin typeface="Times New Roman" panose="02020603050405020304" charset="0"/>
                <a:cs typeface="Times New Roman" panose="02020603050405020304" charset="0"/>
                <a:sym typeface="+mn-ea"/>
              </a:rPr>
              <a:t>. discussed crime analysis systems used by Indian police and highlighted the use of data mining on NCRB datasets to identify crime hotspots. </a:t>
            </a:r>
            <a:r>
              <a:rPr lang="en-US" sz="2800" b="1" dirty="0" err="1">
                <a:solidFill>
                  <a:schemeClr val="tx1"/>
                </a:solidFill>
                <a:latin typeface="Times New Roman" panose="02020603050405020304" charset="0"/>
                <a:cs typeface="Times New Roman" panose="02020603050405020304" charset="0"/>
                <a:sym typeface="+mn-ea"/>
              </a:rPr>
              <a:t>Sutapat</a:t>
            </a:r>
            <a:r>
              <a:rPr lang="en-US" sz="2800" b="1" dirty="0">
                <a:solidFill>
                  <a:schemeClr val="tx1"/>
                </a:solidFill>
                <a:latin typeface="Times New Roman" panose="02020603050405020304" charset="0"/>
                <a:cs typeface="Times New Roman" panose="02020603050405020304" charset="0"/>
                <a:sym typeface="+mn-ea"/>
              </a:rPr>
              <a:t> </a:t>
            </a:r>
            <a:r>
              <a:rPr lang="en-US" sz="2800" b="1" dirty="0" err="1">
                <a:solidFill>
                  <a:schemeClr val="tx1"/>
                </a:solidFill>
                <a:latin typeface="Times New Roman" panose="02020603050405020304" charset="0"/>
                <a:cs typeface="Times New Roman" panose="02020603050405020304" charset="0"/>
                <a:sym typeface="+mn-ea"/>
              </a:rPr>
              <a:t>Thiprungsri</a:t>
            </a:r>
            <a:r>
              <a:rPr lang="en-US" sz="2800" dirty="0">
                <a:solidFill>
                  <a:schemeClr val="tx1"/>
                </a:solidFill>
                <a:latin typeface="Times New Roman" panose="02020603050405020304" charset="0"/>
                <a:cs typeface="Times New Roman" panose="02020603050405020304" charset="0"/>
                <a:sym typeface="+mn-ea"/>
              </a:rPr>
              <a:t> applied clustering techniques for fraud and discrepancy detection, showing the effectiveness of unsupervised learning.                                                                                                        </a:t>
            </a:r>
            <a:endParaRPr lang="en-US" sz="2800" dirty="0">
              <a:solidFill>
                <a:schemeClr val="tx1"/>
              </a:solidFill>
              <a:latin typeface="Times New Roman" panose="02020603050405020304" charset="0"/>
              <a:cs typeface="Times New Roman" panose="02020603050405020304" charset="0"/>
              <a:sym typeface="+mn-ea"/>
            </a:endParaRPr>
          </a:p>
          <a:p>
            <a:pPr marL="0" indent="0" algn="just">
              <a:buNone/>
            </a:pPr>
            <a:endParaRPr lang="en-US" sz="2800" dirty="0">
              <a:solidFill>
                <a:schemeClr val="tx1"/>
              </a:solidFill>
              <a:latin typeface="Times New Roman" panose="02020603050405020304" charset="0"/>
              <a:cs typeface="Times New Roman" panose="02020603050405020304" charset="0"/>
              <a:sym typeface="+mn-ea"/>
            </a:endParaRPr>
          </a:p>
          <a:p>
            <a:pPr marL="0" indent="0" algn="just">
              <a:buNone/>
            </a:pPr>
            <a:r>
              <a:rPr lang="en-US" sz="2800" dirty="0">
                <a:solidFill>
                  <a:schemeClr val="tx1"/>
                </a:solidFill>
                <a:latin typeface="Times New Roman" panose="02020603050405020304" charset="0"/>
                <a:cs typeface="Times New Roman" panose="02020603050405020304" charset="0"/>
                <a:sym typeface="+mn-ea"/>
              </a:rPr>
              <a:t>                                   Recent research focuses on supervised learning algorithms such as Logistic Regression, Decision Tree, and Random Forest for accurate crime classification. These studies demonstrate that machine learning improves crime prediction efficiency and supports law enforcement decision-making.</a:t>
            </a:r>
            <a:endParaRPr sz="2800" dirty="0">
              <a:solidFill>
                <a:schemeClr val="tx1"/>
              </a:solidFill>
              <a:latin typeface="Times New Roman" panose="02020603050405020304" charset="0"/>
              <a:cs typeface="Times New Roman" panose="02020603050405020304" charset="0"/>
            </a:endParaRPr>
          </a:p>
          <a:p>
            <a:pPr marL="0" indent="0" algn="just">
              <a:buNone/>
            </a:pPr>
            <a:endParaRPr sz="2800" dirty="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2156460" y="22225"/>
            <a:ext cx="4121150" cy="690245"/>
          </a:xfrm>
          <a:prstGeom prst="rect">
            <a:avLst/>
          </a:prstGeom>
        </p:spPr>
        <p:txBody>
          <a:bodyPr vert="horz" wrap="square" lIns="0" tIns="13335" rIns="0" bIns="0" rtlCol="0">
            <a:spAutoFit/>
          </a:bodyPr>
          <a:lstStyle/>
          <a:p>
            <a:pPr marL="12700">
              <a:lnSpc>
                <a:spcPct val="100000"/>
              </a:lnSpc>
              <a:spcBef>
                <a:spcPts val="105"/>
              </a:spcBef>
            </a:pPr>
            <a:r>
              <a:rPr spc="-305" dirty="0">
                <a:latin typeface="Times New Roman" panose="02020603050405020304" charset="0"/>
                <a:cs typeface="Times New Roman" panose="02020603050405020304" charset="0"/>
              </a:rPr>
              <a:t>ABSTRACT</a:t>
            </a:r>
            <a:endParaRPr spc="-305" dirty="0">
              <a:latin typeface="Times New Roman" panose="02020603050405020304" charset="0"/>
              <a:cs typeface="Times New Roman" panose="02020603050405020304" charset="0"/>
            </a:endParaRPr>
          </a:p>
        </p:txBody>
      </p:sp>
      <p:sp>
        <p:nvSpPr>
          <p:cNvPr id="8" name="object 8"/>
          <p:cNvSpPr txBox="1"/>
          <p:nvPr/>
        </p:nvSpPr>
        <p:spPr>
          <a:xfrm>
            <a:off x="1219352" y="714488"/>
            <a:ext cx="10486390" cy="5697855"/>
          </a:xfrm>
          <a:prstGeom prst="rect">
            <a:avLst/>
          </a:prstGeom>
        </p:spPr>
        <p:txBody>
          <a:bodyPr vert="horz" wrap="square" lIns="0" tIns="12065" rIns="0" bIns="0" rtlCol="0">
            <a:spAutoFit/>
          </a:bodyPr>
          <a:lstStyle/>
          <a:p>
            <a:pPr marL="12700" marR="5080" indent="2560320" algn="just">
              <a:lnSpc>
                <a:spcPct val="110000"/>
              </a:lnSpc>
              <a:spcBef>
                <a:spcPts val="95"/>
              </a:spcBef>
              <a:tabLst>
                <a:tab pos="10373995" algn="l"/>
              </a:tabLst>
            </a:pPr>
            <a:r>
              <a:rPr sz="2800" dirty="0">
                <a:latin typeface="Times New Roman" panose="02020603050405020304" charset="0"/>
                <a:cs typeface="Times New Roman" panose="02020603050405020304" charset="0"/>
              </a:rPr>
              <a:t>Crime</a:t>
            </a:r>
            <a:r>
              <a:rPr sz="2800" spc="22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analysis</a:t>
            </a:r>
            <a:r>
              <a:rPr sz="2800" spc="229"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and</a:t>
            </a:r>
            <a:r>
              <a:rPr sz="2800" spc="22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prediction</a:t>
            </a:r>
            <a:r>
              <a:rPr sz="2800" spc="229"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using</a:t>
            </a:r>
            <a:r>
              <a:rPr sz="2800" spc="229"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machine </a:t>
            </a:r>
            <a:r>
              <a:rPr sz="2800" dirty="0">
                <a:latin typeface="Times New Roman" panose="02020603050405020304" charset="0"/>
                <a:cs typeface="Times New Roman" panose="02020603050405020304" charset="0"/>
              </a:rPr>
              <a:t>learning</a:t>
            </a:r>
            <a:r>
              <a:rPr sz="2800" spc="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aims  to</a:t>
            </a:r>
            <a:r>
              <a:rPr sz="2800" spc="-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identify</a:t>
            </a:r>
            <a:r>
              <a:rPr sz="2800" spc="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crime</a:t>
            </a:r>
            <a:r>
              <a:rPr sz="2800" spc="-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patterns</a:t>
            </a:r>
            <a:r>
              <a:rPr sz="2800" spc="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and</a:t>
            </a:r>
            <a:r>
              <a:rPr sz="2800" spc="-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forecast</a:t>
            </a:r>
            <a:r>
              <a:rPr sz="2800" spc="-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potential </a:t>
            </a:r>
            <a:r>
              <a:rPr sz="2800" dirty="0">
                <a:latin typeface="Times New Roman" panose="02020603050405020304" charset="0"/>
                <a:cs typeface="Times New Roman" panose="02020603050405020304" charset="0"/>
              </a:rPr>
              <a:t>criminal</a:t>
            </a:r>
            <a:r>
              <a:rPr sz="2800" spc="61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activities</a:t>
            </a:r>
            <a:r>
              <a:rPr sz="2800" spc="59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based</a:t>
            </a:r>
            <a:r>
              <a:rPr sz="2800" spc="60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on</a:t>
            </a:r>
            <a:r>
              <a:rPr sz="2800" spc="61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historical</a:t>
            </a:r>
            <a:r>
              <a:rPr sz="2800" spc="61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data.</a:t>
            </a:r>
            <a:r>
              <a:rPr sz="2800" spc="59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This</a:t>
            </a:r>
            <a:r>
              <a:rPr sz="2800" spc="61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project</a:t>
            </a:r>
            <a:r>
              <a:rPr sz="2800" spc="58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utilizes </a:t>
            </a:r>
            <a:r>
              <a:rPr sz="2800" spc="-20" dirty="0">
                <a:latin typeface="Times New Roman" panose="02020603050405020304" charset="0"/>
                <a:cs typeface="Times New Roman" panose="02020603050405020304" charset="0"/>
              </a:rPr>
              <a:t>real-</a:t>
            </a:r>
            <a:r>
              <a:rPr sz="2800" dirty="0">
                <a:latin typeface="Times New Roman" panose="02020603050405020304" charset="0"/>
                <a:cs typeface="Times New Roman" panose="02020603050405020304" charset="0"/>
              </a:rPr>
              <a:t>world</a:t>
            </a:r>
            <a:r>
              <a:rPr sz="2800" spc="18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crime</a:t>
            </a:r>
            <a:r>
              <a:rPr sz="2800" spc="19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datasets</a:t>
            </a:r>
            <a:r>
              <a:rPr sz="2800" spc="18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containing</a:t>
            </a:r>
            <a:r>
              <a:rPr sz="2800" spc="19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attributes</a:t>
            </a:r>
            <a:r>
              <a:rPr sz="2800" spc="18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such</a:t>
            </a:r>
            <a:r>
              <a:rPr sz="2800" spc="18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as</a:t>
            </a:r>
            <a:r>
              <a:rPr sz="2800" spc="180" dirty="0">
                <a:latin typeface="Times New Roman" panose="02020603050405020304" charset="0"/>
                <a:cs typeface="Times New Roman" panose="02020603050405020304" charset="0"/>
              </a:rPr>
              <a:t>  </a:t>
            </a:r>
            <a:r>
              <a:rPr sz="2800" b="1" spc="-10" dirty="0">
                <a:latin typeface="Times New Roman" panose="02020603050405020304" charset="0"/>
                <a:cs typeface="Times New Roman" panose="02020603050405020304" charset="0"/>
              </a:rPr>
              <a:t>city, </a:t>
            </a:r>
            <a:r>
              <a:rPr sz="2800" b="1" dirty="0">
                <a:latin typeface="Times New Roman" panose="02020603050405020304" charset="0"/>
                <a:cs typeface="Times New Roman" panose="02020603050405020304" charset="0"/>
              </a:rPr>
              <a:t>victim</a:t>
            </a:r>
            <a:r>
              <a:rPr sz="2800" b="1" spc="420" dirty="0">
                <a:latin typeface="Times New Roman" panose="02020603050405020304" charset="0"/>
                <a:cs typeface="Times New Roman" panose="02020603050405020304" charset="0"/>
              </a:rPr>
              <a:t> </a:t>
            </a:r>
            <a:r>
              <a:rPr lang="en-US" altLang="" sz="2800" b="1" dirty="0">
                <a:latin typeface="Times New Roman" panose="02020603050405020304" charset="0"/>
                <a:cs typeface="Times New Roman" panose="02020603050405020304" charset="0"/>
              </a:rPr>
              <a:t>age</a:t>
            </a:r>
            <a:r>
              <a:rPr sz="2800" b="1" dirty="0">
                <a:latin typeface="Times New Roman" panose="02020603050405020304" charset="0"/>
                <a:cs typeface="Times New Roman" panose="02020603050405020304" charset="0"/>
              </a:rPr>
              <a:t>,</a:t>
            </a:r>
            <a:r>
              <a:rPr lang="en-US" altLang="" sz="2800" b="1" dirty="0">
                <a:latin typeface="Times New Roman" panose="02020603050405020304" charset="0"/>
                <a:cs typeface="Times New Roman" panose="02020603050405020304" charset="0"/>
              </a:rPr>
              <a:t> Gender,</a:t>
            </a:r>
            <a:r>
              <a:rPr sz="2800" b="1" spc="430" dirty="0">
                <a:latin typeface="Times New Roman" panose="02020603050405020304" charset="0"/>
                <a:cs typeface="Times New Roman" panose="02020603050405020304" charset="0"/>
              </a:rPr>
              <a:t> </a:t>
            </a:r>
            <a:r>
              <a:rPr sz="2800" b="1" dirty="0">
                <a:latin typeface="Times New Roman" panose="02020603050405020304" charset="0"/>
                <a:cs typeface="Times New Roman" panose="02020603050405020304" charset="0"/>
              </a:rPr>
              <a:t>weapon</a:t>
            </a:r>
            <a:r>
              <a:rPr sz="2800" b="1" spc="400" dirty="0">
                <a:latin typeface="Times New Roman" panose="02020603050405020304" charset="0"/>
                <a:cs typeface="Times New Roman" panose="02020603050405020304" charset="0"/>
              </a:rPr>
              <a:t> </a:t>
            </a:r>
            <a:r>
              <a:rPr sz="2800" b="1" dirty="0">
                <a:latin typeface="Times New Roman" panose="02020603050405020304" charset="0"/>
                <a:cs typeface="Times New Roman" panose="02020603050405020304" charset="0"/>
              </a:rPr>
              <a:t>used,</a:t>
            </a:r>
            <a:r>
              <a:rPr sz="2800" b="1" spc="415" dirty="0">
                <a:latin typeface="Times New Roman" panose="02020603050405020304" charset="0"/>
                <a:cs typeface="Times New Roman" panose="02020603050405020304" charset="0"/>
              </a:rPr>
              <a:t> </a:t>
            </a:r>
            <a:r>
              <a:rPr sz="2800" b="1" dirty="0">
                <a:latin typeface="Times New Roman" panose="02020603050405020304" charset="0"/>
                <a:cs typeface="Times New Roman" panose="02020603050405020304" charset="0"/>
              </a:rPr>
              <a:t>and</a:t>
            </a:r>
            <a:r>
              <a:rPr sz="2800" b="1" spc="420" dirty="0">
                <a:latin typeface="Times New Roman" panose="02020603050405020304" charset="0"/>
                <a:cs typeface="Times New Roman" panose="02020603050405020304" charset="0"/>
              </a:rPr>
              <a:t> </a:t>
            </a:r>
            <a:r>
              <a:rPr sz="2800" b="1" dirty="0">
                <a:latin typeface="Times New Roman" panose="02020603050405020304" charset="0"/>
                <a:cs typeface="Times New Roman" panose="02020603050405020304" charset="0"/>
              </a:rPr>
              <a:t>police</a:t>
            </a:r>
            <a:r>
              <a:rPr sz="2800" b="1" spc="420" dirty="0">
                <a:latin typeface="Times New Roman" panose="02020603050405020304" charset="0"/>
                <a:cs typeface="Times New Roman" panose="02020603050405020304" charset="0"/>
              </a:rPr>
              <a:t> </a:t>
            </a:r>
            <a:r>
              <a:rPr sz="2800" b="1" spc="-10" dirty="0">
                <a:latin typeface="Times New Roman" panose="02020603050405020304" charset="0"/>
                <a:cs typeface="Times New Roman" panose="02020603050405020304" charset="0"/>
              </a:rPr>
              <a:t>deployment </a:t>
            </a:r>
            <a:r>
              <a:rPr sz="2800" b="1" dirty="0">
                <a:latin typeface="Times New Roman" panose="02020603050405020304" charset="0"/>
                <a:cs typeface="Times New Roman" panose="02020603050405020304" charset="0"/>
              </a:rPr>
              <a:t>to</a:t>
            </a:r>
            <a:r>
              <a:rPr sz="2800" b="1" spc="310" dirty="0">
                <a:latin typeface="Times New Roman" panose="02020603050405020304" charset="0"/>
                <a:cs typeface="Times New Roman" panose="02020603050405020304" charset="0"/>
              </a:rPr>
              <a:t>  </a:t>
            </a:r>
            <a:r>
              <a:rPr sz="2800" b="1" dirty="0">
                <a:latin typeface="Times New Roman" panose="02020603050405020304" charset="0"/>
                <a:cs typeface="Times New Roman" panose="02020603050405020304" charset="0"/>
              </a:rPr>
              <a:t>analyze</a:t>
            </a:r>
            <a:r>
              <a:rPr sz="2800" b="1" spc="320" dirty="0">
                <a:latin typeface="Times New Roman" panose="02020603050405020304" charset="0"/>
                <a:cs typeface="Times New Roman" panose="02020603050405020304" charset="0"/>
              </a:rPr>
              <a:t>  </a:t>
            </a:r>
            <a:r>
              <a:rPr sz="2800" b="1" dirty="0">
                <a:latin typeface="Times New Roman" panose="02020603050405020304" charset="0"/>
                <a:cs typeface="Times New Roman" panose="02020603050405020304" charset="0"/>
              </a:rPr>
              <a:t>crime</a:t>
            </a:r>
            <a:r>
              <a:rPr sz="2800" b="1" spc="315" dirty="0">
                <a:latin typeface="Times New Roman" panose="02020603050405020304" charset="0"/>
                <a:cs typeface="Times New Roman" panose="02020603050405020304" charset="0"/>
              </a:rPr>
              <a:t>  </a:t>
            </a:r>
            <a:r>
              <a:rPr sz="2800" b="1" dirty="0">
                <a:latin typeface="Times New Roman" panose="02020603050405020304" charset="0"/>
                <a:cs typeface="Times New Roman" panose="02020603050405020304" charset="0"/>
              </a:rPr>
              <a:t>trends</a:t>
            </a:r>
            <a:r>
              <a:rPr sz="2800" dirty="0">
                <a:latin typeface="Times New Roman" panose="02020603050405020304" charset="0"/>
                <a:cs typeface="Times New Roman" panose="02020603050405020304" charset="0"/>
              </a:rPr>
              <a:t>.</a:t>
            </a:r>
            <a:r>
              <a:rPr sz="2800" spc="32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Data</a:t>
            </a:r>
            <a:r>
              <a:rPr sz="2800" spc="32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preprocessing</a:t>
            </a:r>
            <a:r>
              <a:rPr sz="2800" spc="32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and</a:t>
            </a:r>
            <a:r>
              <a:rPr sz="2800" spc="31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feature </a:t>
            </a:r>
            <a:r>
              <a:rPr sz="2800" dirty="0">
                <a:latin typeface="Times New Roman" panose="02020603050405020304" charset="0"/>
                <a:cs typeface="Times New Roman" panose="02020603050405020304" charset="0"/>
              </a:rPr>
              <a:t>selection</a:t>
            </a:r>
            <a:r>
              <a:rPr sz="2800" spc="2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techniques</a:t>
            </a:r>
            <a:r>
              <a:rPr sz="2800" spc="2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are</a:t>
            </a:r>
            <a:r>
              <a:rPr sz="2800" spc="1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applied</a:t>
            </a:r>
            <a:r>
              <a:rPr sz="2800" spc="2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to</a:t>
            </a:r>
            <a:r>
              <a:rPr sz="2800" spc="1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enhance</a:t>
            </a:r>
            <a:r>
              <a:rPr sz="2800" spc="1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data</a:t>
            </a:r>
            <a:r>
              <a:rPr sz="2800" spc="1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quality</a:t>
            </a:r>
            <a:r>
              <a:rPr sz="2800" spc="25"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and </a:t>
            </a:r>
            <a:r>
              <a:rPr sz="2800" dirty="0">
                <a:latin typeface="Times New Roman" panose="02020603050405020304" charset="0"/>
                <a:cs typeface="Times New Roman" panose="02020603050405020304" charset="0"/>
              </a:rPr>
              <a:t>model</a:t>
            </a:r>
            <a:r>
              <a:rPr sz="2800" spc="29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efficiency,</a:t>
            </a:r>
            <a:r>
              <a:rPr sz="2800" dirty="0">
                <a:latin typeface="Times New Roman" panose="02020603050405020304" charset="0"/>
                <a:cs typeface="Times New Roman" panose="02020603050405020304" charset="0"/>
              </a:rPr>
              <a:t>	</a:t>
            </a:r>
            <a:r>
              <a:rPr sz="2800" spc="-50" dirty="0">
                <a:latin typeface="Times New Roman" panose="02020603050405020304" charset="0"/>
                <a:cs typeface="Times New Roman" panose="02020603050405020304" charset="0"/>
              </a:rPr>
              <a:t>.</a:t>
            </a:r>
            <a:endParaRPr sz="2800">
              <a:latin typeface="Times New Roman" panose="02020603050405020304" charset="0"/>
              <a:cs typeface="Times New Roman" panose="02020603050405020304" charset="0"/>
            </a:endParaRPr>
          </a:p>
          <a:p>
            <a:pPr marL="12700" marR="5080" indent="2258695" algn="just">
              <a:lnSpc>
                <a:spcPct val="110000"/>
              </a:lnSpc>
            </a:pPr>
            <a:r>
              <a:rPr sz="2800" dirty="0">
                <a:latin typeface="Times New Roman" panose="02020603050405020304" charset="0"/>
                <a:cs typeface="Times New Roman" panose="02020603050405020304" charset="0"/>
              </a:rPr>
              <a:t>The</a:t>
            </a:r>
            <a:r>
              <a:rPr sz="2800" spc="-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trained</a:t>
            </a:r>
            <a:r>
              <a:rPr sz="2800" spc="-1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model</a:t>
            </a:r>
            <a:r>
              <a:rPr sz="2800" spc="-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predicts</a:t>
            </a:r>
            <a:r>
              <a:rPr sz="2800" spc="-1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the</a:t>
            </a:r>
            <a:r>
              <a:rPr sz="2800" spc="-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probable</a:t>
            </a:r>
            <a:r>
              <a:rPr sz="2800" spc="-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type</a:t>
            </a:r>
            <a:r>
              <a:rPr sz="2800" spc="-1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of </a:t>
            </a:r>
            <a:r>
              <a:rPr sz="2800" dirty="0">
                <a:latin typeface="Times New Roman" panose="02020603050405020304" charset="0"/>
                <a:cs typeface="Times New Roman" panose="02020603050405020304" charset="0"/>
              </a:rPr>
              <a:t>crime</a:t>
            </a:r>
            <a:r>
              <a:rPr sz="2800" spc="17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for</a:t>
            </a:r>
            <a:r>
              <a:rPr sz="2800" spc="17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given</a:t>
            </a:r>
            <a:r>
              <a:rPr sz="2800" spc="17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inputs</a:t>
            </a:r>
            <a:r>
              <a:rPr sz="2800" spc="17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through</a:t>
            </a:r>
            <a:r>
              <a:rPr sz="2800" spc="17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a:t>
            </a:r>
            <a:r>
              <a:rPr sz="2800" spc="16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user-</a:t>
            </a:r>
            <a:r>
              <a:rPr sz="2800" dirty="0">
                <a:latin typeface="Times New Roman" panose="02020603050405020304" charset="0"/>
                <a:cs typeface="Times New Roman" panose="02020603050405020304" charset="0"/>
              </a:rPr>
              <a:t>friendly</a:t>
            </a:r>
            <a:r>
              <a:rPr sz="2800" spc="17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web</a:t>
            </a:r>
            <a:r>
              <a:rPr sz="2800" spc="16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interface </a:t>
            </a:r>
            <a:r>
              <a:rPr sz="2800" dirty="0">
                <a:latin typeface="Times New Roman" panose="02020603050405020304" charset="0"/>
                <a:cs typeface="Times New Roman" panose="02020603050405020304" charset="0"/>
              </a:rPr>
              <a:t>developed</a:t>
            </a:r>
            <a:r>
              <a:rPr sz="2800" spc="14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using</a:t>
            </a:r>
            <a:r>
              <a:rPr sz="2800" spc="13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Flask.</a:t>
            </a:r>
            <a:r>
              <a:rPr sz="2800" spc="114"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Visualization</a:t>
            </a:r>
            <a:r>
              <a:rPr sz="2800" spc="14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techniques</a:t>
            </a:r>
            <a:r>
              <a:rPr sz="2800" spc="13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such</a:t>
            </a:r>
            <a:r>
              <a:rPr sz="2800" spc="13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as</a:t>
            </a:r>
            <a:r>
              <a:rPr sz="2800" spc="120" dirty="0">
                <a:latin typeface="Times New Roman" panose="02020603050405020304" charset="0"/>
                <a:cs typeface="Times New Roman" panose="02020603050405020304" charset="0"/>
              </a:rPr>
              <a:t> </a:t>
            </a:r>
            <a:r>
              <a:rPr sz="2800" b="1" spc="-10" dirty="0">
                <a:latin typeface="Times New Roman" panose="02020603050405020304" charset="0"/>
                <a:cs typeface="Times New Roman" panose="02020603050405020304" charset="0"/>
              </a:rPr>
              <a:t>graphs, </a:t>
            </a:r>
            <a:r>
              <a:rPr sz="2800" b="1" dirty="0">
                <a:latin typeface="Times New Roman" panose="02020603050405020304" charset="0"/>
                <a:cs typeface="Times New Roman" panose="02020603050405020304" charset="0"/>
              </a:rPr>
              <a:t>accuracy</a:t>
            </a:r>
            <a:r>
              <a:rPr sz="2800" b="1" spc="185" dirty="0">
                <a:latin typeface="Times New Roman" panose="02020603050405020304" charset="0"/>
                <a:cs typeface="Times New Roman" panose="02020603050405020304" charset="0"/>
              </a:rPr>
              <a:t> </a:t>
            </a:r>
            <a:r>
              <a:rPr sz="2800" b="1" dirty="0">
                <a:latin typeface="Times New Roman" panose="02020603050405020304" charset="0"/>
                <a:cs typeface="Times New Roman" panose="02020603050405020304" charset="0"/>
              </a:rPr>
              <a:t>charts,</a:t>
            </a:r>
            <a:r>
              <a:rPr sz="2800" b="1" spc="195" dirty="0">
                <a:latin typeface="Times New Roman" panose="02020603050405020304" charset="0"/>
                <a:cs typeface="Times New Roman" panose="02020603050405020304" charset="0"/>
              </a:rPr>
              <a:t> </a:t>
            </a:r>
            <a:r>
              <a:rPr sz="2800" b="1" dirty="0">
                <a:latin typeface="Times New Roman" panose="02020603050405020304" charset="0"/>
                <a:cs typeface="Times New Roman" panose="02020603050405020304" charset="0"/>
              </a:rPr>
              <a:t>and</a:t>
            </a:r>
            <a:r>
              <a:rPr sz="2800" b="1" spc="180" dirty="0">
                <a:latin typeface="Times New Roman" panose="02020603050405020304" charset="0"/>
                <a:cs typeface="Times New Roman" panose="02020603050405020304" charset="0"/>
              </a:rPr>
              <a:t> </a:t>
            </a:r>
            <a:r>
              <a:rPr sz="2800" b="1" dirty="0">
                <a:latin typeface="Times New Roman" panose="02020603050405020304" charset="0"/>
                <a:cs typeface="Times New Roman" panose="02020603050405020304" charset="0"/>
              </a:rPr>
              <a:t>confusion</a:t>
            </a:r>
            <a:r>
              <a:rPr sz="2800" b="1" spc="180" dirty="0">
                <a:latin typeface="Times New Roman" panose="02020603050405020304" charset="0"/>
                <a:cs typeface="Times New Roman" panose="02020603050405020304" charset="0"/>
              </a:rPr>
              <a:t> </a:t>
            </a:r>
            <a:r>
              <a:rPr sz="2800" b="1" dirty="0">
                <a:latin typeface="Times New Roman" panose="02020603050405020304" charset="0"/>
                <a:cs typeface="Times New Roman" panose="02020603050405020304" charset="0"/>
              </a:rPr>
              <a:t>matrices</a:t>
            </a:r>
            <a:r>
              <a:rPr sz="2800" b="1" spc="19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are</a:t>
            </a:r>
            <a:r>
              <a:rPr sz="2800" spc="18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used</a:t>
            </a:r>
            <a:r>
              <a:rPr sz="2800" spc="18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to</a:t>
            </a:r>
            <a:r>
              <a:rPr sz="2800" spc="18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interpret </a:t>
            </a:r>
            <a:r>
              <a:rPr sz="2800" dirty="0">
                <a:latin typeface="Times New Roman" panose="02020603050405020304" charset="0"/>
                <a:cs typeface="Times New Roman" panose="02020603050405020304" charset="0"/>
              </a:rPr>
              <a:t>results</a:t>
            </a:r>
            <a:r>
              <a:rPr sz="2800" spc="-7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effectively.</a:t>
            </a:r>
            <a:endParaRPr sz="28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68980" y="498475"/>
            <a:ext cx="6849110" cy="690245"/>
          </a:xfrm>
          <a:prstGeom prst="rect">
            <a:avLst/>
          </a:prstGeom>
        </p:spPr>
        <p:txBody>
          <a:bodyPr vert="horz" wrap="square" lIns="0" tIns="13335" rIns="0" bIns="0" rtlCol="0">
            <a:spAutoFit/>
          </a:bodyPr>
          <a:lstStyle/>
          <a:p>
            <a:pPr marL="12700">
              <a:lnSpc>
                <a:spcPct val="100000"/>
              </a:lnSpc>
              <a:spcBef>
                <a:spcPts val="105"/>
              </a:spcBef>
            </a:pPr>
            <a:r>
              <a:rPr spc="-310" dirty="0">
                <a:latin typeface="Times New Roman" panose="02020603050405020304" charset="0"/>
                <a:cs typeface="Times New Roman" panose="02020603050405020304" charset="0"/>
              </a:rPr>
              <a:t>PROBLEM</a:t>
            </a:r>
            <a:r>
              <a:rPr spc="-90" dirty="0">
                <a:latin typeface="Times New Roman" panose="02020603050405020304" charset="0"/>
                <a:cs typeface="Times New Roman" panose="02020603050405020304" charset="0"/>
              </a:rPr>
              <a:t> </a:t>
            </a:r>
            <a:r>
              <a:rPr spc="-445" dirty="0">
                <a:latin typeface="Times New Roman" panose="02020603050405020304" charset="0"/>
                <a:cs typeface="Times New Roman" panose="02020603050405020304" charset="0"/>
              </a:rPr>
              <a:t>STATEMENT</a:t>
            </a:r>
            <a:endParaRPr spc="-445" dirty="0">
              <a:latin typeface="Times New Roman" panose="02020603050405020304" charset="0"/>
              <a:cs typeface="Times New Roman" panose="02020603050405020304" charset="0"/>
            </a:endParaRPr>
          </a:p>
        </p:txBody>
      </p:sp>
      <p:sp>
        <p:nvSpPr>
          <p:cNvPr id="3" name="object 3"/>
          <p:cNvSpPr txBox="1"/>
          <p:nvPr/>
        </p:nvSpPr>
        <p:spPr>
          <a:xfrm>
            <a:off x="1077595" y="1663065"/>
            <a:ext cx="10347325" cy="3968115"/>
          </a:xfrm>
          <a:prstGeom prst="rect">
            <a:avLst/>
          </a:prstGeom>
        </p:spPr>
        <p:txBody>
          <a:bodyPr vert="horz" wrap="square" lIns="0" tIns="13335" rIns="0" bIns="0" rtlCol="0">
            <a:noAutofit/>
          </a:bodyPr>
          <a:lstStyle/>
          <a:p>
            <a:pPr marL="12700" marR="5080" indent="2845435" algn="just">
              <a:lnSpc>
                <a:spcPct val="100000"/>
              </a:lnSpc>
              <a:spcBef>
                <a:spcPts val="105"/>
              </a:spcBef>
              <a:tabLst>
                <a:tab pos="634365" algn="l"/>
                <a:tab pos="1420495" algn="l"/>
                <a:tab pos="1705610" algn="l"/>
                <a:tab pos="1831975" algn="l"/>
                <a:tab pos="2048510" algn="l"/>
                <a:tab pos="3319145" algn="l"/>
                <a:tab pos="3574415" algn="l"/>
                <a:tab pos="3667125" algn="l"/>
                <a:tab pos="3981450" algn="l"/>
                <a:tab pos="4042410" algn="l"/>
                <a:tab pos="4377690" algn="l"/>
                <a:tab pos="4754245" algn="l"/>
                <a:tab pos="4976495" algn="l"/>
                <a:tab pos="5615305" algn="l"/>
                <a:tab pos="5641340" algn="l"/>
                <a:tab pos="5941060" algn="l"/>
                <a:tab pos="6106160" algn="l"/>
                <a:tab pos="6697345" algn="l"/>
                <a:tab pos="6974840" algn="l"/>
                <a:tab pos="7479030" algn="l"/>
                <a:tab pos="7552690" algn="l"/>
                <a:tab pos="7962265" algn="l"/>
                <a:tab pos="8162925" algn="l"/>
                <a:tab pos="8555355" algn="l"/>
                <a:tab pos="8762365" algn="l"/>
                <a:tab pos="9032240" algn="l"/>
                <a:tab pos="9065895" algn="l"/>
                <a:tab pos="9476105" algn="l"/>
                <a:tab pos="9698355" algn="l"/>
              </a:tabLst>
            </a:pPr>
            <a:r>
              <a:rPr sz="2800" spc="-10" dirty="0">
                <a:latin typeface="Times New Roman" panose="02020603050405020304"/>
                <a:cs typeface="Times New Roman" panose="02020603050405020304"/>
              </a:rPr>
              <a:t>Crime</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rates</a:t>
            </a:r>
            <a:r>
              <a:rPr sz="280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are</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increasing</a:t>
            </a:r>
            <a:r>
              <a:rPr sz="280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in</a:t>
            </a:r>
            <a:r>
              <a:rPr sz="2800"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many</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regions, making</a:t>
            </a:r>
            <a:r>
              <a:rPr sz="280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it</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difficult</a:t>
            </a:r>
            <a:r>
              <a:rPr sz="280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for</a:t>
            </a:r>
            <a:r>
              <a:rPr sz="280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law</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enforcement</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agencies</a:t>
            </a:r>
            <a:r>
              <a:rPr sz="2800" dirty="0">
                <a:latin typeface="Times New Roman" panose="02020603050405020304"/>
                <a:cs typeface="Times New Roman" panose="02020603050405020304"/>
              </a:rPr>
              <a:t>	</a:t>
            </a:r>
            <a:r>
              <a:rPr sz="2800" spc="-755" dirty="0">
                <a:latin typeface="Times New Roman" panose="02020603050405020304"/>
                <a:cs typeface="Times New Roman" panose="02020603050405020304"/>
              </a:rPr>
              <a:t> </a:t>
            </a:r>
            <a:r>
              <a:rPr sz="2800" dirty="0">
                <a:latin typeface="Times New Roman" panose="02020603050405020304"/>
                <a:cs typeface="Times New Roman" panose="02020603050405020304"/>
              </a:rPr>
              <a:t>to		</a:t>
            </a:r>
            <a:r>
              <a:rPr sz="2800" spc="-10" dirty="0">
                <a:latin typeface="Times New Roman" panose="02020603050405020304"/>
                <a:cs typeface="Times New Roman" panose="02020603050405020304"/>
              </a:rPr>
              <a:t>allocate resources</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effectively.</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Traditional</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crime</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analysis</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methods</a:t>
            </a:r>
            <a:r>
              <a:rPr sz="2800"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rely </a:t>
            </a:r>
            <a:r>
              <a:rPr sz="2800" spc="-25" dirty="0">
                <a:latin typeface="Times New Roman" panose="02020603050405020304"/>
                <a:cs typeface="Times New Roman" panose="02020603050405020304"/>
              </a:rPr>
              <a:t>on</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manual</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analysis</a:t>
            </a:r>
            <a:r>
              <a:rPr sz="280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and</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historical</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reports,</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which</a:t>
            </a:r>
            <a:r>
              <a:rPr sz="280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are</a:t>
            </a:r>
            <a:r>
              <a:rPr sz="280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time</a:t>
            </a:r>
            <a:r>
              <a:rPr lang="en-US" altLang="" sz="2800" spc="-1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consuming</a:t>
            </a:r>
            <a:r>
              <a:rPr sz="2800" dirty="0">
                <a:latin typeface="Times New Roman" panose="02020603050405020304"/>
                <a:cs typeface="Times New Roman" panose="02020603050405020304"/>
              </a:rPr>
              <a:t>	</a:t>
            </a:r>
            <a:r>
              <a:rPr lang="en-US" altLang="" sz="2800" dirty="0">
                <a:latin typeface="Times New Roman" panose="02020603050405020304"/>
                <a:cs typeface="Times New Roman" panose="02020603050405020304"/>
              </a:rPr>
              <a:t> </a:t>
            </a:r>
            <a:r>
              <a:rPr sz="2800" spc="-15" dirty="0">
                <a:latin typeface="Times New Roman" panose="02020603050405020304"/>
                <a:cs typeface="Times New Roman" panose="02020603050405020304"/>
              </a:rPr>
              <a:t>and</a:t>
            </a:r>
            <a:r>
              <a:rPr lang="en-US" altLang="" sz="2800" spc="-1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often</a:t>
            </a:r>
            <a:r>
              <a:rPr lang="en-US" altLang="" sz="2800" spc="-1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inaccurate.</a:t>
            </a:r>
            <a:endParaRPr sz="2800">
              <a:latin typeface="Times New Roman" panose="02020603050405020304"/>
              <a:cs typeface="Times New Roman" panose="02020603050405020304"/>
            </a:endParaRPr>
          </a:p>
          <a:p>
            <a:pPr marL="12700" marR="6985" indent="2330450" algn="just">
              <a:lnSpc>
                <a:spcPct val="100000"/>
              </a:lnSpc>
              <a:spcBef>
                <a:spcPts val="5"/>
              </a:spcBef>
            </a:pPr>
            <a:r>
              <a:rPr sz="2800" dirty="0">
                <a:latin typeface="Times New Roman" panose="02020603050405020304"/>
                <a:cs typeface="Times New Roman" panose="02020603050405020304"/>
              </a:rPr>
              <a:t>There</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5" dirty="0">
                <a:latin typeface="Times New Roman" panose="02020603050405020304"/>
                <a:cs typeface="Times New Roman" panose="02020603050405020304"/>
              </a:rPr>
              <a:t> </a:t>
            </a:r>
            <a:r>
              <a:rPr sz="2800" dirty="0">
                <a:latin typeface="Times New Roman" panose="02020603050405020304"/>
                <a:cs typeface="Times New Roman" panose="02020603050405020304"/>
              </a:rPr>
              <a:t>need</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for</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automated</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system</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that</a:t>
            </a:r>
            <a:r>
              <a:rPr sz="2800" spc="1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can </a:t>
            </a:r>
            <a:r>
              <a:rPr sz="2800" dirty="0">
                <a:latin typeface="Times New Roman" panose="02020603050405020304"/>
                <a:cs typeface="Times New Roman" panose="02020603050405020304"/>
              </a:rPr>
              <a:t>analyze</a:t>
            </a:r>
            <a:r>
              <a:rPr sz="2800" spc="305" dirty="0">
                <a:latin typeface="Times New Roman" panose="02020603050405020304"/>
                <a:cs typeface="Times New Roman" panose="02020603050405020304"/>
              </a:rPr>
              <a:t> </a:t>
            </a:r>
            <a:r>
              <a:rPr sz="2800" dirty="0">
                <a:latin typeface="Times New Roman" panose="02020603050405020304"/>
                <a:cs typeface="Times New Roman" panose="02020603050405020304"/>
              </a:rPr>
              <a:t>past</a:t>
            </a:r>
            <a:r>
              <a:rPr sz="2800" spc="330"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325"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3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33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predict</a:t>
            </a:r>
            <a:r>
              <a:rPr sz="2800" spc="320" dirty="0">
                <a:latin typeface="Times New Roman" panose="02020603050405020304"/>
                <a:cs typeface="Times New Roman" panose="02020603050405020304"/>
              </a:rPr>
              <a:t> </a:t>
            </a:r>
            <a:r>
              <a:rPr sz="2800" dirty="0">
                <a:latin typeface="Times New Roman" panose="02020603050405020304"/>
                <a:cs typeface="Times New Roman" panose="02020603050405020304"/>
              </a:rPr>
              <a:t>future</a:t>
            </a:r>
            <a:r>
              <a:rPr sz="2800" spc="330"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315" dirty="0">
                <a:latin typeface="Times New Roman" panose="02020603050405020304"/>
                <a:cs typeface="Times New Roman" panose="02020603050405020304"/>
              </a:rPr>
              <a:t> </a:t>
            </a:r>
            <a:r>
              <a:rPr sz="2800" dirty="0">
                <a:latin typeface="Times New Roman" panose="02020603050405020304"/>
                <a:cs typeface="Times New Roman" panose="02020603050405020304"/>
              </a:rPr>
              <a:t>trends</a:t>
            </a:r>
            <a:r>
              <a:rPr sz="2800" spc="3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using </a:t>
            </a:r>
            <a:r>
              <a:rPr sz="2800" dirty="0">
                <a:latin typeface="Times New Roman" panose="02020603050405020304"/>
                <a:cs typeface="Times New Roman" panose="02020603050405020304"/>
              </a:rPr>
              <a:t>machine</a:t>
            </a:r>
            <a:r>
              <a:rPr sz="2800" spc="430" dirty="0">
                <a:latin typeface="Times New Roman" panose="02020603050405020304"/>
                <a:cs typeface="Times New Roman" panose="02020603050405020304"/>
              </a:rPr>
              <a:t>  </a:t>
            </a:r>
            <a:r>
              <a:rPr sz="2800" dirty="0">
                <a:latin typeface="Times New Roman" panose="02020603050405020304"/>
                <a:cs typeface="Times New Roman" panose="02020603050405020304"/>
              </a:rPr>
              <a:t>learning</a:t>
            </a:r>
            <a:r>
              <a:rPr sz="2800" spc="434" dirty="0">
                <a:latin typeface="Times New Roman" panose="02020603050405020304"/>
                <a:cs typeface="Times New Roman" panose="02020603050405020304"/>
              </a:rPr>
              <a:t>  </a:t>
            </a:r>
            <a:r>
              <a:rPr sz="2800" dirty="0">
                <a:latin typeface="Times New Roman" panose="02020603050405020304"/>
                <a:cs typeface="Times New Roman" panose="02020603050405020304"/>
              </a:rPr>
              <a:t>techniques</a:t>
            </a:r>
            <a:r>
              <a:rPr sz="2800" spc="434"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430" dirty="0">
                <a:latin typeface="Times New Roman" panose="02020603050405020304"/>
                <a:cs typeface="Times New Roman" panose="02020603050405020304"/>
              </a:rPr>
              <a:t>  </a:t>
            </a:r>
            <a:r>
              <a:rPr sz="2800" dirty="0">
                <a:latin typeface="Times New Roman" panose="02020603050405020304"/>
                <a:cs typeface="Times New Roman" panose="02020603050405020304"/>
              </a:rPr>
              <a:t>support</a:t>
            </a:r>
            <a:r>
              <a:rPr sz="2800" spc="42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proactive</a:t>
            </a:r>
            <a:r>
              <a:rPr sz="2800" spc="44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crime prevention.</a:t>
            </a:r>
            <a:endParaRPr sz="2800">
              <a:latin typeface="Times New Roman" panose="02020603050405020304"/>
              <a:cs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2976498" y="252196"/>
            <a:ext cx="6876033" cy="62045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4203572" y="225678"/>
            <a:ext cx="4256405" cy="566420"/>
          </a:xfrm>
          <a:prstGeom prst="rect">
            <a:avLst/>
          </a:prstGeom>
        </p:spPr>
        <p:txBody>
          <a:bodyPr vert="horz" wrap="square" lIns="0" tIns="12700" rIns="0" bIns="0" rtlCol="0">
            <a:spAutoFit/>
          </a:bodyPr>
          <a:lstStyle/>
          <a:p>
            <a:pPr marL="12700">
              <a:lnSpc>
                <a:spcPct val="100000"/>
              </a:lnSpc>
              <a:spcBef>
                <a:spcPts val="100"/>
              </a:spcBef>
            </a:pPr>
            <a:r>
              <a:rPr sz="3600" dirty="0">
                <a:latin typeface="Times New Roman" panose="02020603050405020304" charset="0"/>
                <a:cs typeface="Times New Roman" panose="02020603050405020304" charset="0"/>
              </a:rPr>
              <a:t>EXISTING</a:t>
            </a:r>
            <a:r>
              <a:rPr sz="3600" spc="-25" dirty="0">
                <a:latin typeface="Times New Roman" panose="02020603050405020304" charset="0"/>
                <a:cs typeface="Times New Roman" panose="02020603050405020304" charset="0"/>
              </a:rPr>
              <a:t> </a:t>
            </a:r>
            <a:r>
              <a:rPr sz="3600" spc="-10" dirty="0">
                <a:latin typeface="Times New Roman" panose="02020603050405020304" charset="0"/>
                <a:cs typeface="Times New Roman" panose="02020603050405020304" charset="0"/>
              </a:rPr>
              <a:t>SYSTEM</a:t>
            </a:r>
            <a:endParaRPr sz="3600">
              <a:latin typeface="Times New Roman" panose="02020603050405020304" charset="0"/>
              <a:cs typeface="Times New Roman" panose="02020603050405020304" charset="0"/>
            </a:endParaRPr>
          </a:p>
        </p:txBody>
      </p:sp>
      <p:sp>
        <p:nvSpPr>
          <p:cNvPr id="8" name="object 8"/>
          <p:cNvSpPr txBox="1"/>
          <p:nvPr/>
        </p:nvSpPr>
        <p:spPr>
          <a:xfrm>
            <a:off x="1637157" y="1115681"/>
            <a:ext cx="10001885" cy="5189855"/>
          </a:xfrm>
          <a:prstGeom prst="rect">
            <a:avLst/>
          </a:prstGeom>
        </p:spPr>
        <p:txBody>
          <a:bodyPr vert="horz" wrap="square" lIns="0" tIns="12065" rIns="0" bIns="0" rtlCol="0">
            <a:spAutoFit/>
          </a:bodyPr>
          <a:lstStyle/>
          <a:p>
            <a:pPr marL="12700" marR="5080" indent="3016250" algn="just">
              <a:lnSpc>
                <a:spcPct val="110000"/>
              </a:lnSpc>
              <a:spcBef>
                <a:spcPts val="95"/>
              </a:spcBef>
            </a:pPr>
            <a:r>
              <a:rPr sz="2800" dirty="0">
                <a:latin typeface="Times New Roman" panose="02020603050405020304"/>
                <a:cs typeface="Times New Roman" panose="02020603050405020304"/>
              </a:rPr>
              <a:t>The</a:t>
            </a:r>
            <a:r>
              <a:rPr sz="2800" spc="125" dirty="0">
                <a:latin typeface="Times New Roman" panose="02020603050405020304"/>
                <a:cs typeface="Times New Roman" panose="02020603050405020304"/>
              </a:rPr>
              <a:t> </a:t>
            </a:r>
            <a:r>
              <a:rPr sz="2800" dirty="0">
                <a:latin typeface="Times New Roman" panose="02020603050405020304"/>
                <a:cs typeface="Times New Roman" panose="02020603050405020304"/>
              </a:rPr>
              <a:t>existing</a:t>
            </a:r>
            <a:r>
              <a:rPr sz="2800" spc="140"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1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analysis</a:t>
            </a:r>
            <a:r>
              <a:rPr sz="2800" spc="125" dirty="0">
                <a:latin typeface="Times New Roman" panose="02020603050405020304"/>
                <a:cs typeface="Times New Roman" panose="02020603050405020304"/>
              </a:rPr>
              <a:t> </a:t>
            </a:r>
            <a:r>
              <a:rPr sz="2800" dirty="0">
                <a:latin typeface="Times New Roman" panose="02020603050405020304"/>
                <a:cs typeface="Times New Roman" panose="02020603050405020304"/>
              </a:rPr>
              <a:t>systems</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mainly</a:t>
            </a:r>
            <a:r>
              <a:rPr sz="2800" spc="140"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rely </a:t>
            </a:r>
            <a:r>
              <a:rPr sz="2800" dirty="0">
                <a:latin typeface="Times New Roman" panose="02020603050405020304"/>
                <a:cs typeface="Times New Roman" panose="02020603050405020304"/>
              </a:rPr>
              <a:t>on</a:t>
            </a:r>
            <a:r>
              <a:rPr sz="2800" spc="175" dirty="0">
                <a:latin typeface="Times New Roman" panose="02020603050405020304"/>
                <a:cs typeface="Times New Roman" panose="02020603050405020304"/>
              </a:rPr>
              <a:t>  </a:t>
            </a:r>
            <a:r>
              <a:rPr sz="2800" dirty="0">
                <a:latin typeface="Times New Roman" panose="02020603050405020304"/>
                <a:cs typeface="Times New Roman" panose="02020603050405020304"/>
              </a:rPr>
              <a:t>traditional</a:t>
            </a:r>
            <a:r>
              <a:rPr sz="2800" spc="170" dirty="0">
                <a:latin typeface="Times New Roman" panose="02020603050405020304"/>
                <a:cs typeface="Times New Roman" panose="02020603050405020304"/>
              </a:rPr>
              <a:t>  </a:t>
            </a:r>
            <a:r>
              <a:rPr sz="2800" dirty="0">
                <a:latin typeface="Times New Roman" panose="02020603050405020304"/>
                <a:cs typeface="Times New Roman" panose="02020603050405020304"/>
              </a:rPr>
              <a:t>statistical</a:t>
            </a:r>
            <a:r>
              <a:rPr sz="2800" spc="175" dirty="0">
                <a:latin typeface="Times New Roman" panose="02020603050405020304"/>
                <a:cs typeface="Times New Roman" panose="02020603050405020304"/>
              </a:rPr>
              <a:t>  </a:t>
            </a:r>
            <a:r>
              <a:rPr sz="2800" dirty="0">
                <a:latin typeface="Times New Roman" panose="02020603050405020304"/>
                <a:cs typeface="Times New Roman" panose="02020603050405020304"/>
              </a:rPr>
              <a:t>methods</a:t>
            </a:r>
            <a:r>
              <a:rPr sz="2800" spc="17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180" dirty="0">
                <a:latin typeface="Times New Roman" panose="02020603050405020304"/>
                <a:cs typeface="Times New Roman" panose="02020603050405020304"/>
              </a:rPr>
              <a:t>  </a:t>
            </a:r>
            <a:r>
              <a:rPr sz="2800" dirty="0">
                <a:latin typeface="Times New Roman" panose="02020603050405020304"/>
                <a:cs typeface="Times New Roman" panose="02020603050405020304"/>
              </a:rPr>
              <a:t>manual</a:t>
            </a:r>
            <a:r>
              <a:rPr sz="2800" spc="18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analysis</a:t>
            </a:r>
            <a:r>
              <a:rPr sz="2800" spc="180"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18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crime </a:t>
            </a:r>
            <a:r>
              <a:rPr sz="2800" dirty="0">
                <a:latin typeface="Times New Roman" panose="02020603050405020304"/>
                <a:cs typeface="Times New Roman" panose="02020603050405020304"/>
              </a:rPr>
              <a:t>records.</a:t>
            </a:r>
            <a:r>
              <a:rPr sz="2800" spc="125"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130" dirty="0">
                <a:latin typeface="Times New Roman" panose="02020603050405020304"/>
                <a:cs typeface="Times New Roman" panose="02020603050405020304"/>
              </a:rPr>
              <a:t>  </a:t>
            </a:r>
            <a:r>
              <a:rPr sz="2800" dirty="0">
                <a:latin typeface="Times New Roman" panose="02020603050405020304"/>
                <a:cs typeface="Times New Roman" panose="02020603050405020304"/>
              </a:rPr>
              <a:t>mining</a:t>
            </a:r>
            <a:r>
              <a:rPr sz="2800" spc="140" dirty="0">
                <a:latin typeface="Times New Roman" panose="02020603050405020304"/>
                <a:cs typeface="Times New Roman" panose="02020603050405020304"/>
              </a:rPr>
              <a:t>  </a:t>
            </a:r>
            <a:r>
              <a:rPr sz="2800" dirty="0">
                <a:latin typeface="Times New Roman" panose="02020603050405020304"/>
                <a:cs typeface="Times New Roman" panose="02020603050405020304"/>
              </a:rPr>
              <a:t>techniques</a:t>
            </a:r>
            <a:r>
              <a:rPr sz="2800" spc="130" dirty="0">
                <a:latin typeface="Times New Roman" panose="02020603050405020304"/>
                <a:cs typeface="Times New Roman" panose="02020603050405020304"/>
              </a:rPr>
              <a:t>  </a:t>
            </a:r>
            <a:r>
              <a:rPr sz="2800" dirty="0">
                <a:latin typeface="Times New Roman" panose="02020603050405020304"/>
                <a:cs typeface="Times New Roman" panose="02020603050405020304"/>
              </a:rPr>
              <a:t>such</a:t>
            </a:r>
            <a:r>
              <a:rPr sz="2800" spc="125" dirty="0">
                <a:latin typeface="Times New Roman" panose="02020603050405020304"/>
                <a:cs typeface="Times New Roman" panose="02020603050405020304"/>
              </a:rPr>
              <a:t>  </a:t>
            </a:r>
            <a:r>
              <a:rPr sz="2800" dirty="0">
                <a:latin typeface="Times New Roman" panose="02020603050405020304"/>
                <a:cs typeface="Times New Roman" panose="02020603050405020304"/>
              </a:rPr>
              <a:t>as</a:t>
            </a:r>
            <a:r>
              <a:rPr sz="2800" spc="135" dirty="0">
                <a:latin typeface="Times New Roman" panose="02020603050405020304"/>
                <a:cs typeface="Times New Roman" panose="02020603050405020304"/>
              </a:rPr>
              <a:t>  </a:t>
            </a:r>
            <a:r>
              <a:rPr sz="2800" dirty="0">
                <a:latin typeface="Times New Roman" panose="02020603050405020304"/>
                <a:cs typeface="Times New Roman" panose="02020603050405020304"/>
              </a:rPr>
              <a:t>clustering</a:t>
            </a:r>
            <a:r>
              <a:rPr sz="2800" spc="135" dirty="0">
                <a:latin typeface="Times New Roman" panose="02020603050405020304"/>
                <a:cs typeface="Times New Roman" panose="02020603050405020304"/>
              </a:rPr>
              <a:t>  </a:t>
            </a:r>
            <a:r>
              <a:rPr sz="2800" dirty="0">
                <a:latin typeface="Times New Roman" panose="02020603050405020304"/>
                <a:cs typeface="Times New Roman" panose="02020603050405020304"/>
              </a:rPr>
              <a:t>are</a:t>
            </a:r>
            <a:r>
              <a:rPr sz="2800" spc="125" dirty="0">
                <a:latin typeface="Times New Roman" panose="02020603050405020304"/>
                <a:cs typeface="Times New Roman" panose="02020603050405020304"/>
              </a:rPr>
              <a:t>  </a:t>
            </a:r>
            <a:r>
              <a:rPr sz="2800" dirty="0">
                <a:latin typeface="Times New Roman" panose="02020603050405020304"/>
                <a:cs typeface="Times New Roman" panose="02020603050405020304"/>
              </a:rPr>
              <a:t>used</a:t>
            </a:r>
            <a:r>
              <a:rPr sz="2800" spc="13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to </a:t>
            </a:r>
            <a:r>
              <a:rPr sz="2800" dirty="0">
                <a:latin typeface="Times New Roman" panose="02020603050405020304"/>
                <a:cs typeface="Times New Roman" panose="02020603050405020304"/>
              </a:rPr>
              <a:t>identify</a:t>
            </a:r>
            <a:r>
              <a:rPr sz="2800" spc="365"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345" dirty="0">
                <a:latin typeface="Times New Roman" panose="02020603050405020304"/>
                <a:cs typeface="Times New Roman" panose="02020603050405020304"/>
              </a:rPr>
              <a:t> </a:t>
            </a:r>
            <a:r>
              <a:rPr sz="2800" dirty="0">
                <a:latin typeface="Times New Roman" panose="02020603050405020304"/>
                <a:cs typeface="Times New Roman" panose="02020603050405020304"/>
              </a:rPr>
              <a:t>trends</a:t>
            </a:r>
            <a:r>
              <a:rPr sz="2800" spc="36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360" dirty="0">
                <a:latin typeface="Times New Roman" panose="02020603050405020304"/>
                <a:cs typeface="Times New Roman" panose="02020603050405020304"/>
              </a:rPr>
              <a:t> </a:t>
            </a:r>
            <a:r>
              <a:rPr sz="2800" dirty="0">
                <a:latin typeface="Times New Roman" panose="02020603050405020304"/>
                <a:cs typeface="Times New Roman" panose="02020603050405020304"/>
              </a:rPr>
              <a:t>hotspots</a:t>
            </a:r>
            <a:r>
              <a:rPr sz="2800" spc="360" dirty="0">
                <a:latin typeface="Times New Roman" panose="02020603050405020304"/>
                <a:cs typeface="Times New Roman" panose="02020603050405020304"/>
              </a:rPr>
              <a:t> </a:t>
            </a:r>
            <a:r>
              <a:rPr sz="2800" dirty="0">
                <a:latin typeface="Times New Roman" panose="02020603050405020304"/>
                <a:cs typeface="Times New Roman" panose="02020603050405020304"/>
              </a:rPr>
              <a:t>from</a:t>
            </a:r>
            <a:r>
              <a:rPr sz="2800" spc="345" dirty="0">
                <a:latin typeface="Times New Roman" panose="02020603050405020304"/>
                <a:cs typeface="Times New Roman" panose="02020603050405020304"/>
              </a:rPr>
              <a:t> </a:t>
            </a:r>
            <a:r>
              <a:rPr sz="2800" dirty="0">
                <a:latin typeface="Times New Roman" panose="02020603050405020304"/>
                <a:cs typeface="Times New Roman" panose="02020603050405020304"/>
              </a:rPr>
              <a:t>historical</a:t>
            </a:r>
            <a:r>
              <a:rPr sz="2800" spc="345"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345"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350"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Most </a:t>
            </a:r>
            <a:r>
              <a:rPr sz="2800" dirty="0">
                <a:latin typeface="Times New Roman" panose="02020603050405020304"/>
                <a:cs typeface="Times New Roman" panose="02020603050405020304"/>
              </a:rPr>
              <a:t>systems</a:t>
            </a:r>
            <a:r>
              <a:rPr sz="2800" spc="80" dirty="0">
                <a:latin typeface="Times New Roman" panose="02020603050405020304"/>
                <a:cs typeface="Times New Roman" panose="02020603050405020304"/>
              </a:rPr>
              <a:t> </a:t>
            </a:r>
            <a:r>
              <a:rPr sz="2800" dirty="0">
                <a:latin typeface="Times New Roman" panose="02020603050405020304"/>
                <a:cs typeface="Times New Roman" panose="02020603050405020304"/>
              </a:rPr>
              <a:t>focus</a:t>
            </a:r>
            <a:r>
              <a:rPr sz="2800" spc="80" dirty="0">
                <a:latin typeface="Times New Roman" panose="02020603050405020304"/>
                <a:cs typeface="Times New Roman" panose="02020603050405020304"/>
              </a:rPr>
              <a:t> </a:t>
            </a:r>
            <a:r>
              <a:rPr sz="2800" dirty="0">
                <a:latin typeface="Times New Roman" panose="02020603050405020304"/>
                <a:cs typeface="Times New Roman" panose="02020603050405020304"/>
              </a:rPr>
              <a:t>on</a:t>
            </a:r>
            <a:r>
              <a:rPr sz="2800" spc="8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post-</a:t>
            </a:r>
            <a:r>
              <a:rPr sz="2800" dirty="0">
                <a:latin typeface="Times New Roman" panose="02020603050405020304"/>
                <a:cs typeface="Times New Roman" panose="02020603050405020304"/>
              </a:rPr>
              <a:t>crime</a:t>
            </a:r>
            <a:r>
              <a:rPr sz="2800" spc="8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analysis</a:t>
            </a:r>
            <a:r>
              <a:rPr sz="2800" spc="80" dirty="0">
                <a:latin typeface="Times New Roman" panose="02020603050405020304"/>
                <a:cs typeface="Times New Roman" panose="02020603050405020304"/>
              </a:rPr>
              <a:t> </a:t>
            </a:r>
            <a:r>
              <a:rPr sz="2800" dirty="0">
                <a:latin typeface="Times New Roman" panose="02020603050405020304"/>
                <a:cs typeface="Times New Roman" panose="02020603050405020304"/>
              </a:rPr>
              <a:t>rather</a:t>
            </a:r>
            <a:r>
              <a:rPr sz="2800" spc="8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than</a:t>
            </a:r>
            <a:r>
              <a:rPr sz="2800" spc="8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real-</a:t>
            </a:r>
            <a:r>
              <a:rPr sz="2800" dirty="0">
                <a:latin typeface="Times New Roman" panose="02020603050405020304"/>
                <a:cs typeface="Times New Roman" panose="02020603050405020304"/>
              </a:rPr>
              <a:t>time</a:t>
            </a:r>
            <a:r>
              <a:rPr sz="2800" spc="6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prediction.</a:t>
            </a:r>
            <a:endParaRPr sz="2800">
              <a:latin typeface="Times New Roman" panose="02020603050405020304"/>
              <a:cs typeface="Times New Roman" panose="02020603050405020304"/>
            </a:endParaRPr>
          </a:p>
          <a:p>
            <a:pPr>
              <a:lnSpc>
                <a:spcPct val="100000"/>
              </a:lnSpc>
              <a:spcBef>
                <a:spcPts val="480"/>
              </a:spcBef>
            </a:pPr>
            <a:endParaRPr sz="2800">
              <a:latin typeface="Times New Roman" panose="02020603050405020304"/>
              <a:cs typeface="Times New Roman" panose="02020603050405020304"/>
            </a:endParaRPr>
          </a:p>
          <a:p>
            <a:pPr marL="12700" marR="5715" indent="2749550" algn="just">
              <a:lnSpc>
                <a:spcPct val="110000"/>
              </a:lnSpc>
            </a:pPr>
            <a:r>
              <a:rPr sz="2800" dirty="0">
                <a:latin typeface="Times New Roman" panose="02020603050405020304"/>
                <a:cs typeface="Times New Roman" panose="02020603050405020304"/>
              </a:rPr>
              <a:t>The</a:t>
            </a:r>
            <a:r>
              <a:rPr sz="2800" spc="38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process</a:t>
            </a:r>
            <a:r>
              <a:rPr sz="2800" spc="385"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39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time-</a:t>
            </a:r>
            <a:r>
              <a:rPr sz="2800" dirty="0">
                <a:latin typeface="Times New Roman" panose="02020603050405020304"/>
                <a:cs typeface="Times New Roman" panose="02020603050405020304"/>
              </a:rPr>
              <a:t>consuming</a:t>
            </a:r>
            <a:r>
              <a:rPr sz="2800" spc="39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39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requires </a:t>
            </a:r>
            <a:r>
              <a:rPr sz="2800" dirty="0">
                <a:latin typeface="Times New Roman" panose="02020603050405020304"/>
                <a:cs typeface="Times New Roman" panose="02020603050405020304"/>
              </a:rPr>
              <a:t>human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intervention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for</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interpretation.</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Existing</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systems</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also</a:t>
            </a:r>
            <a:r>
              <a:rPr sz="2800" spc="55"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lack </a:t>
            </a:r>
            <a:r>
              <a:rPr sz="2800" dirty="0">
                <a:latin typeface="Times New Roman" panose="02020603050405020304"/>
                <a:cs typeface="Times New Roman" panose="02020603050405020304"/>
              </a:rPr>
              <a:t>accuracy</a:t>
            </a:r>
            <a:r>
              <a:rPr sz="2800" spc="520" dirty="0">
                <a:latin typeface="Times New Roman" panose="02020603050405020304"/>
                <a:cs typeface="Times New Roman" panose="02020603050405020304"/>
              </a:rPr>
              <a:t> </a:t>
            </a:r>
            <a:r>
              <a:rPr sz="2800" dirty="0">
                <a:latin typeface="Times New Roman" panose="02020603050405020304"/>
                <a:cs typeface="Times New Roman" panose="02020603050405020304"/>
              </a:rPr>
              <a:t>due</a:t>
            </a:r>
            <a:r>
              <a:rPr sz="2800" spc="509"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520" dirty="0">
                <a:latin typeface="Times New Roman" panose="02020603050405020304"/>
                <a:cs typeface="Times New Roman" panose="02020603050405020304"/>
              </a:rPr>
              <a:t> </a:t>
            </a:r>
            <a:r>
              <a:rPr sz="2800" dirty="0">
                <a:latin typeface="Times New Roman" panose="02020603050405020304"/>
                <a:cs typeface="Times New Roman" panose="02020603050405020304"/>
              </a:rPr>
              <a:t>limited</a:t>
            </a:r>
            <a:r>
              <a:rPr sz="2800" spc="525" dirty="0">
                <a:latin typeface="Times New Roman" panose="02020603050405020304"/>
                <a:cs typeface="Times New Roman" panose="02020603050405020304"/>
              </a:rPr>
              <a:t> </a:t>
            </a:r>
            <a:r>
              <a:rPr sz="2800" dirty="0">
                <a:latin typeface="Times New Roman" panose="02020603050405020304"/>
                <a:cs typeface="Times New Roman" panose="02020603050405020304"/>
              </a:rPr>
              <a:t>feature</a:t>
            </a:r>
            <a:r>
              <a:rPr sz="2800" spc="515" dirty="0">
                <a:latin typeface="Times New Roman" panose="02020603050405020304"/>
                <a:cs typeface="Times New Roman" panose="02020603050405020304"/>
              </a:rPr>
              <a:t> </a:t>
            </a:r>
            <a:r>
              <a:rPr sz="2800" dirty="0">
                <a:latin typeface="Times New Roman" panose="02020603050405020304"/>
                <a:cs typeface="Times New Roman" panose="02020603050405020304"/>
              </a:rPr>
              <a:t>selection</a:t>
            </a:r>
            <a:r>
              <a:rPr sz="2800" spc="50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505" dirty="0">
                <a:latin typeface="Times New Roman" panose="02020603050405020304"/>
                <a:cs typeface="Times New Roman" panose="02020603050405020304"/>
              </a:rPr>
              <a:t> </a:t>
            </a:r>
            <a:r>
              <a:rPr sz="2800" dirty="0">
                <a:latin typeface="Times New Roman" panose="02020603050405020304"/>
                <a:cs typeface="Times New Roman" panose="02020603050405020304"/>
              </a:rPr>
              <a:t>outdated</a:t>
            </a:r>
            <a:r>
              <a:rPr sz="2800" spc="52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tools.</a:t>
            </a:r>
            <a:r>
              <a:rPr sz="2800" spc="5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As</a:t>
            </a:r>
            <a:r>
              <a:rPr sz="2800" spc="530" dirty="0">
                <a:latin typeface="Times New Roman" panose="02020603050405020304"/>
                <a:cs typeface="Times New Roman" panose="02020603050405020304"/>
              </a:rPr>
              <a:t> </a:t>
            </a:r>
            <a:r>
              <a:rPr sz="2800" spc="-50" dirty="0">
                <a:latin typeface="Times New Roman" panose="02020603050405020304"/>
                <a:cs typeface="Times New Roman" panose="02020603050405020304"/>
              </a:rPr>
              <a:t>a </a:t>
            </a:r>
            <a:r>
              <a:rPr sz="2800" dirty="0">
                <a:latin typeface="Times New Roman" panose="02020603050405020304"/>
                <a:cs typeface="Times New Roman" panose="02020603050405020304"/>
              </a:rPr>
              <a:t>result,</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timely</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prediction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preventive</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action</a:t>
            </a:r>
            <a:r>
              <a:rPr sz="2800" spc="60" dirty="0">
                <a:latin typeface="Times New Roman" panose="02020603050405020304"/>
                <a:cs typeface="Times New Roman" panose="02020603050405020304"/>
              </a:rPr>
              <a:t> </a:t>
            </a:r>
            <a:r>
              <a:rPr sz="2800" dirty="0">
                <a:latin typeface="Times New Roman" panose="02020603050405020304"/>
                <a:cs typeface="Times New Roman" panose="02020603050405020304"/>
              </a:rPr>
              <a:t>become</a:t>
            </a:r>
            <a:r>
              <a:rPr sz="2800" spc="5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difficult </a:t>
            </a:r>
            <a:r>
              <a:rPr sz="2800" dirty="0">
                <a:latin typeface="Times New Roman" panose="02020603050405020304"/>
                <a:cs typeface="Times New Roman" panose="02020603050405020304"/>
              </a:rPr>
              <a:t>for</a:t>
            </a:r>
            <a:r>
              <a:rPr sz="2800" spc="-50" dirty="0">
                <a:latin typeface="Times New Roman" panose="02020603050405020304"/>
                <a:cs typeface="Times New Roman" panose="02020603050405020304"/>
              </a:rPr>
              <a:t> </a:t>
            </a:r>
            <a:r>
              <a:rPr sz="2800" dirty="0">
                <a:latin typeface="Times New Roman" panose="02020603050405020304"/>
                <a:cs typeface="Times New Roman" panose="02020603050405020304"/>
              </a:rPr>
              <a:t>law</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enforcement</a:t>
            </a:r>
            <a:r>
              <a:rPr sz="2800" spc="-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agencies.</a:t>
            </a:r>
            <a:endParaRPr sz="2800">
              <a:latin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3711321" y="516763"/>
            <a:ext cx="4585970" cy="690245"/>
          </a:xfrm>
          <a:prstGeom prst="rect">
            <a:avLst/>
          </a:prstGeom>
        </p:spPr>
        <p:txBody>
          <a:bodyPr vert="horz" wrap="square" lIns="0" tIns="13335" rIns="0" bIns="0" rtlCol="0">
            <a:spAutoFit/>
          </a:bodyPr>
          <a:lstStyle/>
          <a:p>
            <a:pPr marL="12700">
              <a:lnSpc>
                <a:spcPct val="100000"/>
              </a:lnSpc>
              <a:spcBef>
                <a:spcPts val="105"/>
              </a:spcBef>
            </a:pPr>
            <a:r>
              <a:rPr spc="-200" dirty="0">
                <a:latin typeface="Times New Roman" panose="02020603050405020304" charset="0"/>
                <a:cs typeface="Times New Roman" panose="02020603050405020304" charset="0"/>
              </a:rPr>
              <a:t>DISADVANTAGES</a:t>
            </a:r>
            <a:endParaRPr spc="-200" dirty="0">
              <a:latin typeface="Times New Roman" panose="02020603050405020304" charset="0"/>
              <a:cs typeface="Times New Roman" panose="02020603050405020304" charset="0"/>
            </a:endParaRPr>
          </a:p>
        </p:txBody>
      </p:sp>
      <p:sp>
        <p:nvSpPr>
          <p:cNvPr id="8" name="object 8"/>
          <p:cNvSpPr txBox="1"/>
          <p:nvPr/>
        </p:nvSpPr>
        <p:spPr>
          <a:xfrm>
            <a:off x="1031875" y="1758315"/>
            <a:ext cx="10643235" cy="3992245"/>
          </a:xfrm>
          <a:prstGeom prst="rect">
            <a:avLst/>
          </a:prstGeom>
        </p:spPr>
        <p:txBody>
          <a:bodyPr vert="horz" wrap="square" lIns="0" tIns="10160" rIns="0" bIns="0" rtlCol="0">
            <a:noAutofit/>
          </a:bodyPr>
          <a:lstStyle/>
          <a:p>
            <a:pPr marL="12700" marR="5080" indent="-4445">
              <a:lnSpc>
                <a:spcPct val="100000"/>
              </a:lnSpc>
              <a:spcBef>
                <a:spcPts val="80"/>
              </a:spcBef>
              <a:buSzPct val="96000"/>
              <a:buFont typeface="Wingdings" panose="05000000000000000000"/>
              <a:buChar char=""/>
              <a:tabLst>
                <a:tab pos="294005" algn="l"/>
                <a:tab pos="1897380" algn="l"/>
                <a:tab pos="2391410" algn="l"/>
                <a:tab pos="3477895" algn="l"/>
                <a:tab pos="5458460" algn="l"/>
                <a:tab pos="6268720" algn="l"/>
                <a:tab pos="7058025" algn="l"/>
                <a:tab pos="7570470" algn="l"/>
                <a:tab pos="8183245" algn="l"/>
                <a:tab pos="9389110" algn="l"/>
              </a:tabLst>
            </a:pPr>
            <a:r>
              <a:rPr sz="2800" spc="-1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Increase</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in</a:t>
            </a:r>
            <a:r>
              <a:rPr sz="2800" dirty="0">
                <a:latin typeface="Times New Roman" panose="02020603050405020304" charset="0"/>
                <a:cs typeface="Times New Roman" panose="02020603050405020304" charset="0"/>
              </a:rPr>
              <a:t>	</a:t>
            </a:r>
            <a:r>
              <a:rPr sz="2800" spc="-20" dirty="0">
                <a:latin typeface="Times New Roman" panose="02020603050405020304" charset="0"/>
                <a:cs typeface="Times New Roman" panose="02020603050405020304" charset="0"/>
              </a:rPr>
              <a:t>crime</a:t>
            </a:r>
            <a:r>
              <a:rPr sz="280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information</a:t>
            </a:r>
            <a:r>
              <a:rPr sz="2800" dirty="0">
                <a:latin typeface="Times New Roman" panose="02020603050405020304" charset="0"/>
                <a:cs typeface="Times New Roman" panose="02020603050405020304" charset="0"/>
              </a:rPr>
              <a:t>	</a:t>
            </a:r>
            <a:r>
              <a:rPr sz="2800" spc="-20" dirty="0">
                <a:latin typeface="Times New Roman" panose="02020603050405020304" charset="0"/>
                <a:cs typeface="Times New Roman" panose="02020603050405020304" charset="0"/>
              </a:rPr>
              <a:t>that</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has</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to</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be</a:t>
            </a:r>
            <a:r>
              <a:rPr sz="280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stored</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and </a:t>
            </a:r>
            <a:r>
              <a:rPr sz="2800" spc="-10" dirty="0">
                <a:latin typeface="Times New Roman" panose="02020603050405020304" charset="0"/>
                <a:cs typeface="Times New Roman" panose="02020603050405020304" charset="0"/>
              </a:rPr>
              <a:t>analyzed.</a:t>
            </a:r>
            <a:endParaRPr sz="2800">
              <a:latin typeface="Times New Roman" panose="02020603050405020304" charset="0"/>
              <a:cs typeface="Times New Roman" panose="02020603050405020304" charset="0"/>
            </a:endParaRPr>
          </a:p>
          <a:p>
            <a:pPr marL="12700" marR="5080" indent="-4445">
              <a:lnSpc>
                <a:spcPct val="100000"/>
              </a:lnSpc>
              <a:buSzPct val="96000"/>
              <a:buFont typeface="Wingdings" panose="05000000000000000000"/>
              <a:buChar char=""/>
              <a:tabLst>
                <a:tab pos="294005" algn="l"/>
                <a:tab pos="1831975" algn="l"/>
                <a:tab pos="2342515" algn="l"/>
                <a:tab pos="3248025" algn="l"/>
                <a:tab pos="3719195" algn="l"/>
                <a:tab pos="5033010" algn="l"/>
                <a:tab pos="6076950" algn="l"/>
                <a:tab pos="6983730" algn="l"/>
                <a:tab pos="7453630" algn="l"/>
                <a:tab pos="9389110" algn="l"/>
              </a:tabLst>
            </a:pPr>
            <a:r>
              <a:rPr sz="2800" spc="-10" dirty="0">
                <a:latin typeface="Times New Roman" panose="02020603050405020304" charset="0"/>
                <a:cs typeface="Times New Roman" panose="02020603050405020304" charset="0"/>
              </a:rPr>
              <a:t>	Analysis</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of</a:t>
            </a:r>
            <a:r>
              <a:rPr sz="2800" dirty="0">
                <a:latin typeface="Times New Roman" panose="02020603050405020304" charset="0"/>
                <a:cs typeface="Times New Roman" panose="02020603050405020304" charset="0"/>
              </a:rPr>
              <a:t>	</a:t>
            </a:r>
            <a:r>
              <a:rPr sz="2800" spc="-20" dirty="0">
                <a:latin typeface="Times New Roman" panose="02020603050405020304" charset="0"/>
                <a:cs typeface="Times New Roman" panose="02020603050405020304" charset="0"/>
              </a:rPr>
              <a:t>data</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is</a:t>
            </a:r>
            <a:r>
              <a:rPr sz="280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difficult</a:t>
            </a:r>
            <a:r>
              <a:rPr sz="280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since</a:t>
            </a:r>
            <a:r>
              <a:rPr sz="2800" dirty="0">
                <a:latin typeface="Times New Roman" panose="02020603050405020304" charset="0"/>
                <a:cs typeface="Times New Roman" panose="02020603050405020304" charset="0"/>
              </a:rPr>
              <a:t>	</a:t>
            </a:r>
            <a:r>
              <a:rPr sz="2800" spc="-20" dirty="0">
                <a:latin typeface="Times New Roman" panose="02020603050405020304" charset="0"/>
                <a:cs typeface="Times New Roman" panose="02020603050405020304" charset="0"/>
              </a:rPr>
              <a:t>data</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is</a:t>
            </a:r>
            <a:r>
              <a:rPr sz="280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incomplete</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and </a:t>
            </a:r>
            <a:r>
              <a:rPr sz="2800" spc="-10" dirty="0">
                <a:latin typeface="Times New Roman" panose="02020603050405020304" charset="0"/>
                <a:cs typeface="Times New Roman" panose="02020603050405020304" charset="0"/>
              </a:rPr>
              <a:t>inconsistent.</a:t>
            </a:r>
            <a:endParaRPr sz="2800">
              <a:latin typeface="Times New Roman" panose="02020603050405020304" charset="0"/>
              <a:cs typeface="Times New Roman" panose="02020603050405020304" charset="0"/>
            </a:endParaRPr>
          </a:p>
          <a:p>
            <a:pPr marL="294005" indent="-285750">
              <a:lnSpc>
                <a:spcPct val="100000"/>
              </a:lnSpc>
              <a:buSzPct val="96000"/>
              <a:buFont typeface="Wingdings" panose="05000000000000000000"/>
              <a:buChar char=""/>
              <a:tabLst>
                <a:tab pos="294005" algn="l"/>
              </a:tabLst>
            </a:pPr>
            <a:r>
              <a:rPr sz="2800" dirty="0">
                <a:latin typeface="Times New Roman" panose="02020603050405020304" charset="0"/>
                <a:cs typeface="Times New Roman" panose="02020603050405020304" charset="0"/>
              </a:rPr>
              <a:t>Public</a:t>
            </a:r>
            <a:r>
              <a:rPr sz="2800" spc="-16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Trust</a:t>
            </a:r>
            <a:r>
              <a:rPr sz="2800" spc="-13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Issues</a:t>
            </a:r>
            <a:endParaRPr sz="2800">
              <a:latin typeface="Times New Roman" panose="02020603050405020304" charset="0"/>
              <a:cs typeface="Times New Roman" panose="02020603050405020304" charset="0"/>
            </a:endParaRPr>
          </a:p>
        </p:txBody>
      </p:sp>
      <p:sp>
        <p:nvSpPr>
          <p:cNvPr id="9" name="object 9"/>
          <p:cNvSpPr txBox="1"/>
          <p:nvPr/>
        </p:nvSpPr>
        <p:spPr>
          <a:xfrm>
            <a:off x="6248272" y="4038726"/>
            <a:ext cx="4869180" cy="442595"/>
          </a:xfrm>
          <a:prstGeom prst="rect">
            <a:avLst/>
          </a:prstGeom>
        </p:spPr>
        <p:txBody>
          <a:bodyPr vert="horz" wrap="square" lIns="0" tIns="12065" rIns="0" bIns="0" rtlCol="0">
            <a:spAutoFit/>
          </a:bodyPr>
          <a:lstStyle/>
          <a:p>
            <a:pPr marL="12700">
              <a:lnSpc>
                <a:spcPct val="100000"/>
              </a:lnSpc>
              <a:spcBef>
                <a:spcPts val="95"/>
              </a:spcBef>
              <a:tabLst>
                <a:tab pos="981710" algn="l"/>
                <a:tab pos="2444750" algn="l"/>
                <a:tab pos="3430270" algn="l"/>
                <a:tab pos="4202430" algn="l"/>
              </a:tabLst>
            </a:pPr>
            <a:r>
              <a:rPr sz="2800" spc="-20" dirty="0">
                <a:latin typeface="Times New Roman" panose="02020603050405020304" charset="0"/>
                <a:cs typeface="Times New Roman" panose="02020603050405020304" charset="0"/>
              </a:rPr>
              <a:t>data</a:t>
            </a:r>
            <a:r>
              <a:rPr sz="280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records</a:t>
            </a:r>
            <a:r>
              <a:rPr sz="2800" dirty="0">
                <a:latin typeface="Times New Roman" panose="02020603050405020304" charset="0"/>
                <a:cs typeface="Times New Roman" panose="02020603050405020304" charset="0"/>
              </a:rPr>
              <a:t>	</a:t>
            </a:r>
            <a:r>
              <a:rPr sz="2800" spc="-20" dirty="0">
                <a:latin typeface="Times New Roman" panose="02020603050405020304" charset="0"/>
                <a:cs typeface="Times New Roman" panose="02020603050405020304" charset="0"/>
              </a:rPr>
              <a:t>from</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the</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Law</a:t>
            </a:r>
            <a:endParaRPr sz="2800">
              <a:latin typeface="Times New Roman" panose="02020603050405020304" charset="0"/>
              <a:cs typeface="Times New Roman" panose="02020603050405020304" charset="0"/>
            </a:endParaRPr>
          </a:p>
        </p:txBody>
      </p:sp>
      <p:sp>
        <p:nvSpPr>
          <p:cNvPr id="10" name="object 10"/>
          <p:cNvSpPr txBox="1"/>
          <p:nvPr/>
        </p:nvSpPr>
        <p:spPr>
          <a:xfrm>
            <a:off x="1106805" y="4038600"/>
            <a:ext cx="5450840" cy="1735455"/>
          </a:xfrm>
          <a:prstGeom prst="rect">
            <a:avLst/>
          </a:prstGeom>
        </p:spPr>
        <p:txBody>
          <a:bodyPr vert="horz" wrap="square" lIns="0" tIns="12065" rIns="0" bIns="0" rtlCol="0">
            <a:spAutoFit/>
          </a:bodyPr>
          <a:lstStyle/>
          <a:p>
            <a:pPr marL="12700" marR="12065" indent="-4445">
              <a:lnSpc>
                <a:spcPct val="100000"/>
              </a:lnSpc>
              <a:spcBef>
                <a:spcPts val="95"/>
              </a:spcBef>
              <a:buSzPct val="96000"/>
              <a:buFont typeface="Wingdings" panose="05000000000000000000"/>
              <a:buChar char=""/>
              <a:tabLst>
                <a:tab pos="294005" algn="l"/>
                <a:tab pos="2095500" algn="l"/>
                <a:tab pos="2649220" algn="l"/>
                <a:tab pos="3991610" algn="l"/>
              </a:tabLst>
            </a:pPr>
            <a:r>
              <a:rPr sz="2800" spc="-10" dirty="0">
                <a:latin typeface="Times New Roman" panose="02020603050405020304" charset="0"/>
                <a:cs typeface="Times New Roman" panose="02020603050405020304" charset="0"/>
              </a:rPr>
              <a:t>	Limitation</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in</a:t>
            </a:r>
            <a:r>
              <a:rPr sz="280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getting</a:t>
            </a:r>
            <a:r>
              <a:rPr sz="2800" dirty="0">
                <a:latin typeface="Times New Roman" panose="02020603050405020304" charset="0"/>
                <a:cs typeface="Times New Roman" panose="02020603050405020304" charset="0"/>
              </a:rPr>
              <a:t>	</a:t>
            </a:r>
            <a:r>
              <a:rPr sz="2800" spc="-20" dirty="0">
                <a:latin typeface="Times New Roman" panose="02020603050405020304" charset="0"/>
                <a:cs typeface="Times New Roman" panose="02020603050405020304" charset="0"/>
              </a:rPr>
              <a:t>crime </a:t>
            </a:r>
            <a:r>
              <a:rPr sz="2800" dirty="0">
                <a:latin typeface="Times New Roman" panose="02020603050405020304" charset="0"/>
                <a:cs typeface="Times New Roman" panose="02020603050405020304" charset="0"/>
              </a:rPr>
              <a:t>Enforcement</a:t>
            </a:r>
            <a:r>
              <a:rPr sz="2800" spc="-14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department</a:t>
            </a:r>
            <a:endParaRPr sz="2800">
              <a:latin typeface="Times New Roman" panose="02020603050405020304" charset="0"/>
              <a:cs typeface="Times New Roman" panose="02020603050405020304" charset="0"/>
            </a:endParaRPr>
          </a:p>
          <a:p>
            <a:pPr marL="294005" indent="-285750">
              <a:lnSpc>
                <a:spcPct val="100000"/>
              </a:lnSpc>
              <a:buSzPct val="96000"/>
              <a:buFont typeface="Wingdings" panose="05000000000000000000"/>
              <a:buChar char=""/>
              <a:tabLst>
                <a:tab pos="294005" algn="l"/>
              </a:tabLst>
            </a:pPr>
            <a:r>
              <a:rPr sz="2800" dirty="0">
                <a:latin typeface="Times New Roman" panose="02020603050405020304" charset="0"/>
                <a:cs typeface="Times New Roman" panose="02020603050405020304" charset="0"/>
              </a:rPr>
              <a:t>Dependence</a:t>
            </a:r>
            <a:r>
              <a:rPr sz="2800" spc="-6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on</a:t>
            </a:r>
            <a:r>
              <a:rPr sz="2800" spc="-9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Data</a:t>
            </a:r>
            <a:r>
              <a:rPr sz="2800" spc="-9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Quality</a:t>
            </a:r>
            <a:endParaRPr sz="2800">
              <a:latin typeface="Times New Roman" panose="02020603050405020304" charset="0"/>
              <a:cs typeface="Times New Roman" panose="02020603050405020304" charset="0"/>
            </a:endParaRPr>
          </a:p>
          <a:p>
            <a:pPr marL="294005" indent="-285750">
              <a:lnSpc>
                <a:spcPct val="100000"/>
              </a:lnSpc>
              <a:buSzPct val="96000"/>
              <a:buFont typeface="Wingdings" panose="05000000000000000000"/>
              <a:buChar char=""/>
              <a:tabLst>
                <a:tab pos="294005" algn="l"/>
              </a:tabLst>
            </a:pPr>
            <a:r>
              <a:rPr sz="2800" dirty="0">
                <a:latin typeface="Times New Roman" panose="02020603050405020304" charset="0"/>
                <a:cs typeface="Times New Roman" panose="02020603050405020304" charset="0"/>
              </a:rPr>
              <a:t>High</a:t>
            </a:r>
            <a:r>
              <a:rPr sz="2800" spc="-12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Implementation</a:t>
            </a:r>
            <a:r>
              <a:rPr sz="2800" spc="-105" dirty="0">
                <a:latin typeface="Times New Roman" panose="02020603050405020304" charset="0"/>
                <a:cs typeface="Times New Roman" panose="02020603050405020304" charset="0"/>
              </a:rPr>
              <a:t> </a:t>
            </a:r>
            <a:r>
              <a:rPr sz="2800" spc="-20" dirty="0">
                <a:latin typeface="Times New Roman" panose="02020603050405020304" charset="0"/>
                <a:cs typeface="Times New Roman" panose="02020603050405020304" charset="0"/>
              </a:rPr>
              <a:t>Cost</a:t>
            </a:r>
            <a:endParaRPr sz="28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70555" y="12700"/>
            <a:ext cx="6624320" cy="690245"/>
          </a:xfrm>
          <a:prstGeom prst="rect">
            <a:avLst/>
          </a:prstGeom>
        </p:spPr>
        <p:txBody>
          <a:bodyPr vert="horz" wrap="square" lIns="0" tIns="13335" rIns="0" bIns="0" rtlCol="0">
            <a:spAutoFit/>
          </a:bodyPr>
          <a:lstStyle/>
          <a:p>
            <a:pPr marL="12700">
              <a:lnSpc>
                <a:spcPct val="100000"/>
              </a:lnSpc>
              <a:spcBef>
                <a:spcPts val="105"/>
              </a:spcBef>
            </a:pPr>
            <a:r>
              <a:rPr dirty="0">
                <a:latin typeface="Times New Roman" panose="02020603050405020304" charset="0"/>
                <a:cs typeface="Times New Roman" panose="02020603050405020304" charset="0"/>
              </a:rPr>
              <a:t>PROPOSED</a:t>
            </a:r>
            <a:r>
              <a:rPr spc="-55" dirty="0">
                <a:latin typeface="Times New Roman" panose="02020603050405020304" charset="0"/>
                <a:cs typeface="Times New Roman" panose="02020603050405020304" charset="0"/>
              </a:rPr>
              <a:t> </a:t>
            </a:r>
            <a:r>
              <a:rPr spc="-10" dirty="0">
                <a:latin typeface="Times New Roman" panose="02020603050405020304" charset="0"/>
                <a:cs typeface="Times New Roman" panose="02020603050405020304" charset="0"/>
              </a:rPr>
              <a:t>SYSTEM</a:t>
            </a:r>
            <a:endParaRPr spc="-10" dirty="0">
              <a:latin typeface="Times New Roman" panose="02020603050405020304" charset="0"/>
              <a:cs typeface="Times New Roman" panose="02020603050405020304" charset="0"/>
            </a:endParaRPr>
          </a:p>
        </p:txBody>
      </p:sp>
      <p:sp>
        <p:nvSpPr>
          <p:cNvPr id="3" name="object 3"/>
          <p:cNvSpPr txBox="1"/>
          <p:nvPr/>
        </p:nvSpPr>
        <p:spPr>
          <a:xfrm>
            <a:off x="1336928" y="899922"/>
            <a:ext cx="10505440" cy="5201285"/>
          </a:xfrm>
          <a:prstGeom prst="rect">
            <a:avLst/>
          </a:prstGeom>
        </p:spPr>
        <p:txBody>
          <a:bodyPr vert="horz" wrap="square" lIns="0" tIns="12065" rIns="0" bIns="0" rtlCol="0">
            <a:spAutoFit/>
          </a:bodyPr>
          <a:lstStyle/>
          <a:p>
            <a:pPr marL="12700" marR="5080" indent="882015" algn="just">
              <a:lnSpc>
                <a:spcPct val="100000"/>
              </a:lnSpc>
              <a:spcBef>
                <a:spcPts val="95"/>
              </a:spcBef>
            </a:pPr>
            <a:r>
              <a:rPr sz="2800" dirty="0">
                <a:latin typeface="Times New Roman" panose="02020603050405020304"/>
                <a:cs typeface="Times New Roman" panose="02020603050405020304"/>
              </a:rPr>
              <a:t>The</a:t>
            </a:r>
            <a:r>
              <a:rPr sz="2800" spc="15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proposed</a:t>
            </a:r>
            <a:r>
              <a:rPr sz="2800" spc="150" dirty="0">
                <a:latin typeface="Times New Roman" panose="02020603050405020304"/>
                <a:cs typeface="Times New Roman" panose="02020603050405020304"/>
              </a:rPr>
              <a:t> </a:t>
            </a:r>
            <a:r>
              <a:rPr sz="2800" dirty="0">
                <a:latin typeface="Times New Roman" panose="02020603050405020304"/>
                <a:cs typeface="Times New Roman" panose="02020603050405020304"/>
              </a:rPr>
              <a:t>system</a:t>
            </a:r>
            <a:r>
              <a:rPr sz="2800" spc="130" dirty="0">
                <a:latin typeface="Times New Roman" panose="02020603050405020304"/>
                <a:cs typeface="Times New Roman" panose="02020603050405020304"/>
              </a:rPr>
              <a:t> </a:t>
            </a:r>
            <a:r>
              <a:rPr sz="2800" dirty="0">
                <a:latin typeface="Times New Roman" panose="02020603050405020304"/>
                <a:cs typeface="Times New Roman" panose="02020603050405020304"/>
              </a:rPr>
              <a:t>uses</a:t>
            </a:r>
            <a:r>
              <a:rPr sz="2800" spc="165" dirty="0">
                <a:latin typeface="Times New Roman" panose="02020603050405020304"/>
                <a:cs typeface="Times New Roman" panose="02020603050405020304"/>
              </a:rPr>
              <a:t> </a:t>
            </a:r>
            <a:r>
              <a:rPr sz="2800" dirty="0">
                <a:latin typeface="Times New Roman" panose="02020603050405020304"/>
                <a:cs typeface="Times New Roman" panose="02020603050405020304"/>
              </a:rPr>
              <a:t>machine</a:t>
            </a:r>
            <a:r>
              <a:rPr sz="2800" spc="145" dirty="0">
                <a:latin typeface="Times New Roman" panose="02020603050405020304"/>
                <a:cs typeface="Times New Roman" panose="02020603050405020304"/>
              </a:rPr>
              <a:t> </a:t>
            </a:r>
            <a:r>
              <a:rPr sz="2800" dirty="0">
                <a:latin typeface="Times New Roman" panose="02020603050405020304"/>
                <a:cs typeface="Times New Roman" panose="02020603050405020304"/>
              </a:rPr>
              <a:t>learning</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techniques</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15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analyze </a:t>
            </a:r>
            <a:r>
              <a:rPr sz="2800" dirty="0">
                <a:latin typeface="Times New Roman" panose="02020603050405020304"/>
                <a:cs typeface="Times New Roman" panose="02020603050405020304"/>
              </a:rPr>
              <a:t>and</a:t>
            </a:r>
            <a:r>
              <a:rPr sz="2800" spc="135"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predict</a:t>
            </a:r>
            <a:r>
              <a:rPr sz="2800" spc="135"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130" dirty="0">
                <a:latin typeface="Times New Roman" panose="02020603050405020304"/>
                <a:cs typeface="Times New Roman" panose="02020603050405020304"/>
              </a:rPr>
              <a:t> </a:t>
            </a:r>
            <a:r>
              <a:rPr sz="2800" dirty="0">
                <a:latin typeface="Times New Roman" panose="02020603050405020304"/>
                <a:cs typeface="Times New Roman" panose="02020603050405020304"/>
              </a:rPr>
              <a:t>patterns</a:t>
            </a:r>
            <a:r>
              <a:rPr sz="2800" spc="145" dirty="0">
                <a:latin typeface="Times New Roman" panose="02020603050405020304"/>
                <a:cs typeface="Times New Roman" panose="02020603050405020304"/>
              </a:rPr>
              <a:t> </a:t>
            </a:r>
            <a:r>
              <a:rPr sz="2800" dirty="0">
                <a:latin typeface="Times New Roman" panose="02020603050405020304"/>
                <a:cs typeface="Times New Roman" panose="02020603050405020304"/>
              </a:rPr>
              <a:t>efficiently.</a:t>
            </a:r>
            <a:r>
              <a:rPr sz="2800" spc="13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Real-</a:t>
            </a:r>
            <a:r>
              <a:rPr sz="2800" dirty="0">
                <a:latin typeface="Times New Roman" panose="02020603050405020304"/>
                <a:cs typeface="Times New Roman" panose="02020603050405020304"/>
              </a:rPr>
              <a:t>world</a:t>
            </a:r>
            <a:r>
              <a:rPr sz="2800" spc="145"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120" dirty="0">
                <a:latin typeface="Times New Roman" panose="02020603050405020304"/>
                <a:cs typeface="Times New Roman" panose="02020603050405020304"/>
              </a:rPr>
              <a:t> </a:t>
            </a:r>
            <a:r>
              <a:rPr sz="2800" dirty="0">
                <a:latin typeface="Times New Roman" panose="02020603050405020304"/>
                <a:cs typeface="Times New Roman" panose="02020603050405020304"/>
              </a:rPr>
              <a:t>data</a:t>
            </a:r>
            <a:r>
              <a:rPr sz="2800" spc="130"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1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collected </a:t>
            </a:r>
            <a:r>
              <a:rPr sz="2800" dirty="0">
                <a:latin typeface="Times New Roman" panose="02020603050405020304"/>
                <a:cs typeface="Times New Roman" panose="02020603050405020304"/>
              </a:rPr>
              <a:t>and</a:t>
            </a:r>
            <a:r>
              <a:rPr sz="2800" spc="17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preprocessed</a:t>
            </a:r>
            <a:r>
              <a:rPr sz="2800" spc="175"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170" dirty="0">
                <a:latin typeface="Times New Roman" panose="02020603050405020304"/>
                <a:cs typeface="Times New Roman" panose="02020603050405020304"/>
              </a:rPr>
              <a:t>  </a:t>
            </a:r>
            <a:r>
              <a:rPr sz="2800" dirty="0">
                <a:latin typeface="Times New Roman" panose="02020603050405020304"/>
                <a:cs typeface="Times New Roman" panose="02020603050405020304"/>
              </a:rPr>
              <a:t>remove</a:t>
            </a:r>
            <a:r>
              <a:rPr sz="2800" spc="170" dirty="0">
                <a:latin typeface="Times New Roman" panose="02020603050405020304"/>
                <a:cs typeface="Times New Roman" panose="02020603050405020304"/>
              </a:rPr>
              <a:t>  </a:t>
            </a:r>
            <a:r>
              <a:rPr sz="2800" dirty="0">
                <a:latin typeface="Times New Roman" panose="02020603050405020304"/>
                <a:cs typeface="Times New Roman" panose="02020603050405020304"/>
              </a:rPr>
              <a:t>inconsistencies</a:t>
            </a:r>
            <a:r>
              <a:rPr sz="2800" spc="17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170" dirty="0">
                <a:latin typeface="Times New Roman" panose="02020603050405020304"/>
                <a:cs typeface="Times New Roman" panose="02020603050405020304"/>
              </a:rPr>
              <a:t>  </a:t>
            </a:r>
            <a:r>
              <a:rPr sz="2800" dirty="0">
                <a:latin typeface="Times New Roman" panose="02020603050405020304"/>
                <a:cs typeface="Times New Roman" panose="02020603050405020304"/>
              </a:rPr>
              <a:t>improve</a:t>
            </a:r>
            <a:r>
              <a:rPr sz="2800" spc="17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accuracy. </a:t>
            </a:r>
            <a:r>
              <a:rPr sz="2800" dirty="0">
                <a:latin typeface="Times New Roman" panose="02020603050405020304"/>
                <a:cs typeface="Times New Roman" panose="02020603050405020304"/>
              </a:rPr>
              <a:t>Important</a:t>
            </a:r>
            <a:r>
              <a:rPr sz="2800" spc="45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features</a:t>
            </a:r>
            <a:r>
              <a:rPr sz="2800" b="1" spc="45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such</a:t>
            </a:r>
            <a:r>
              <a:rPr sz="2800" b="1" spc="44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as</a:t>
            </a:r>
            <a:r>
              <a:rPr sz="2800" b="1" spc="44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city,</a:t>
            </a:r>
            <a:r>
              <a:rPr sz="2800" b="1" spc="44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age,</a:t>
            </a:r>
            <a:r>
              <a:rPr sz="2800" b="1" spc="434"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gender,</a:t>
            </a:r>
            <a:r>
              <a:rPr sz="2800" b="1" spc="45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weapon</a:t>
            </a:r>
            <a:r>
              <a:rPr sz="2800" b="1" spc="45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used,</a:t>
            </a:r>
            <a:r>
              <a:rPr sz="2800" b="1" spc="44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and</a:t>
            </a:r>
            <a:r>
              <a:rPr sz="2800" b="1" spc="450" dirty="0">
                <a:latin typeface="Times New Roman" panose="02020603050405020304"/>
                <a:cs typeface="Times New Roman" panose="02020603050405020304"/>
              </a:rPr>
              <a:t> </a:t>
            </a:r>
            <a:r>
              <a:rPr sz="2800" b="1" spc="-10" dirty="0">
                <a:latin typeface="Times New Roman" panose="02020603050405020304"/>
                <a:cs typeface="Times New Roman" panose="02020603050405020304"/>
              </a:rPr>
              <a:t>police </a:t>
            </a:r>
            <a:r>
              <a:rPr sz="2800" b="1" dirty="0">
                <a:latin typeface="Times New Roman" panose="02020603050405020304"/>
                <a:cs typeface="Times New Roman" panose="02020603050405020304"/>
              </a:rPr>
              <a:t>deployment</a:t>
            </a:r>
            <a:r>
              <a:rPr sz="2800" b="1" spc="-2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are</a:t>
            </a:r>
            <a:r>
              <a:rPr sz="2800" b="0" spc="-1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selected</a:t>
            </a:r>
            <a:r>
              <a:rPr sz="2800" b="1" spc="-25" dirty="0">
                <a:latin typeface="Times New Roman" panose="02020603050405020304"/>
                <a:cs typeface="Times New Roman" panose="02020603050405020304"/>
              </a:rPr>
              <a:t> </a:t>
            </a:r>
            <a:r>
              <a:rPr sz="2800" b="1" spc="-50" dirty="0">
                <a:latin typeface="Times New Roman" panose="02020603050405020304"/>
                <a:cs typeface="Times New Roman" panose="02020603050405020304"/>
              </a:rPr>
              <a:t>.</a:t>
            </a:r>
            <a:endParaRPr sz="2800" b="1">
              <a:latin typeface="Times New Roman" panose="02020603050405020304"/>
              <a:cs typeface="Times New Roman" panose="02020603050405020304"/>
            </a:endParaRPr>
          </a:p>
          <a:p>
            <a:pPr>
              <a:lnSpc>
                <a:spcPct val="100000"/>
              </a:lnSpc>
              <a:spcBef>
                <a:spcPts val="145"/>
              </a:spcBef>
            </a:pPr>
            <a:endParaRPr sz="2800">
              <a:latin typeface="Times New Roman" panose="02020603050405020304"/>
              <a:cs typeface="Times New Roman" panose="02020603050405020304"/>
            </a:endParaRPr>
          </a:p>
          <a:p>
            <a:pPr marL="12700" marR="5715" indent="1064895" algn="just">
              <a:lnSpc>
                <a:spcPct val="100000"/>
              </a:lnSpc>
            </a:pPr>
            <a:r>
              <a:rPr sz="2800" dirty="0">
                <a:latin typeface="Times New Roman" panose="02020603050405020304"/>
                <a:cs typeface="Times New Roman" panose="02020603050405020304"/>
              </a:rPr>
              <a:t>Multiple</a:t>
            </a:r>
            <a:r>
              <a:rPr sz="2800" spc="400" dirty="0">
                <a:latin typeface="Times New Roman" panose="02020603050405020304"/>
                <a:cs typeface="Times New Roman" panose="02020603050405020304"/>
              </a:rPr>
              <a:t>  </a:t>
            </a:r>
            <a:r>
              <a:rPr sz="2800" dirty="0">
                <a:latin typeface="Times New Roman" panose="02020603050405020304"/>
                <a:cs typeface="Times New Roman" panose="02020603050405020304"/>
              </a:rPr>
              <a:t>classification</a:t>
            </a:r>
            <a:r>
              <a:rPr sz="2800" spc="395" dirty="0">
                <a:latin typeface="Times New Roman" panose="02020603050405020304"/>
                <a:cs typeface="Times New Roman" panose="02020603050405020304"/>
              </a:rPr>
              <a:t>  </a:t>
            </a:r>
            <a:r>
              <a:rPr sz="2800" dirty="0">
                <a:latin typeface="Times New Roman" panose="02020603050405020304"/>
                <a:cs typeface="Times New Roman" panose="02020603050405020304"/>
              </a:rPr>
              <a:t>algorithms</a:t>
            </a:r>
            <a:r>
              <a:rPr sz="2800" spc="405" dirty="0">
                <a:latin typeface="Times New Roman" panose="02020603050405020304"/>
                <a:cs typeface="Times New Roman" panose="02020603050405020304"/>
              </a:rPr>
              <a:t>  </a:t>
            </a:r>
            <a:r>
              <a:rPr sz="2800" dirty="0">
                <a:latin typeface="Times New Roman" panose="02020603050405020304"/>
                <a:cs typeface="Times New Roman" panose="02020603050405020304"/>
              </a:rPr>
              <a:t>like</a:t>
            </a:r>
            <a:r>
              <a:rPr sz="2800" spc="400" dirty="0">
                <a:latin typeface="Times New Roman" panose="02020603050405020304"/>
                <a:cs typeface="Times New Roman" panose="02020603050405020304"/>
              </a:rPr>
              <a:t> </a:t>
            </a:r>
            <a:r>
              <a:rPr sz="2800" b="1" spc="40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Logistic</a:t>
            </a:r>
            <a:r>
              <a:rPr sz="2800" b="1" spc="390" dirty="0">
                <a:latin typeface="Times New Roman" panose="02020603050405020304"/>
                <a:cs typeface="Times New Roman" panose="02020603050405020304"/>
              </a:rPr>
              <a:t>  </a:t>
            </a:r>
            <a:r>
              <a:rPr sz="2800" b="1" spc="-10" dirty="0">
                <a:latin typeface="Times New Roman" panose="02020603050405020304"/>
                <a:cs typeface="Times New Roman" panose="02020603050405020304"/>
              </a:rPr>
              <a:t>Regression, </a:t>
            </a:r>
            <a:r>
              <a:rPr sz="2800" b="1" dirty="0">
                <a:latin typeface="Times New Roman" panose="02020603050405020304"/>
                <a:cs typeface="Times New Roman" panose="02020603050405020304"/>
              </a:rPr>
              <a:t>Decision</a:t>
            </a:r>
            <a:r>
              <a:rPr sz="2800" b="1" spc="60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Tree,</a:t>
            </a:r>
            <a:r>
              <a:rPr sz="2800" b="1" spc="59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and</a:t>
            </a:r>
            <a:r>
              <a:rPr sz="2800" b="1" spc="595"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Random</a:t>
            </a:r>
            <a:r>
              <a:rPr sz="2800" b="1" spc="610" dirty="0">
                <a:latin typeface="Times New Roman" panose="02020603050405020304"/>
                <a:cs typeface="Times New Roman" panose="02020603050405020304"/>
              </a:rPr>
              <a:t> </a:t>
            </a:r>
            <a:r>
              <a:rPr sz="2800" b="1" dirty="0">
                <a:latin typeface="Times New Roman" panose="02020603050405020304"/>
                <a:cs typeface="Times New Roman" panose="02020603050405020304"/>
              </a:rPr>
              <a:t>Forest</a:t>
            </a:r>
            <a:r>
              <a:rPr sz="2800" b="1" spc="600" dirty="0">
                <a:latin typeface="Times New Roman" panose="02020603050405020304"/>
                <a:cs typeface="Times New Roman" panose="02020603050405020304"/>
              </a:rPr>
              <a:t> </a:t>
            </a:r>
            <a:r>
              <a:rPr sz="2800" dirty="0">
                <a:latin typeface="Times New Roman" panose="02020603050405020304"/>
                <a:cs typeface="Times New Roman" panose="02020603050405020304"/>
              </a:rPr>
              <a:t>are</a:t>
            </a:r>
            <a:r>
              <a:rPr sz="2800" spc="585" dirty="0">
                <a:latin typeface="Times New Roman" panose="02020603050405020304"/>
                <a:cs typeface="Times New Roman" panose="02020603050405020304"/>
              </a:rPr>
              <a:t> </a:t>
            </a:r>
            <a:r>
              <a:rPr sz="2800" dirty="0">
                <a:latin typeface="Times New Roman" panose="02020603050405020304"/>
                <a:cs typeface="Times New Roman" panose="02020603050405020304"/>
              </a:rPr>
              <a:t>evaluated</a:t>
            </a:r>
            <a:r>
              <a:rPr sz="2800" spc="585"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600" dirty="0">
                <a:latin typeface="Times New Roman" panose="02020603050405020304"/>
                <a:cs typeface="Times New Roman" panose="02020603050405020304"/>
              </a:rPr>
              <a:t> </a:t>
            </a:r>
            <a:r>
              <a:rPr sz="2800" dirty="0">
                <a:latin typeface="Times New Roman" panose="02020603050405020304"/>
                <a:cs typeface="Times New Roman" panose="02020603050405020304"/>
              </a:rPr>
              <a:t>choose</a:t>
            </a:r>
            <a:r>
              <a:rPr sz="2800" spc="58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59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best- </a:t>
            </a:r>
            <a:r>
              <a:rPr sz="2800" dirty="0">
                <a:latin typeface="Times New Roman" panose="02020603050405020304"/>
                <a:cs typeface="Times New Roman" panose="02020603050405020304"/>
              </a:rPr>
              <a:t>performing</a:t>
            </a:r>
            <a:r>
              <a:rPr sz="2800" spc="170" dirty="0">
                <a:latin typeface="Times New Roman" panose="02020603050405020304"/>
                <a:cs typeface="Times New Roman" panose="02020603050405020304"/>
              </a:rPr>
              <a:t>  </a:t>
            </a:r>
            <a:r>
              <a:rPr sz="2800" dirty="0">
                <a:latin typeface="Times New Roman" panose="02020603050405020304"/>
                <a:cs typeface="Times New Roman" panose="02020603050405020304"/>
              </a:rPr>
              <a:t>model.</a:t>
            </a:r>
            <a:r>
              <a:rPr sz="2800" spc="16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system</a:t>
            </a:r>
            <a:r>
              <a:rPr sz="2800" spc="16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provides</a:t>
            </a:r>
            <a:r>
              <a:rPr sz="2800" spc="170" dirty="0">
                <a:latin typeface="Times New Roman" panose="02020603050405020304"/>
                <a:cs typeface="Times New Roman" panose="02020603050405020304"/>
              </a:rPr>
              <a:t>  </a:t>
            </a:r>
            <a:r>
              <a:rPr sz="2800" dirty="0">
                <a:latin typeface="Times New Roman" panose="02020603050405020304"/>
                <a:cs typeface="Times New Roman" panose="02020603050405020304"/>
              </a:rPr>
              <a:t>accurate</a:t>
            </a:r>
            <a:r>
              <a:rPr sz="2800" spc="155"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16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predictions </a:t>
            </a:r>
            <a:r>
              <a:rPr sz="2800" dirty="0">
                <a:latin typeface="Times New Roman" panose="02020603050405020304"/>
                <a:cs typeface="Times New Roman" panose="02020603050405020304"/>
              </a:rPr>
              <a:t>through</a:t>
            </a:r>
            <a:r>
              <a:rPr sz="2800" spc="475"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455" dirty="0">
                <a:latin typeface="Times New Roman" panose="02020603050405020304"/>
                <a:cs typeface="Times New Roman" panose="02020603050405020304"/>
              </a:rPr>
              <a:t> </a:t>
            </a:r>
            <a:r>
              <a:rPr sz="2800" spc="-30" dirty="0">
                <a:latin typeface="Times New Roman" panose="02020603050405020304"/>
                <a:cs typeface="Times New Roman" panose="02020603050405020304"/>
              </a:rPr>
              <a:t>user-</a:t>
            </a:r>
            <a:r>
              <a:rPr sz="2800" dirty="0">
                <a:latin typeface="Times New Roman" panose="02020603050405020304"/>
                <a:cs typeface="Times New Roman" panose="02020603050405020304"/>
              </a:rPr>
              <a:t>friendly</a:t>
            </a:r>
            <a:r>
              <a:rPr sz="2800" spc="459" dirty="0">
                <a:latin typeface="Times New Roman" panose="02020603050405020304"/>
                <a:cs typeface="Times New Roman" panose="02020603050405020304"/>
              </a:rPr>
              <a:t> </a:t>
            </a:r>
            <a:r>
              <a:rPr sz="2800" dirty="0">
                <a:latin typeface="Times New Roman" panose="02020603050405020304"/>
                <a:cs typeface="Times New Roman" panose="02020603050405020304"/>
              </a:rPr>
              <a:t>web</a:t>
            </a:r>
            <a:r>
              <a:rPr sz="2800" spc="46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interface.</a:t>
            </a:r>
            <a:r>
              <a:rPr sz="2800" spc="465" dirty="0">
                <a:latin typeface="Times New Roman" panose="02020603050405020304"/>
                <a:cs typeface="Times New Roman" panose="02020603050405020304"/>
              </a:rPr>
              <a:t> </a:t>
            </a:r>
            <a:r>
              <a:rPr sz="2800" dirty="0">
                <a:latin typeface="Times New Roman" panose="02020603050405020304"/>
                <a:cs typeface="Times New Roman" panose="02020603050405020304"/>
              </a:rPr>
              <a:t>Visualizations</a:t>
            </a:r>
            <a:r>
              <a:rPr sz="2800" spc="475" dirty="0">
                <a:latin typeface="Times New Roman" panose="02020603050405020304"/>
                <a:cs typeface="Times New Roman" panose="02020603050405020304"/>
              </a:rPr>
              <a:t> </a:t>
            </a:r>
            <a:r>
              <a:rPr sz="2800" dirty="0">
                <a:latin typeface="Times New Roman" panose="02020603050405020304"/>
                <a:cs typeface="Times New Roman" panose="02020603050405020304"/>
              </a:rPr>
              <a:t>such</a:t>
            </a:r>
            <a:r>
              <a:rPr sz="2800" spc="455" dirty="0">
                <a:latin typeface="Times New Roman" panose="02020603050405020304"/>
                <a:cs typeface="Times New Roman" panose="02020603050405020304"/>
              </a:rPr>
              <a:t> </a:t>
            </a:r>
            <a:r>
              <a:rPr sz="2800" dirty="0">
                <a:latin typeface="Times New Roman" panose="02020603050405020304"/>
                <a:cs typeface="Times New Roman" panose="02020603050405020304"/>
              </a:rPr>
              <a:t>as</a:t>
            </a:r>
            <a:r>
              <a:rPr sz="2800" spc="47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accuracy </a:t>
            </a:r>
            <a:r>
              <a:rPr sz="2800" dirty="0">
                <a:latin typeface="Times New Roman" panose="02020603050405020304"/>
                <a:cs typeface="Times New Roman" panose="02020603050405020304"/>
              </a:rPr>
              <a:t>graphs</a:t>
            </a:r>
            <a:r>
              <a:rPr sz="2800" spc="409" dirty="0">
                <a:latin typeface="Times New Roman" panose="02020603050405020304"/>
                <a:cs typeface="Times New Roman" panose="02020603050405020304"/>
              </a:rPr>
              <a:t> </a:t>
            </a:r>
            <a:r>
              <a:rPr sz="2800" dirty="0">
                <a:latin typeface="Times New Roman" panose="02020603050405020304"/>
                <a:cs typeface="Times New Roman" panose="02020603050405020304"/>
              </a:rPr>
              <a:t>and</a:t>
            </a:r>
            <a:r>
              <a:rPr sz="2800" spc="400" dirty="0">
                <a:latin typeface="Times New Roman" panose="02020603050405020304"/>
                <a:cs typeface="Times New Roman" panose="02020603050405020304"/>
              </a:rPr>
              <a:t> </a:t>
            </a:r>
            <a:r>
              <a:rPr sz="2800" dirty="0">
                <a:latin typeface="Times New Roman" panose="02020603050405020304"/>
                <a:cs typeface="Times New Roman" panose="02020603050405020304"/>
              </a:rPr>
              <a:t>confusion</a:t>
            </a:r>
            <a:r>
              <a:rPr sz="2800" spc="405" dirty="0">
                <a:latin typeface="Times New Roman" panose="02020603050405020304"/>
                <a:cs typeface="Times New Roman" panose="02020603050405020304"/>
              </a:rPr>
              <a:t> </a:t>
            </a:r>
            <a:r>
              <a:rPr sz="2800" dirty="0">
                <a:latin typeface="Times New Roman" panose="02020603050405020304"/>
                <a:cs typeface="Times New Roman" panose="02020603050405020304"/>
              </a:rPr>
              <a:t>matrices</a:t>
            </a:r>
            <a:r>
              <a:rPr sz="2800" spc="409" dirty="0">
                <a:latin typeface="Times New Roman" panose="02020603050405020304"/>
                <a:cs typeface="Times New Roman" panose="02020603050405020304"/>
              </a:rPr>
              <a:t> </a:t>
            </a:r>
            <a:r>
              <a:rPr sz="2800" dirty="0">
                <a:latin typeface="Times New Roman" panose="02020603050405020304"/>
                <a:cs typeface="Times New Roman" panose="02020603050405020304"/>
              </a:rPr>
              <a:t>help</a:t>
            </a:r>
            <a:r>
              <a:rPr sz="2800" spc="405" dirty="0">
                <a:latin typeface="Times New Roman" panose="02020603050405020304"/>
                <a:cs typeface="Times New Roman" panose="02020603050405020304"/>
              </a:rPr>
              <a:t> </a:t>
            </a:r>
            <a:r>
              <a:rPr sz="2800" dirty="0">
                <a:latin typeface="Times New Roman" panose="02020603050405020304"/>
                <a:cs typeface="Times New Roman" panose="02020603050405020304"/>
              </a:rPr>
              <a:t>in</a:t>
            </a:r>
            <a:r>
              <a:rPr sz="2800" spc="400" dirty="0">
                <a:latin typeface="Times New Roman" panose="02020603050405020304"/>
                <a:cs typeface="Times New Roman" panose="02020603050405020304"/>
              </a:rPr>
              <a:t> </a:t>
            </a:r>
            <a:r>
              <a:rPr sz="2800" dirty="0">
                <a:latin typeface="Times New Roman" panose="02020603050405020304"/>
                <a:cs typeface="Times New Roman" panose="02020603050405020304"/>
              </a:rPr>
              <a:t>understanding</a:t>
            </a:r>
            <a:r>
              <a:rPr sz="2800" spc="409" dirty="0">
                <a:latin typeface="Times New Roman" panose="02020603050405020304"/>
                <a:cs typeface="Times New Roman" panose="02020603050405020304"/>
              </a:rPr>
              <a:t> </a:t>
            </a:r>
            <a:r>
              <a:rPr sz="2800" dirty="0">
                <a:latin typeface="Times New Roman" panose="02020603050405020304"/>
                <a:cs typeface="Times New Roman" panose="02020603050405020304"/>
              </a:rPr>
              <a:t>crime</a:t>
            </a:r>
            <a:r>
              <a:rPr sz="2800" spc="390" dirty="0">
                <a:latin typeface="Times New Roman" panose="02020603050405020304"/>
                <a:cs typeface="Times New Roman" panose="02020603050405020304"/>
              </a:rPr>
              <a:t> </a:t>
            </a:r>
            <a:r>
              <a:rPr sz="2800" dirty="0">
                <a:latin typeface="Times New Roman" panose="02020603050405020304"/>
                <a:cs typeface="Times New Roman" panose="02020603050405020304"/>
              </a:rPr>
              <a:t>trends</a:t>
            </a:r>
            <a:r>
              <a:rPr sz="2800" spc="39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and </a:t>
            </a:r>
            <a:r>
              <a:rPr sz="2800" dirty="0">
                <a:latin typeface="Times New Roman" panose="02020603050405020304"/>
                <a:cs typeface="Times New Roman" panose="02020603050405020304"/>
              </a:rPr>
              <a:t>model</a:t>
            </a:r>
            <a:r>
              <a:rPr sz="2800" spc="-5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performance.</a:t>
            </a:r>
            <a:endParaRPr sz="2800">
              <a:latin typeface="Times New Roman" panose="02020603050405020304"/>
              <a:cs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1524380" y="1182750"/>
            <a:ext cx="9796780" cy="5244465"/>
          </a:xfrm>
          <a:prstGeom prst="rect">
            <a:avLst/>
          </a:prstGeom>
        </p:spPr>
        <p:txBody>
          <a:bodyPr vert="horz" wrap="square" lIns="0" tIns="12700" rIns="0" bIns="0" rtlCol="0">
            <a:spAutoFit/>
          </a:bodyPr>
          <a:lstStyle/>
          <a:p>
            <a:pPr marL="239395" marR="5080" indent="-227965" algn="just">
              <a:lnSpc>
                <a:spcPct val="150000"/>
              </a:lnSpc>
              <a:spcBef>
                <a:spcPts val="100"/>
              </a:spcBef>
              <a:buSzPct val="90000"/>
              <a:buFont typeface="Wingdings" panose="05000000000000000000"/>
              <a:buChar char=""/>
              <a:tabLst>
                <a:tab pos="239395" algn="l"/>
                <a:tab pos="241935" algn="l"/>
              </a:tabLst>
            </a:pPr>
            <a:r>
              <a:rPr sz="2400" dirty="0">
                <a:latin typeface="Times New Roman" panose="02020603050405020304"/>
                <a:cs typeface="Times New Roman" panose="02020603050405020304"/>
              </a:rPr>
              <a:t>	</a:t>
            </a:r>
            <a:r>
              <a:rPr sz="3600" b="1" dirty="0">
                <a:latin typeface="Times New Roman" panose="02020603050405020304"/>
                <a:cs typeface="Times New Roman" panose="02020603050405020304"/>
              </a:rPr>
              <a:t>Logistic</a:t>
            </a:r>
            <a:r>
              <a:rPr sz="3600" b="1" spc="330" dirty="0">
                <a:latin typeface="Times New Roman" panose="02020603050405020304"/>
                <a:cs typeface="Times New Roman" panose="02020603050405020304"/>
              </a:rPr>
              <a:t> </a:t>
            </a:r>
            <a:r>
              <a:rPr sz="3600" b="1" dirty="0">
                <a:latin typeface="Times New Roman" panose="02020603050405020304"/>
                <a:cs typeface="Times New Roman" panose="02020603050405020304"/>
              </a:rPr>
              <a:t>Regression:</a:t>
            </a:r>
            <a:r>
              <a:rPr sz="2400" b="1" spc="340"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340" dirty="0">
                <a:latin typeface="Times New Roman" panose="02020603050405020304"/>
                <a:cs typeface="Times New Roman" panose="02020603050405020304"/>
              </a:rPr>
              <a:t> </a:t>
            </a:r>
            <a:r>
              <a:rPr sz="2800" dirty="0">
                <a:latin typeface="Times New Roman" panose="02020603050405020304"/>
                <a:cs typeface="Times New Roman" panose="02020603050405020304"/>
              </a:rPr>
              <a:t>a</a:t>
            </a:r>
            <a:r>
              <a:rPr sz="2800" spc="340" dirty="0">
                <a:latin typeface="Times New Roman" panose="02020603050405020304"/>
                <a:cs typeface="Times New Roman" panose="02020603050405020304"/>
              </a:rPr>
              <a:t> </a:t>
            </a:r>
            <a:r>
              <a:rPr sz="2800" dirty="0">
                <a:latin typeface="Times New Roman" panose="02020603050405020304"/>
                <a:cs typeface="Times New Roman" panose="02020603050405020304"/>
              </a:rPr>
              <a:t>supervised</a:t>
            </a:r>
            <a:r>
              <a:rPr sz="2800" spc="340" dirty="0">
                <a:latin typeface="Times New Roman" panose="02020603050405020304"/>
                <a:cs typeface="Times New Roman" panose="02020603050405020304"/>
              </a:rPr>
              <a:t> </a:t>
            </a:r>
            <a:r>
              <a:rPr sz="2800" dirty="0">
                <a:latin typeface="Times New Roman" panose="02020603050405020304"/>
                <a:cs typeface="Times New Roman" panose="02020603050405020304"/>
              </a:rPr>
              <a:t>machine</a:t>
            </a:r>
            <a:r>
              <a:rPr sz="2800" spc="330" dirty="0">
                <a:latin typeface="Times New Roman" panose="02020603050405020304"/>
                <a:cs typeface="Times New Roman" panose="02020603050405020304"/>
              </a:rPr>
              <a:t> </a:t>
            </a:r>
            <a:r>
              <a:rPr sz="2800" dirty="0">
                <a:latin typeface="Times New Roman" panose="02020603050405020304"/>
                <a:cs typeface="Times New Roman" panose="02020603050405020304"/>
              </a:rPr>
              <a:t>learning</a:t>
            </a:r>
            <a:r>
              <a:rPr sz="2800" spc="345" dirty="0">
                <a:latin typeface="Times New Roman" panose="02020603050405020304"/>
                <a:cs typeface="Times New Roman" panose="02020603050405020304"/>
              </a:rPr>
              <a:t> </a:t>
            </a:r>
            <a:r>
              <a:rPr sz="2800" dirty="0">
                <a:latin typeface="Times New Roman" panose="02020603050405020304"/>
                <a:cs typeface="Times New Roman" panose="02020603050405020304"/>
              </a:rPr>
              <a:t>algorithm</a:t>
            </a:r>
            <a:r>
              <a:rPr sz="2800" spc="320" dirty="0">
                <a:latin typeface="Times New Roman" panose="02020603050405020304"/>
                <a:cs typeface="Times New Roman" panose="02020603050405020304"/>
              </a:rPr>
              <a:t> </a:t>
            </a:r>
            <a:r>
              <a:rPr sz="2800" dirty="0">
                <a:latin typeface="Times New Roman" panose="02020603050405020304"/>
                <a:cs typeface="Times New Roman" panose="02020603050405020304"/>
              </a:rPr>
              <a:t>used</a:t>
            </a:r>
            <a:r>
              <a:rPr sz="2800" spc="335"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for </a:t>
            </a:r>
            <a:r>
              <a:rPr sz="2800" dirty="0">
                <a:latin typeface="Times New Roman" panose="02020603050405020304"/>
                <a:cs typeface="Times New Roman" panose="02020603050405020304"/>
              </a:rPr>
              <a:t>binary</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classification.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It</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predicts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probability</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of</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an</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outcome</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using</a:t>
            </a:r>
            <a:r>
              <a:rPr sz="2800" spc="20" dirty="0">
                <a:latin typeface="Times New Roman" panose="02020603050405020304"/>
                <a:cs typeface="Times New Roman" panose="02020603050405020304"/>
              </a:rPr>
              <a:t>  </a:t>
            </a:r>
            <a:r>
              <a:rPr sz="2800" spc="-25" dirty="0">
                <a:latin typeface="Times New Roman" panose="02020603050405020304"/>
                <a:cs typeface="Times New Roman" panose="02020603050405020304"/>
              </a:rPr>
              <a:t>the </a:t>
            </a:r>
            <a:r>
              <a:rPr sz="2800" dirty="0">
                <a:latin typeface="Times New Roman" panose="02020603050405020304"/>
                <a:cs typeface="Times New Roman" panose="02020603050405020304"/>
              </a:rPr>
              <a:t>sigmoid</a:t>
            </a:r>
            <a:r>
              <a:rPr sz="2800" spc="-5" dirty="0">
                <a:latin typeface="Times New Roman" panose="02020603050405020304"/>
                <a:cs typeface="Times New Roman" panose="02020603050405020304"/>
              </a:rPr>
              <a:t> </a:t>
            </a:r>
            <a:r>
              <a:rPr sz="2800" dirty="0">
                <a:latin typeface="Times New Roman" panose="02020603050405020304"/>
                <a:cs typeface="Times New Roman" panose="02020603050405020304"/>
              </a:rPr>
              <a:t>(logistic)</a:t>
            </a:r>
            <a:r>
              <a:rPr sz="2800" spc="-30" dirty="0">
                <a:latin typeface="Times New Roman" panose="02020603050405020304"/>
                <a:cs typeface="Times New Roman" panose="02020603050405020304"/>
              </a:rPr>
              <a:t> </a:t>
            </a:r>
            <a:r>
              <a:rPr sz="2800" dirty="0">
                <a:latin typeface="Times New Roman" panose="02020603050405020304"/>
                <a:cs typeface="Times New Roman" panose="02020603050405020304"/>
              </a:rPr>
              <a:t>function,</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which outputs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values</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between</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0 and </a:t>
            </a:r>
            <a:r>
              <a:rPr sz="2800" spc="-25" dirty="0">
                <a:latin typeface="Times New Roman" panose="02020603050405020304"/>
                <a:cs typeface="Times New Roman" panose="02020603050405020304"/>
              </a:rPr>
              <a:t>1.</a:t>
            </a:r>
            <a:endParaRPr sz="2800">
              <a:latin typeface="Times New Roman" panose="02020603050405020304"/>
              <a:cs typeface="Times New Roman" panose="02020603050405020304"/>
            </a:endParaRPr>
          </a:p>
          <a:p>
            <a:pPr marL="12065" indent="0">
              <a:lnSpc>
                <a:spcPct val="100000"/>
              </a:lnSpc>
              <a:spcBef>
                <a:spcPts val="1440"/>
              </a:spcBef>
              <a:buSzPct val="90000"/>
              <a:buFont typeface="Wingdings" panose="05000000000000000000"/>
              <a:buNone/>
              <a:tabLst>
                <a:tab pos="242570" algn="l"/>
              </a:tabLst>
            </a:pPr>
            <a:r>
              <a:rPr sz="2800" b="1" spc="-10" dirty="0">
                <a:latin typeface="Times New Roman" panose="02020603050405020304"/>
                <a:cs typeface="Times New Roman" panose="02020603050405020304"/>
              </a:rPr>
              <a:t>Keypoints:</a:t>
            </a:r>
            <a:endParaRPr sz="2800">
              <a:latin typeface="Times New Roman" panose="02020603050405020304"/>
              <a:cs typeface="Times New Roman" panose="02020603050405020304"/>
            </a:endParaRPr>
          </a:p>
          <a:p>
            <a:pPr marL="318770" indent="-306070">
              <a:lnSpc>
                <a:spcPct val="100000"/>
              </a:lnSpc>
              <a:spcBef>
                <a:spcPts val="1440"/>
              </a:spcBef>
              <a:buSzPct val="90000"/>
              <a:buFont typeface="Wingdings" panose="05000000000000000000"/>
              <a:buChar char=""/>
              <a:tabLst>
                <a:tab pos="318770" algn="l"/>
              </a:tabLst>
            </a:pPr>
            <a:r>
              <a:rPr sz="2800" dirty="0">
                <a:latin typeface="Times New Roman" panose="02020603050405020304"/>
                <a:cs typeface="Times New Roman" panose="02020603050405020304"/>
              </a:rPr>
              <a:t>Used</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for</a:t>
            </a:r>
            <a:r>
              <a:rPr sz="2800" spc="-110" dirty="0">
                <a:latin typeface="Times New Roman" panose="02020603050405020304"/>
                <a:cs typeface="Times New Roman" panose="02020603050405020304"/>
              </a:rPr>
              <a:t> </a:t>
            </a:r>
            <a:r>
              <a:rPr sz="2800" spc="-30" dirty="0">
                <a:latin typeface="Times New Roman" panose="02020603050405020304"/>
                <a:cs typeface="Times New Roman" panose="02020603050405020304"/>
              </a:rPr>
              <a:t>Yes/No,</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True/False,</a:t>
            </a:r>
            <a:r>
              <a:rPr sz="2800" spc="-65" dirty="0">
                <a:latin typeface="Times New Roman" panose="02020603050405020304"/>
                <a:cs typeface="Times New Roman" panose="02020603050405020304"/>
              </a:rPr>
              <a:t> </a:t>
            </a:r>
            <a:r>
              <a:rPr sz="2800" dirty="0">
                <a:latin typeface="Times New Roman" panose="02020603050405020304"/>
                <a:cs typeface="Times New Roman" panose="02020603050405020304"/>
              </a:rPr>
              <a:t>0/1</a:t>
            </a:r>
            <a:r>
              <a:rPr sz="2800" spc="-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problems</a:t>
            </a:r>
            <a:endParaRPr sz="2800">
              <a:latin typeface="Times New Roman" panose="02020603050405020304"/>
              <a:cs typeface="Times New Roman" panose="02020603050405020304"/>
            </a:endParaRPr>
          </a:p>
          <a:p>
            <a:pPr marL="318135" indent="-305435">
              <a:lnSpc>
                <a:spcPct val="100000"/>
              </a:lnSpc>
              <a:spcBef>
                <a:spcPts val="1440"/>
              </a:spcBef>
              <a:buSzPct val="90000"/>
              <a:buFont typeface="Wingdings" panose="05000000000000000000"/>
              <a:buChar char=""/>
              <a:tabLst>
                <a:tab pos="318135" algn="l"/>
              </a:tabLst>
            </a:pPr>
            <a:r>
              <a:rPr sz="2800" dirty="0">
                <a:latin typeface="Times New Roman" panose="02020603050405020304"/>
                <a:cs typeface="Times New Roman" panose="02020603050405020304"/>
              </a:rPr>
              <a:t>Example:</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Spam</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vs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Not</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Spam,</a:t>
            </a:r>
            <a:r>
              <a:rPr sz="2800" spc="-10" dirty="0">
                <a:latin typeface="Times New Roman" panose="02020603050405020304"/>
                <a:cs typeface="Times New Roman" panose="02020603050405020304"/>
              </a:rPr>
              <a:t> </a:t>
            </a:r>
            <a:r>
              <a:rPr sz="2800" dirty="0">
                <a:latin typeface="Times New Roman" panose="02020603050405020304"/>
                <a:cs typeface="Times New Roman" panose="02020603050405020304"/>
              </a:rPr>
              <a:t>Disease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vs</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No</a:t>
            </a:r>
            <a:r>
              <a:rPr sz="2800" spc="-1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Disease</a:t>
            </a:r>
            <a:endParaRPr sz="2800">
              <a:latin typeface="Times New Roman" panose="02020603050405020304"/>
              <a:cs typeface="Times New Roman" panose="02020603050405020304"/>
            </a:endParaRPr>
          </a:p>
          <a:p>
            <a:pPr marL="318135" indent="-305435">
              <a:lnSpc>
                <a:spcPct val="100000"/>
              </a:lnSpc>
              <a:spcBef>
                <a:spcPts val="1440"/>
              </a:spcBef>
              <a:buSzPct val="90000"/>
              <a:buFont typeface="Wingdings" panose="05000000000000000000"/>
              <a:buChar char=""/>
              <a:tabLst>
                <a:tab pos="318135" algn="l"/>
              </a:tabLst>
            </a:pPr>
            <a:r>
              <a:rPr sz="2800" dirty="0">
                <a:latin typeface="Times New Roman" panose="02020603050405020304"/>
                <a:cs typeface="Times New Roman" panose="02020603050405020304"/>
              </a:rPr>
              <a:t>Despite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name,</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it</a:t>
            </a:r>
            <a:r>
              <a:rPr sz="2800" spc="-20"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25" dirty="0">
                <a:latin typeface="Times New Roman" panose="02020603050405020304"/>
                <a:cs typeface="Times New Roman" panose="02020603050405020304"/>
              </a:rPr>
              <a:t> </a:t>
            </a:r>
            <a:r>
              <a:rPr sz="2800" dirty="0">
                <a:latin typeface="Times New Roman" panose="02020603050405020304"/>
                <a:cs typeface="Times New Roman" panose="02020603050405020304"/>
              </a:rPr>
              <a:t>used</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for</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classification,</a:t>
            </a:r>
            <a:r>
              <a:rPr sz="2800" spc="-45" dirty="0">
                <a:latin typeface="Times New Roman" panose="02020603050405020304"/>
                <a:cs typeface="Times New Roman" panose="02020603050405020304"/>
              </a:rPr>
              <a:t> </a:t>
            </a:r>
            <a:r>
              <a:rPr sz="2800" dirty="0">
                <a:latin typeface="Times New Roman" panose="02020603050405020304"/>
                <a:cs typeface="Times New Roman" panose="02020603050405020304"/>
              </a:rPr>
              <a:t>not</a:t>
            </a:r>
            <a:r>
              <a:rPr sz="2800" spc="-1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regression</a:t>
            </a:r>
            <a:endParaRPr sz="2800">
              <a:latin typeface="Times New Roman" panose="02020603050405020304"/>
              <a:cs typeface="Times New Roman" panose="02020603050405020304"/>
            </a:endParaRPr>
          </a:p>
        </p:txBody>
      </p:sp>
      <p:sp>
        <p:nvSpPr>
          <p:cNvPr id="8" name="object 8"/>
          <p:cNvSpPr txBox="1">
            <a:spLocks noGrp="1"/>
          </p:cNvSpPr>
          <p:nvPr>
            <p:ph type="title"/>
          </p:nvPr>
        </p:nvSpPr>
        <p:spPr>
          <a:xfrm>
            <a:off x="3962273" y="304672"/>
            <a:ext cx="2576195" cy="690245"/>
          </a:xfrm>
          <a:prstGeom prst="rect">
            <a:avLst/>
          </a:prstGeom>
        </p:spPr>
        <p:txBody>
          <a:bodyPr vert="horz" wrap="square" lIns="0" tIns="13335" rIns="0" bIns="0" rtlCol="0">
            <a:spAutoFit/>
          </a:bodyPr>
          <a:lstStyle/>
          <a:p>
            <a:pPr marL="12700">
              <a:lnSpc>
                <a:spcPct val="100000"/>
              </a:lnSpc>
              <a:spcBef>
                <a:spcPts val="105"/>
              </a:spcBef>
            </a:pPr>
            <a:r>
              <a:rPr spc="-300" dirty="0">
                <a:latin typeface="Times New Roman" panose="02020603050405020304" charset="0"/>
                <a:cs typeface="Times New Roman" panose="02020603050405020304" charset="0"/>
              </a:rPr>
              <a:t>MODULES</a:t>
            </a:r>
            <a:endParaRPr spc="-300" dirty="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a:stretch>
            <a:fillRect/>
          </a:stretch>
        </p:blipFill>
        <p:spPr>
          <a:xfrm>
            <a:off x="5464175" y="876300"/>
            <a:ext cx="6405245" cy="5384165"/>
          </a:xfrm>
          <a:prstGeom prst="rect">
            <a:avLst/>
          </a:prstGeom>
        </p:spPr>
      </p:pic>
      <p:pic>
        <p:nvPicPr>
          <p:cNvPr id="5" name="Picture 4"/>
          <p:cNvPicPr/>
          <p:nvPr/>
        </p:nvPicPr>
        <p:blipFill>
          <a:blip r:embed="rId2"/>
          <a:stretch>
            <a:fillRect/>
          </a:stretch>
        </p:blipFill>
        <p:spPr>
          <a:xfrm>
            <a:off x="455930" y="914400"/>
            <a:ext cx="4661535" cy="55060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14600" y="609600"/>
            <a:ext cx="4268470" cy="688975"/>
          </a:xfrm>
          <a:prstGeom prst="rect">
            <a:avLst/>
          </a:prstGeom>
        </p:spPr>
        <p:txBody>
          <a:bodyPr vert="horz" wrap="square" lIns="0" tIns="12065" rIns="0" bIns="0" rtlCol="0">
            <a:spAutoFit/>
          </a:bodyPr>
          <a:lstStyle/>
          <a:p>
            <a:pPr marL="12700">
              <a:lnSpc>
                <a:spcPct val="100000"/>
              </a:lnSpc>
              <a:spcBef>
                <a:spcPts val="95"/>
              </a:spcBef>
            </a:pPr>
            <a:r>
              <a:rPr sz="4400" b="1" dirty="0">
                <a:latin typeface="Times New Roman" panose="02020603050405020304"/>
                <a:cs typeface="Times New Roman" panose="02020603050405020304"/>
              </a:rPr>
              <a:t>Decision</a:t>
            </a:r>
            <a:r>
              <a:rPr sz="4400" b="1" spc="-105" dirty="0">
                <a:latin typeface="Times New Roman" panose="02020603050405020304"/>
                <a:cs typeface="Times New Roman" panose="02020603050405020304"/>
              </a:rPr>
              <a:t> </a:t>
            </a:r>
            <a:r>
              <a:rPr sz="4400" b="1" spc="-45" dirty="0">
                <a:latin typeface="Times New Roman" panose="02020603050405020304"/>
                <a:cs typeface="Times New Roman" panose="02020603050405020304"/>
              </a:rPr>
              <a:t>Tree:</a:t>
            </a:r>
            <a:endParaRPr sz="4400">
              <a:latin typeface="Times New Roman" panose="02020603050405020304"/>
              <a:cs typeface="Times New Roman" panose="02020603050405020304"/>
            </a:endParaRPr>
          </a:p>
        </p:txBody>
      </p:sp>
      <p:sp>
        <p:nvSpPr>
          <p:cNvPr id="3" name="object 3"/>
          <p:cNvSpPr txBox="1">
            <a:spLocks noGrp="1"/>
          </p:cNvSpPr>
          <p:nvPr>
            <p:ph type="title"/>
          </p:nvPr>
        </p:nvSpPr>
        <p:spPr>
          <a:xfrm>
            <a:off x="2342133" y="1422083"/>
            <a:ext cx="9219565" cy="2167255"/>
          </a:xfrm>
          <a:prstGeom prst="rect">
            <a:avLst/>
          </a:prstGeom>
        </p:spPr>
        <p:txBody>
          <a:bodyPr vert="horz" wrap="square" lIns="0" tIns="13335" rIns="0" bIns="0" rtlCol="0">
            <a:spAutoFit/>
          </a:bodyPr>
          <a:lstStyle/>
          <a:p>
            <a:pPr marL="12700" marR="5080" indent="2159635" algn="just">
              <a:lnSpc>
                <a:spcPct val="100000"/>
              </a:lnSpc>
              <a:spcBef>
                <a:spcPts val="105"/>
              </a:spcBef>
            </a:pPr>
            <a:r>
              <a:rPr sz="2800" b="0" dirty="0">
                <a:latin typeface="Times New Roman" panose="02020603050405020304"/>
                <a:cs typeface="Times New Roman" panose="02020603050405020304"/>
              </a:rPr>
              <a:t>Decision</a:t>
            </a:r>
            <a:r>
              <a:rPr sz="2800" b="0" spc="18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Tree</a:t>
            </a:r>
            <a:r>
              <a:rPr sz="2800" b="0" spc="18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is</a:t>
            </a:r>
            <a:r>
              <a:rPr sz="2800" b="0" spc="18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a</a:t>
            </a:r>
            <a:r>
              <a:rPr sz="2800" b="0" spc="18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supervised</a:t>
            </a:r>
            <a:r>
              <a:rPr sz="2800" b="0" spc="175" dirty="0">
                <a:latin typeface="Times New Roman" panose="02020603050405020304"/>
                <a:cs typeface="Times New Roman" panose="02020603050405020304"/>
              </a:rPr>
              <a:t>  </a:t>
            </a:r>
            <a:r>
              <a:rPr sz="2800" b="0" spc="-10" dirty="0">
                <a:latin typeface="Times New Roman" panose="02020603050405020304"/>
                <a:cs typeface="Times New Roman" panose="02020603050405020304"/>
              </a:rPr>
              <a:t>machine </a:t>
            </a:r>
            <a:r>
              <a:rPr sz="2800" b="0" dirty="0">
                <a:latin typeface="Times New Roman" panose="02020603050405020304"/>
                <a:cs typeface="Times New Roman" panose="02020603050405020304"/>
              </a:rPr>
              <a:t>learning</a:t>
            </a:r>
            <a:r>
              <a:rPr sz="2800" b="0" spc="-1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algorithm</a:t>
            </a:r>
            <a:r>
              <a:rPr sz="2800" b="0" spc="-20"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that</a:t>
            </a:r>
            <a:r>
              <a:rPr sz="2800" b="0" spc="-1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uses</a:t>
            </a:r>
            <a:r>
              <a:rPr sz="2800" b="0" spc="-1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a</a:t>
            </a:r>
            <a:r>
              <a:rPr sz="2800" b="0" spc="-10" dirty="0">
                <a:latin typeface="Times New Roman" panose="02020603050405020304"/>
                <a:cs typeface="Times New Roman" panose="02020603050405020304"/>
              </a:rPr>
              <a:t> </a:t>
            </a:r>
            <a:r>
              <a:rPr sz="2800" b="0" spc="-20" dirty="0">
                <a:latin typeface="Times New Roman" panose="02020603050405020304"/>
                <a:cs typeface="Times New Roman" panose="02020603050405020304"/>
              </a:rPr>
              <a:t>tree-</a:t>
            </a:r>
            <a:r>
              <a:rPr sz="2800" b="0" dirty="0">
                <a:latin typeface="Times New Roman" panose="02020603050405020304"/>
                <a:cs typeface="Times New Roman" panose="02020603050405020304"/>
              </a:rPr>
              <a:t>like</a:t>
            </a:r>
            <a:r>
              <a:rPr sz="2800" b="0" spc="-10"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structure</a:t>
            </a:r>
            <a:r>
              <a:rPr sz="2800" b="0" spc="-2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to</a:t>
            </a:r>
            <a:r>
              <a:rPr sz="2800" b="0" spc="-20" dirty="0">
                <a:latin typeface="Times New Roman" panose="02020603050405020304"/>
                <a:cs typeface="Times New Roman" panose="02020603050405020304"/>
              </a:rPr>
              <a:t> make </a:t>
            </a:r>
            <a:r>
              <a:rPr sz="2800" b="0" dirty="0">
                <a:latin typeface="Times New Roman" panose="02020603050405020304"/>
                <a:cs typeface="Times New Roman" panose="02020603050405020304"/>
              </a:rPr>
              <a:t>decisions.</a:t>
            </a:r>
            <a:r>
              <a:rPr sz="2800" b="0" spc="380"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It</a:t>
            </a:r>
            <a:r>
              <a:rPr sz="2800" b="0" spc="370"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splits</a:t>
            </a:r>
            <a:r>
              <a:rPr sz="2800" b="0" spc="37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data</a:t>
            </a:r>
            <a:r>
              <a:rPr sz="2800" b="0" spc="390"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into</a:t>
            </a:r>
            <a:r>
              <a:rPr sz="2800" b="0" spc="370"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branches</a:t>
            </a:r>
            <a:r>
              <a:rPr sz="2800" b="0" spc="38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based</a:t>
            </a:r>
            <a:r>
              <a:rPr sz="2800" b="0" spc="37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on</a:t>
            </a:r>
            <a:r>
              <a:rPr sz="2800" b="0" spc="380" dirty="0">
                <a:latin typeface="Times New Roman" panose="02020603050405020304"/>
                <a:cs typeface="Times New Roman" panose="02020603050405020304"/>
              </a:rPr>
              <a:t> </a:t>
            </a:r>
            <a:r>
              <a:rPr sz="2800" b="0" spc="-10" dirty="0">
                <a:latin typeface="Times New Roman" panose="02020603050405020304"/>
                <a:cs typeface="Times New Roman" panose="02020603050405020304"/>
              </a:rPr>
              <a:t>feature </a:t>
            </a:r>
            <a:r>
              <a:rPr sz="2800" b="0" dirty="0">
                <a:latin typeface="Times New Roman" panose="02020603050405020304"/>
                <a:cs typeface="Times New Roman" panose="02020603050405020304"/>
              </a:rPr>
              <a:t>conditions,</a:t>
            </a:r>
            <a:r>
              <a:rPr sz="2800" b="0" spc="37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leading</a:t>
            </a:r>
            <a:r>
              <a:rPr sz="2800" b="0" spc="37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to</a:t>
            </a:r>
            <a:r>
              <a:rPr sz="2800" b="0" spc="37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a</a:t>
            </a:r>
            <a:r>
              <a:rPr sz="2800" b="0" spc="36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final</a:t>
            </a:r>
            <a:r>
              <a:rPr sz="2800" b="0" spc="360"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decision</a:t>
            </a:r>
            <a:r>
              <a:rPr sz="2800" b="0" spc="370"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or</a:t>
            </a:r>
            <a:r>
              <a:rPr sz="2800" b="0" spc="365"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class</a:t>
            </a:r>
            <a:r>
              <a:rPr sz="2800" b="0" spc="370" dirty="0">
                <a:latin typeface="Times New Roman" panose="02020603050405020304"/>
                <a:cs typeface="Times New Roman" panose="02020603050405020304"/>
              </a:rPr>
              <a:t> </a:t>
            </a:r>
            <a:r>
              <a:rPr sz="2800" b="0" dirty="0">
                <a:latin typeface="Times New Roman" panose="02020603050405020304"/>
                <a:cs typeface="Times New Roman" panose="02020603050405020304"/>
              </a:rPr>
              <a:t>label</a:t>
            </a:r>
            <a:r>
              <a:rPr sz="2800" b="0" spc="360" dirty="0">
                <a:latin typeface="Times New Roman" panose="02020603050405020304"/>
                <a:cs typeface="Times New Roman" panose="02020603050405020304"/>
              </a:rPr>
              <a:t> </a:t>
            </a:r>
            <a:r>
              <a:rPr sz="2800" b="0" spc="-25" dirty="0">
                <a:latin typeface="Times New Roman" panose="02020603050405020304"/>
                <a:cs typeface="Times New Roman" panose="02020603050405020304"/>
              </a:rPr>
              <a:t>at </a:t>
            </a:r>
            <a:r>
              <a:rPr sz="2800" b="0" dirty="0">
                <a:latin typeface="Times New Roman" panose="02020603050405020304"/>
                <a:cs typeface="Times New Roman" panose="02020603050405020304"/>
              </a:rPr>
              <a:t>the leaf</a:t>
            </a:r>
            <a:r>
              <a:rPr sz="2800" b="0" spc="-10" dirty="0">
                <a:latin typeface="Times New Roman" panose="02020603050405020304"/>
                <a:cs typeface="Times New Roman" panose="02020603050405020304"/>
              </a:rPr>
              <a:t> nodes.</a:t>
            </a:r>
            <a:endParaRPr sz="2800">
              <a:latin typeface="Times New Roman" panose="02020603050405020304"/>
              <a:cs typeface="Times New Roman" panose="02020603050405020304"/>
            </a:endParaRPr>
          </a:p>
        </p:txBody>
      </p:sp>
      <p:sp>
        <p:nvSpPr>
          <p:cNvPr id="4" name="object 4"/>
          <p:cNvSpPr txBox="1"/>
          <p:nvPr/>
        </p:nvSpPr>
        <p:spPr>
          <a:xfrm>
            <a:off x="2342133" y="3828170"/>
            <a:ext cx="9139555" cy="2170430"/>
          </a:xfrm>
          <a:prstGeom prst="rect">
            <a:avLst/>
          </a:prstGeom>
        </p:spPr>
        <p:txBody>
          <a:bodyPr vert="horz" wrap="square" lIns="0" tIns="223520" rIns="0" bIns="0" rtlCol="0">
            <a:spAutoFit/>
          </a:bodyPr>
          <a:lstStyle/>
          <a:p>
            <a:pPr marL="113030">
              <a:lnSpc>
                <a:spcPct val="100000"/>
              </a:lnSpc>
              <a:spcBef>
                <a:spcPts val="1760"/>
              </a:spcBef>
            </a:pPr>
            <a:r>
              <a:rPr sz="2400" b="1" spc="-10" dirty="0">
                <a:latin typeface="Tahoma" panose="020B0604030504040204"/>
                <a:cs typeface="Tahoma" panose="020B0604030504040204"/>
              </a:rPr>
              <a:t>Keypoints</a:t>
            </a:r>
            <a:r>
              <a:rPr sz="1800" b="1" spc="-10" dirty="0">
                <a:latin typeface="Tahoma" panose="020B0604030504040204"/>
                <a:cs typeface="Tahoma" panose="020B0604030504040204"/>
              </a:rPr>
              <a:t>:</a:t>
            </a:r>
            <a:endParaRPr sz="1800">
              <a:latin typeface="Tahoma" panose="020B0604030504040204"/>
              <a:cs typeface="Tahoma" panose="020B0604030504040204"/>
            </a:endParaRPr>
          </a:p>
          <a:p>
            <a:pPr marL="298450" indent="-285750">
              <a:lnSpc>
                <a:spcPct val="100000"/>
              </a:lnSpc>
              <a:spcBef>
                <a:spcPts val="2225"/>
              </a:spcBef>
              <a:buFont typeface="Arial MT"/>
              <a:buChar char="•"/>
              <a:tabLst>
                <a:tab pos="298450" algn="l"/>
              </a:tabLst>
            </a:pPr>
            <a:r>
              <a:rPr sz="2800" spc="-175" dirty="0">
                <a:latin typeface="Times New Roman" panose="02020603050405020304" charset="0"/>
                <a:cs typeface="Times New Roman" panose="02020603050405020304" charset="0"/>
              </a:rPr>
              <a:t>Easy</a:t>
            </a:r>
            <a:r>
              <a:rPr sz="2800" spc="-25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to</a:t>
            </a:r>
            <a:r>
              <a:rPr sz="2800" spc="-229" dirty="0">
                <a:latin typeface="Times New Roman" panose="02020603050405020304" charset="0"/>
                <a:cs typeface="Times New Roman" panose="02020603050405020304" charset="0"/>
              </a:rPr>
              <a:t> </a:t>
            </a:r>
            <a:r>
              <a:rPr sz="2800" spc="-55" dirty="0">
                <a:latin typeface="Times New Roman" panose="02020603050405020304" charset="0"/>
                <a:cs typeface="Times New Roman" panose="02020603050405020304" charset="0"/>
              </a:rPr>
              <a:t>understand</a:t>
            </a:r>
            <a:r>
              <a:rPr sz="2800" spc="-254" dirty="0">
                <a:latin typeface="Times New Roman" panose="02020603050405020304" charset="0"/>
                <a:cs typeface="Times New Roman" panose="02020603050405020304" charset="0"/>
              </a:rPr>
              <a:t> </a:t>
            </a:r>
            <a:r>
              <a:rPr sz="2800" spc="114" dirty="0">
                <a:latin typeface="Times New Roman" panose="02020603050405020304" charset="0"/>
                <a:cs typeface="Times New Roman" panose="02020603050405020304" charset="0"/>
              </a:rPr>
              <a:t>and</a:t>
            </a:r>
            <a:r>
              <a:rPr sz="2800" spc="-24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interpret</a:t>
            </a:r>
            <a:endParaRPr sz="2800">
              <a:latin typeface="Times New Roman" panose="02020603050405020304" charset="0"/>
              <a:cs typeface="Times New Roman" panose="02020603050405020304" charset="0"/>
            </a:endParaRPr>
          </a:p>
          <a:p>
            <a:pPr marL="298450" indent="-285750">
              <a:lnSpc>
                <a:spcPct val="100000"/>
              </a:lnSpc>
              <a:buFont typeface="Arial MT"/>
              <a:buChar char="•"/>
              <a:tabLst>
                <a:tab pos="298450" algn="l"/>
              </a:tabLst>
            </a:pPr>
            <a:r>
              <a:rPr sz="2800" spc="185" dirty="0">
                <a:latin typeface="Times New Roman" panose="02020603050405020304" charset="0"/>
                <a:cs typeface="Times New Roman" panose="02020603050405020304" charset="0"/>
              </a:rPr>
              <a:t>Can</a:t>
            </a:r>
            <a:r>
              <a:rPr sz="2800" spc="-245" dirty="0">
                <a:latin typeface="Times New Roman" panose="02020603050405020304" charset="0"/>
                <a:cs typeface="Times New Roman" panose="02020603050405020304" charset="0"/>
              </a:rPr>
              <a:t> </a:t>
            </a:r>
            <a:r>
              <a:rPr sz="2800" spc="175" dirty="0">
                <a:latin typeface="Times New Roman" panose="02020603050405020304" charset="0"/>
                <a:cs typeface="Times New Roman" panose="02020603050405020304" charset="0"/>
              </a:rPr>
              <a:t>be</a:t>
            </a:r>
            <a:r>
              <a:rPr sz="2800" spc="-225" dirty="0">
                <a:latin typeface="Times New Roman" panose="02020603050405020304" charset="0"/>
                <a:cs typeface="Times New Roman" panose="02020603050405020304" charset="0"/>
              </a:rPr>
              <a:t> </a:t>
            </a:r>
            <a:r>
              <a:rPr sz="2800" spc="-45" dirty="0">
                <a:latin typeface="Times New Roman" panose="02020603050405020304" charset="0"/>
                <a:cs typeface="Times New Roman" panose="02020603050405020304" charset="0"/>
              </a:rPr>
              <a:t>used</a:t>
            </a:r>
            <a:r>
              <a:rPr sz="2800" spc="-250" dirty="0">
                <a:latin typeface="Times New Roman" panose="02020603050405020304" charset="0"/>
                <a:cs typeface="Times New Roman" panose="02020603050405020304" charset="0"/>
              </a:rPr>
              <a:t> </a:t>
            </a:r>
            <a:r>
              <a:rPr sz="2800" spc="-140" dirty="0">
                <a:latin typeface="Times New Roman" panose="02020603050405020304" charset="0"/>
                <a:cs typeface="Times New Roman" panose="02020603050405020304" charset="0"/>
              </a:rPr>
              <a:t>for</a:t>
            </a:r>
            <a:r>
              <a:rPr sz="2800" spc="-225" dirty="0">
                <a:latin typeface="Times New Roman" panose="02020603050405020304" charset="0"/>
                <a:cs typeface="Times New Roman" panose="02020603050405020304" charset="0"/>
              </a:rPr>
              <a:t> </a:t>
            </a:r>
            <a:r>
              <a:rPr sz="2800" spc="-60" dirty="0">
                <a:latin typeface="Times New Roman" panose="02020603050405020304" charset="0"/>
                <a:cs typeface="Times New Roman" panose="02020603050405020304" charset="0"/>
              </a:rPr>
              <a:t>classification</a:t>
            </a:r>
            <a:r>
              <a:rPr sz="2800" spc="-250" dirty="0">
                <a:latin typeface="Times New Roman" panose="02020603050405020304" charset="0"/>
                <a:cs typeface="Times New Roman" panose="02020603050405020304" charset="0"/>
              </a:rPr>
              <a:t> </a:t>
            </a:r>
            <a:r>
              <a:rPr sz="2800" spc="114" dirty="0">
                <a:latin typeface="Times New Roman" panose="02020603050405020304" charset="0"/>
                <a:cs typeface="Times New Roman" panose="02020603050405020304" charset="0"/>
              </a:rPr>
              <a:t>and</a:t>
            </a:r>
            <a:r>
              <a:rPr sz="2800" spc="-225" dirty="0">
                <a:latin typeface="Times New Roman" panose="02020603050405020304" charset="0"/>
                <a:cs typeface="Times New Roman" panose="02020603050405020304" charset="0"/>
              </a:rPr>
              <a:t> </a:t>
            </a:r>
            <a:r>
              <a:rPr sz="2800" spc="-80" dirty="0">
                <a:latin typeface="Times New Roman" panose="02020603050405020304" charset="0"/>
                <a:cs typeface="Times New Roman" panose="02020603050405020304" charset="0"/>
              </a:rPr>
              <a:t>regression</a:t>
            </a:r>
            <a:endParaRPr sz="2800">
              <a:latin typeface="Times New Roman" panose="02020603050405020304" charset="0"/>
              <a:cs typeface="Times New Roman" panose="02020603050405020304" charset="0"/>
            </a:endParaRPr>
          </a:p>
          <a:p>
            <a:pPr marL="298450" indent="-285750">
              <a:lnSpc>
                <a:spcPct val="100000"/>
              </a:lnSpc>
              <a:buFont typeface="Arial MT"/>
              <a:buChar char="•"/>
              <a:tabLst>
                <a:tab pos="298450" algn="l"/>
              </a:tabLst>
            </a:pPr>
            <a:r>
              <a:rPr sz="2800" spc="-135" dirty="0">
                <a:latin typeface="Times New Roman" panose="02020603050405020304" charset="0"/>
                <a:cs typeface="Times New Roman" panose="02020603050405020304" charset="0"/>
              </a:rPr>
              <a:t>Example:</a:t>
            </a:r>
            <a:r>
              <a:rPr sz="2800" spc="-24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Loan</a:t>
            </a:r>
            <a:r>
              <a:rPr sz="2800" spc="-23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approval,</a:t>
            </a:r>
            <a:r>
              <a:rPr sz="2800" spc="-225" dirty="0">
                <a:latin typeface="Times New Roman" panose="02020603050405020304" charset="0"/>
                <a:cs typeface="Times New Roman" panose="02020603050405020304" charset="0"/>
              </a:rPr>
              <a:t> </a:t>
            </a:r>
            <a:r>
              <a:rPr sz="2800" spc="-20" dirty="0">
                <a:latin typeface="Times New Roman" panose="02020603050405020304" charset="0"/>
                <a:cs typeface="Times New Roman" panose="02020603050405020304" charset="0"/>
              </a:rPr>
              <a:t>weather</a:t>
            </a:r>
            <a:r>
              <a:rPr sz="2800" spc="-24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prediction</a:t>
            </a:r>
            <a:endParaRPr sz="280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2881248" y="742950"/>
            <a:ext cx="6429375" cy="53721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1" cstate="print"/>
            <a:stretch>
              <a:fillRect/>
            </a:stretch>
          </p:blipFill>
          <p:spPr>
            <a:xfrm>
              <a:off x="1949195" y="3790188"/>
              <a:ext cx="1078230" cy="787145"/>
            </a:xfrm>
            <a:prstGeom prst="rect">
              <a:avLst/>
            </a:prstGeom>
          </p:spPr>
        </p:pic>
        <p:pic>
          <p:nvPicPr>
            <p:cNvPr id="4" name="object 4"/>
            <p:cNvPicPr/>
            <p:nvPr/>
          </p:nvPicPr>
          <p:blipFill>
            <a:blip r:embed="rId2" cstate="print"/>
            <a:stretch>
              <a:fillRect/>
            </a:stretch>
          </p:blipFill>
          <p:spPr>
            <a:xfrm>
              <a:off x="2648711" y="3790188"/>
              <a:ext cx="1398269" cy="787145"/>
            </a:xfrm>
            <a:prstGeom prst="rect">
              <a:avLst/>
            </a:prstGeom>
          </p:spPr>
        </p:pic>
        <p:pic>
          <p:nvPicPr>
            <p:cNvPr id="5" name="object 5"/>
            <p:cNvPicPr/>
            <p:nvPr/>
          </p:nvPicPr>
          <p:blipFill>
            <a:blip r:embed="rId3" cstate="print"/>
            <a:stretch>
              <a:fillRect/>
            </a:stretch>
          </p:blipFill>
          <p:spPr>
            <a:xfrm>
              <a:off x="3579876" y="3790188"/>
              <a:ext cx="585977" cy="787145"/>
            </a:xfrm>
            <a:prstGeom prst="rect">
              <a:avLst/>
            </a:prstGeom>
          </p:spPr>
        </p:pic>
        <p:pic>
          <p:nvPicPr>
            <p:cNvPr id="6" name="object 6"/>
            <p:cNvPicPr/>
            <p:nvPr/>
          </p:nvPicPr>
          <p:blipFill>
            <a:blip r:embed="rId4" cstate="print"/>
            <a:stretch>
              <a:fillRect/>
            </a:stretch>
          </p:blipFill>
          <p:spPr>
            <a:xfrm>
              <a:off x="1981200" y="4486655"/>
              <a:ext cx="537210" cy="701801"/>
            </a:xfrm>
            <a:prstGeom prst="rect">
              <a:avLst/>
            </a:prstGeom>
          </p:spPr>
        </p:pic>
        <p:pic>
          <p:nvPicPr>
            <p:cNvPr id="7" name="object 7"/>
            <p:cNvPicPr/>
            <p:nvPr/>
          </p:nvPicPr>
          <p:blipFill>
            <a:blip r:embed="rId5" cstate="print"/>
            <a:stretch>
              <a:fillRect/>
            </a:stretch>
          </p:blipFill>
          <p:spPr>
            <a:xfrm>
              <a:off x="2299716" y="4436364"/>
              <a:ext cx="1669542" cy="787145"/>
            </a:xfrm>
            <a:prstGeom prst="rect">
              <a:avLst/>
            </a:prstGeom>
          </p:spPr>
        </p:pic>
        <p:pic>
          <p:nvPicPr>
            <p:cNvPr id="8" name="object 8"/>
            <p:cNvPicPr/>
            <p:nvPr/>
          </p:nvPicPr>
          <p:blipFill>
            <a:blip r:embed="rId6" cstate="print"/>
            <a:stretch>
              <a:fillRect/>
            </a:stretch>
          </p:blipFill>
          <p:spPr>
            <a:xfrm>
              <a:off x="3590544" y="4436364"/>
              <a:ext cx="1971294" cy="787145"/>
            </a:xfrm>
            <a:prstGeom prst="rect">
              <a:avLst/>
            </a:prstGeom>
          </p:spPr>
        </p:pic>
        <p:pic>
          <p:nvPicPr>
            <p:cNvPr id="9" name="object 9"/>
            <p:cNvPicPr/>
            <p:nvPr/>
          </p:nvPicPr>
          <p:blipFill>
            <a:blip r:embed="rId7" cstate="print"/>
            <a:stretch>
              <a:fillRect/>
            </a:stretch>
          </p:blipFill>
          <p:spPr>
            <a:xfrm>
              <a:off x="5180076" y="4436364"/>
              <a:ext cx="1866137" cy="787145"/>
            </a:xfrm>
            <a:prstGeom prst="rect">
              <a:avLst/>
            </a:prstGeom>
          </p:spPr>
        </p:pic>
        <p:pic>
          <p:nvPicPr>
            <p:cNvPr id="10" name="object 10"/>
            <p:cNvPicPr/>
            <p:nvPr/>
          </p:nvPicPr>
          <p:blipFill>
            <a:blip r:embed="rId8" cstate="print"/>
            <a:stretch>
              <a:fillRect/>
            </a:stretch>
          </p:blipFill>
          <p:spPr>
            <a:xfrm>
              <a:off x="6669023" y="4436364"/>
              <a:ext cx="744474" cy="787145"/>
            </a:xfrm>
            <a:prstGeom prst="rect">
              <a:avLst/>
            </a:prstGeom>
          </p:spPr>
        </p:pic>
        <p:pic>
          <p:nvPicPr>
            <p:cNvPr id="11" name="object 11"/>
            <p:cNvPicPr/>
            <p:nvPr/>
          </p:nvPicPr>
          <p:blipFill>
            <a:blip r:embed="rId9" cstate="print"/>
            <a:stretch>
              <a:fillRect/>
            </a:stretch>
          </p:blipFill>
          <p:spPr>
            <a:xfrm>
              <a:off x="7033259" y="4436364"/>
              <a:ext cx="624077" cy="787145"/>
            </a:xfrm>
            <a:prstGeom prst="rect">
              <a:avLst/>
            </a:prstGeom>
          </p:spPr>
        </p:pic>
        <p:pic>
          <p:nvPicPr>
            <p:cNvPr id="12" name="object 12"/>
            <p:cNvPicPr/>
            <p:nvPr/>
          </p:nvPicPr>
          <p:blipFill>
            <a:blip r:embed="rId10" cstate="print"/>
            <a:stretch>
              <a:fillRect/>
            </a:stretch>
          </p:blipFill>
          <p:spPr>
            <a:xfrm>
              <a:off x="7280147" y="4436364"/>
              <a:ext cx="1317498" cy="787145"/>
            </a:xfrm>
            <a:prstGeom prst="rect">
              <a:avLst/>
            </a:prstGeom>
          </p:spPr>
        </p:pic>
        <p:pic>
          <p:nvPicPr>
            <p:cNvPr id="13" name="object 13"/>
            <p:cNvPicPr/>
            <p:nvPr/>
          </p:nvPicPr>
          <p:blipFill>
            <a:blip r:embed="rId11" cstate="print"/>
            <a:stretch>
              <a:fillRect/>
            </a:stretch>
          </p:blipFill>
          <p:spPr>
            <a:xfrm>
              <a:off x="8215883" y="4436364"/>
              <a:ext cx="1652777" cy="787145"/>
            </a:xfrm>
            <a:prstGeom prst="rect">
              <a:avLst/>
            </a:prstGeom>
          </p:spPr>
        </p:pic>
        <p:pic>
          <p:nvPicPr>
            <p:cNvPr id="14" name="object 14"/>
            <p:cNvPicPr/>
            <p:nvPr/>
          </p:nvPicPr>
          <p:blipFill>
            <a:blip r:embed="rId12" cstate="print"/>
            <a:stretch>
              <a:fillRect/>
            </a:stretch>
          </p:blipFill>
          <p:spPr>
            <a:xfrm>
              <a:off x="9488423" y="4436364"/>
              <a:ext cx="998981" cy="787145"/>
            </a:xfrm>
            <a:prstGeom prst="rect">
              <a:avLst/>
            </a:prstGeom>
          </p:spPr>
        </p:pic>
        <p:pic>
          <p:nvPicPr>
            <p:cNvPr id="15" name="object 15"/>
            <p:cNvPicPr/>
            <p:nvPr/>
          </p:nvPicPr>
          <p:blipFill>
            <a:blip r:embed="rId4" cstate="print"/>
            <a:stretch>
              <a:fillRect/>
            </a:stretch>
          </p:blipFill>
          <p:spPr>
            <a:xfrm>
              <a:off x="1981200" y="5126735"/>
              <a:ext cx="537210" cy="701801"/>
            </a:xfrm>
            <a:prstGeom prst="rect">
              <a:avLst/>
            </a:prstGeom>
          </p:spPr>
        </p:pic>
        <p:pic>
          <p:nvPicPr>
            <p:cNvPr id="16" name="object 16"/>
            <p:cNvPicPr/>
            <p:nvPr/>
          </p:nvPicPr>
          <p:blipFill>
            <a:blip r:embed="rId13" cstate="print"/>
            <a:stretch>
              <a:fillRect/>
            </a:stretch>
          </p:blipFill>
          <p:spPr>
            <a:xfrm>
              <a:off x="2299716" y="5076444"/>
              <a:ext cx="1387602" cy="787146"/>
            </a:xfrm>
            <a:prstGeom prst="rect">
              <a:avLst/>
            </a:prstGeom>
          </p:spPr>
        </p:pic>
        <p:pic>
          <p:nvPicPr>
            <p:cNvPr id="17" name="object 17"/>
            <p:cNvPicPr/>
            <p:nvPr/>
          </p:nvPicPr>
          <p:blipFill>
            <a:blip r:embed="rId14" cstate="print"/>
            <a:stretch>
              <a:fillRect/>
            </a:stretch>
          </p:blipFill>
          <p:spPr>
            <a:xfrm>
              <a:off x="3308603" y="5076444"/>
              <a:ext cx="1078229" cy="787146"/>
            </a:xfrm>
            <a:prstGeom prst="rect">
              <a:avLst/>
            </a:prstGeom>
          </p:spPr>
        </p:pic>
        <p:pic>
          <p:nvPicPr>
            <p:cNvPr id="18" name="object 18"/>
            <p:cNvPicPr/>
            <p:nvPr/>
          </p:nvPicPr>
          <p:blipFill>
            <a:blip r:embed="rId15" cstate="print"/>
            <a:stretch>
              <a:fillRect/>
            </a:stretch>
          </p:blipFill>
          <p:spPr>
            <a:xfrm>
              <a:off x="4008120" y="5076444"/>
              <a:ext cx="1099565" cy="787146"/>
            </a:xfrm>
            <a:prstGeom prst="rect">
              <a:avLst/>
            </a:prstGeom>
          </p:spPr>
        </p:pic>
        <p:pic>
          <p:nvPicPr>
            <p:cNvPr id="19" name="object 19"/>
            <p:cNvPicPr/>
            <p:nvPr/>
          </p:nvPicPr>
          <p:blipFill>
            <a:blip r:embed="rId16" cstate="print"/>
            <a:stretch>
              <a:fillRect/>
            </a:stretch>
          </p:blipFill>
          <p:spPr>
            <a:xfrm>
              <a:off x="4728971" y="5076444"/>
              <a:ext cx="1171194" cy="787146"/>
            </a:xfrm>
            <a:prstGeom prst="rect">
              <a:avLst/>
            </a:prstGeom>
          </p:spPr>
        </p:pic>
        <p:pic>
          <p:nvPicPr>
            <p:cNvPr id="20" name="object 20"/>
            <p:cNvPicPr/>
            <p:nvPr/>
          </p:nvPicPr>
          <p:blipFill>
            <a:blip r:embed="rId17" cstate="print"/>
            <a:stretch>
              <a:fillRect/>
            </a:stretch>
          </p:blipFill>
          <p:spPr>
            <a:xfrm>
              <a:off x="5521452" y="5076444"/>
              <a:ext cx="980694" cy="787146"/>
            </a:xfrm>
            <a:prstGeom prst="rect">
              <a:avLst/>
            </a:prstGeom>
          </p:spPr>
        </p:pic>
        <p:pic>
          <p:nvPicPr>
            <p:cNvPr id="21" name="object 21"/>
            <p:cNvPicPr/>
            <p:nvPr/>
          </p:nvPicPr>
          <p:blipFill>
            <a:blip r:embed="rId18" cstate="print"/>
            <a:stretch>
              <a:fillRect/>
            </a:stretch>
          </p:blipFill>
          <p:spPr>
            <a:xfrm>
              <a:off x="6121908" y="5076444"/>
              <a:ext cx="1689354" cy="787146"/>
            </a:xfrm>
            <a:prstGeom prst="rect">
              <a:avLst/>
            </a:prstGeom>
          </p:spPr>
        </p:pic>
        <p:pic>
          <p:nvPicPr>
            <p:cNvPr id="22" name="object 22"/>
            <p:cNvPicPr/>
            <p:nvPr/>
          </p:nvPicPr>
          <p:blipFill>
            <a:blip r:embed="rId19" cstate="print"/>
            <a:stretch>
              <a:fillRect/>
            </a:stretch>
          </p:blipFill>
          <p:spPr>
            <a:xfrm>
              <a:off x="7434071" y="5076444"/>
              <a:ext cx="1591818" cy="787146"/>
            </a:xfrm>
            <a:prstGeom prst="rect">
              <a:avLst/>
            </a:prstGeom>
          </p:spPr>
        </p:pic>
        <p:pic>
          <p:nvPicPr>
            <p:cNvPr id="23" name="object 23"/>
            <p:cNvPicPr/>
            <p:nvPr/>
          </p:nvPicPr>
          <p:blipFill>
            <a:blip r:embed="rId4" cstate="print"/>
            <a:stretch>
              <a:fillRect/>
            </a:stretch>
          </p:blipFill>
          <p:spPr>
            <a:xfrm>
              <a:off x="1981200" y="5766815"/>
              <a:ext cx="537210" cy="701802"/>
            </a:xfrm>
            <a:prstGeom prst="rect">
              <a:avLst/>
            </a:prstGeom>
          </p:spPr>
        </p:pic>
        <p:pic>
          <p:nvPicPr>
            <p:cNvPr id="24" name="object 24"/>
            <p:cNvPicPr/>
            <p:nvPr/>
          </p:nvPicPr>
          <p:blipFill>
            <a:blip r:embed="rId20" cstate="print"/>
            <a:stretch>
              <a:fillRect/>
            </a:stretch>
          </p:blipFill>
          <p:spPr>
            <a:xfrm>
              <a:off x="2299716" y="5716523"/>
              <a:ext cx="1236726" cy="787146"/>
            </a:xfrm>
            <a:prstGeom prst="rect">
              <a:avLst/>
            </a:prstGeom>
          </p:spPr>
        </p:pic>
        <p:pic>
          <p:nvPicPr>
            <p:cNvPr id="25" name="object 25"/>
            <p:cNvPicPr/>
            <p:nvPr/>
          </p:nvPicPr>
          <p:blipFill>
            <a:blip r:embed="rId21" cstate="print"/>
            <a:stretch>
              <a:fillRect/>
            </a:stretch>
          </p:blipFill>
          <p:spPr>
            <a:xfrm>
              <a:off x="3159251" y="5716523"/>
              <a:ext cx="1648205" cy="787146"/>
            </a:xfrm>
            <a:prstGeom prst="rect">
              <a:avLst/>
            </a:prstGeom>
          </p:spPr>
        </p:pic>
        <p:pic>
          <p:nvPicPr>
            <p:cNvPr id="26" name="object 26"/>
            <p:cNvPicPr/>
            <p:nvPr/>
          </p:nvPicPr>
          <p:blipFill>
            <a:blip r:embed="rId17" cstate="print"/>
            <a:stretch>
              <a:fillRect/>
            </a:stretch>
          </p:blipFill>
          <p:spPr>
            <a:xfrm>
              <a:off x="4428744" y="5716523"/>
              <a:ext cx="980694" cy="787146"/>
            </a:xfrm>
            <a:prstGeom prst="rect">
              <a:avLst/>
            </a:prstGeom>
          </p:spPr>
        </p:pic>
        <p:pic>
          <p:nvPicPr>
            <p:cNvPr id="27" name="object 27"/>
            <p:cNvPicPr/>
            <p:nvPr/>
          </p:nvPicPr>
          <p:blipFill>
            <a:blip r:embed="rId22" cstate="print"/>
            <a:stretch>
              <a:fillRect/>
            </a:stretch>
          </p:blipFill>
          <p:spPr>
            <a:xfrm>
              <a:off x="5030723" y="5716523"/>
              <a:ext cx="1358646" cy="787146"/>
            </a:xfrm>
            <a:prstGeom prst="rect">
              <a:avLst/>
            </a:prstGeom>
          </p:spPr>
        </p:pic>
      </p:grpSp>
      <p:sp>
        <p:nvSpPr>
          <p:cNvPr id="28" name="object 28"/>
          <p:cNvSpPr txBox="1"/>
          <p:nvPr/>
        </p:nvSpPr>
        <p:spPr>
          <a:xfrm>
            <a:off x="2165095" y="822929"/>
            <a:ext cx="8859520" cy="3677920"/>
          </a:xfrm>
          <a:prstGeom prst="rect">
            <a:avLst/>
          </a:prstGeom>
        </p:spPr>
        <p:txBody>
          <a:bodyPr vert="horz" wrap="square" lIns="0" tIns="89535" rIns="0" bIns="0" rtlCol="0">
            <a:spAutoFit/>
          </a:bodyPr>
          <a:lstStyle/>
          <a:p>
            <a:pPr marL="280670" indent="-269875" algn="just">
              <a:lnSpc>
                <a:spcPct val="100000"/>
              </a:lnSpc>
              <a:spcBef>
                <a:spcPts val="705"/>
              </a:spcBef>
              <a:buSzPct val="91000"/>
              <a:buFont typeface="Wingdings" panose="05000000000000000000"/>
              <a:buChar char=""/>
              <a:tabLst>
                <a:tab pos="280670" algn="l"/>
              </a:tabLst>
            </a:pPr>
            <a:r>
              <a:rPr sz="3600" b="1" dirty="0">
                <a:latin typeface="Times New Roman" panose="02020603050405020304"/>
                <a:cs typeface="Times New Roman" panose="02020603050405020304"/>
              </a:rPr>
              <a:t>Random</a:t>
            </a:r>
            <a:r>
              <a:rPr sz="3600" b="1" spc="-90" dirty="0">
                <a:latin typeface="Times New Roman" panose="02020603050405020304"/>
                <a:cs typeface="Times New Roman" panose="02020603050405020304"/>
              </a:rPr>
              <a:t> </a:t>
            </a:r>
            <a:r>
              <a:rPr sz="3600" b="1" spc="-10" dirty="0">
                <a:latin typeface="Times New Roman" panose="02020603050405020304"/>
                <a:cs typeface="Times New Roman" panose="02020603050405020304"/>
              </a:rPr>
              <a:t>Forest:</a:t>
            </a:r>
            <a:endParaRPr sz="2800">
              <a:latin typeface="Times New Roman" panose="02020603050405020304"/>
              <a:cs typeface="Times New Roman" panose="02020603050405020304"/>
            </a:endParaRPr>
          </a:p>
          <a:p>
            <a:pPr marL="12700" marR="5080" indent="1511935" algn="just">
              <a:lnSpc>
                <a:spcPct val="100000"/>
              </a:lnSpc>
              <a:spcBef>
                <a:spcPts val="605"/>
              </a:spcBef>
            </a:pPr>
            <a:r>
              <a:rPr sz="2800" dirty="0">
                <a:latin typeface="Times New Roman" panose="02020603050405020304"/>
                <a:cs typeface="Times New Roman" panose="02020603050405020304"/>
              </a:rPr>
              <a:t>Random</a:t>
            </a:r>
            <a:r>
              <a:rPr sz="2800" spc="270" dirty="0">
                <a:latin typeface="Times New Roman" panose="02020603050405020304"/>
                <a:cs typeface="Times New Roman" panose="02020603050405020304"/>
              </a:rPr>
              <a:t> </a:t>
            </a:r>
            <a:r>
              <a:rPr sz="2800" dirty="0">
                <a:latin typeface="Times New Roman" panose="02020603050405020304"/>
                <a:cs typeface="Times New Roman" panose="02020603050405020304"/>
              </a:rPr>
              <a:t>Forest</a:t>
            </a:r>
            <a:r>
              <a:rPr sz="2800" spc="290"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285" dirty="0">
                <a:latin typeface="Times New Roman" panose="02020603050405020304"/>
                <a:cs typeface="Times New Roman" panose="02020603050405020304"/>
              </a:rPr>
              <a:t> </a:t>
            </a:r>
            <a:r>
              <a:rPr sz="2800" dirty="0">
                <a:latin typeface="Times New Roman" panose="02020603050405020304"/>
                <a:cs typeface="Times New Roman" panose="02020603050405020304"/>
              </a:rPr>
              <a:t>an</a:t>
            </a:r>
            <a:r>
              <a:rPr sz="2800" spc="275" dirty="0">
                <a:latin typeface="Times New Roman" panose="02020603050405020304"/>
                <a:cs typeface="Times New Roman" panose="02020603050405020304"/>
              </a:rPr>
              <a:t> </a:t>
            </a:r>
            <a:r>
              <a:rPr sz="2800" dirty="0">
                <a:latin typeface="Times New Roman" panose="02020603050405020304"/>
                <a:cs typeface="Times New Roman" panose="02020603050405020304"/>
              </a:rPr>
              <a:t>ensemble</a:t>
            </a:r>
            <a:r>
              <a:rPr sz="2800" spc="290" dirty="0">
                <a:latin typeface="Times New Roman" panose="02020603050405020304"/>
                <a:cs typeface="Times New Roman" panose="02020603050405020304"/>
              </a:rPr>
              <a:t> </a:t>
            </a:r>
            <a:r>
              <a:rPr sz="2800" dirty="0">
                <a:latin typeface="Times New Roman" panose="02020603050405020304"/>
                <a:cs typeface="Times New Roman" panose="02020603050405020304"/>
              </a:rPr>
              <a:t>learning</a:t>
            </a:r>
            <a:r>
              <a:rPr sz="2800" spc="28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algorithm </a:t>
            </a:r>
            <a:r>
              <a:rPr sz="2800" dirty="0">
                <a:latin typeface="Times New Roman" panose="02020603050405020304"/>
                <a:cs typeface="Times New Roman" panose="02020603050405020304"/>
              </a:rPr>
              <a:t>that</a:t>
            </a:r>
            <a:r>
              <a:rPr sz="2800" spc="390" dirty="0">
                <a:latin typeface="Times New Roman" panose="02020603050405020304"/>
                <a:cs typeface="Times New Roman" panose="02020603050405020304"/>
              </a:rPr>
              <a:t> </a:t>
            </a:r>
            <a:r>
              <a:rPr sz="2800" dirty="0">
                <a:latin typeface="Times New Roman" panose="02020603050405020304"/>
                <a:cs typeface="Times New Roman" panose="02020603050405020304"/>
              </a:rPr>
              <a:t>combines</a:t>
            </a:r>
            <a:r>
              <a:rPr sz="2800" spc="400" dirty="0">
                <a:latin typeface="Times New Roman" panose="02020603050405020304"/>
                <a:cs typeface="Times New Roman" panose="02020603050405020304"/>
              </a:rPr>
              <a:t> </a:t>
            </a:r>
            <a:r>
              <a:rPr sz="2800" dirty="0">
                <a:latin typeface="Times New Roman" panose="02020603050405020304"/>
                <a:cs typeface="Times New Roman" panose="02020603050405020304"/>
              </a:rPr>
              <a:t>multiple</a:t>
            </a:r>
            <a:r>
              <a:rPr sz="2800" spc="390" dirty="0">
                <a:latin typeface="Times New Roman" panose="02020603050405020304"/>
                <a:cs typeface="Times New Roman" panose="02020603050405020304"/>
              </a:rPr>
              <a:t> </a:t>
            </a:r>
            <a:r>
              <a:rPr sz="2800" dirty="0">
                <a:latin typeface="Times New Roman" panose="02020603050405020304"/>
                <a:cs typeface="Times New Roman" panose="02020603050405020304"/>
              </a:rPr>
              <a:t>decision</a:t>
            </a:r>
            <a:r>
              <a:rPr sz="2800" spc="409" dirty="0">
                <a:latin typeface="Times New Roman" panose="02020603050405020304"/>
                <a:cs typeface="Times New Roman" panose="02020603050405020304"/>
              </a:rPr>
              <a:t> </a:t>
            </a:r>
            <a:r>
              <a:rPr sz="2800" dirty="0">
                <a:latin typeface="Times New Roman" panose="02020603050405020304"/>
                <a:cs typeface="Times New Roman" panose="02020603050405020304"/>
              </a:rPr>
              <a:t>trees</a:t>
            </a:r>
            <a:r>
              <a:rPr sz="2800" spc="400" dirty="0">
                <a:latin typeface="Times New Roman" panose="02020603050405020304"/>
                <a:cs typeface="Times New Roman" panose="02020603050405020304"/>
              </a:rPr>
              <a:t> </a:t>
            </a:r>
            <a:r>
              <a:rPr sz="2800" dirty="0">
                <a:latin typeface="Times New Roman" panose="02020603050405020304"/>
                <a:cs typeface="Times New Roman" panose="02020603050405020304"/>
              </a:rPr>
              <a:t>to</a:t>
            </a:r>
            <a:r>
              <a:rPr sz="2800" spc="395" dirty="0">
                <a:latin typeface="Times New Roman" panose="02020603050405020304"/>
                <a:cs typeface="Times New Roman" panose="02020603050405020304"/>
              </a:rPr>
              <a:t> </a:t>
            </a:r>
            <a:r>
              <a:rPr sz="2800" dirty="0">
                <a:latin typeface="Times New Roman" panose="02020603050405020304"/>
                <a:cs typeface="Times New Roman" panose="02020603050405020304"/>
              </a:rPr>
              <a:t>improve</a:t>
            </a:r>
            <a:r>
              <a:rPr sz="2800" spc="39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prediction </a:t>
            </a:r>
            <a:r>
              <a:rPr sz="2800" dirty="0">
                <a:latin typeface="Times New Roman" panose="02020603050405020304"/>
                <a:cs typeface="Times New Roman" panose="02020603050405020304"/>
              </a:rPr>
              <a:t>accuracy.</a:t>
            </a:r>
            <a:r>
              <a:rPr sz="2800" spc="685" dirty="0">
                <a:latin typeface="Times New Roman" panose="02020603050405020304"/>
                <a:cs typeface="Times New Roman" panose="02020603050405020304"/>
              </a:rPr>
              <a:t> </a:t>
            </a:r>
            <a:r>
              <a:rPr sz="2800" dirty="0">
                <a:latin typeface="Times New Roman" panose="02020603050405020304"/>
                <a:cs typeface="Times New Roman" panose="02020603050405020304"/>
              </a:rPr>
              <a:t>The</a:t>
            </a:r>
            <a:r>
              <a:rPr sz="2800" spc="675" dirty="0">
                <a:latin typeface="Times New Roman" panose="02020603050405020304"/>
                <a:cs typeface="Times New Roman" panose="02020603050405020304"/>
              </a:rPr>
              <a:t> </a:t>
            </a:r>
            <a:r>
              <a:rPr sz="2800" dirty="0">
                <a:latin typeface="Times New Roman" panose="02020603050405020304"/>
                <a:cs typeface="Times New Roman" panose="02020603050405020304"/>
              </a:rPr>
              <a:t>final</a:t>
            </a:r>
            <a:r>
              <a:rPr sz="2800" spc="680" dirty="0">
                <a:latin typeface="Times New Roman" panose="02020603050405020304"/>
                <a:cs typeface="Times New Roman" panose="02020603050405020304"/>
              </a:rPr>
              <a:t> </a:t>
            </a:r>
            <a:r>
              <a:rPr sz="2800" dirty="0">
                <a:latin typeface="Times New Roman" panose="02020603050405020304"/>
                <a:cs typeface="Times New Roman" panose="02020603050405020304"/>
              </a:rPr>
              <a:t>output</a:t>
            </a:r>
            <a:r>
              <a:rPr sz="2800" spc="665" dirty="0">
                <a:latin typeface="Times New Roman" panose="02020603050405020304"/>
                <a:cs typeface="Times New Roman" panose="02020603050405020304"/>
              </a:rPr>
              <a:t> </a:t>
            </a:r>
            <a:r>
              <a:rPr sz="2800" dirty="0">
                <a:latin typeface="Times New Roman" panose="02020603050405020304"/>
                <a:cs typeface="Times New Roman" panose="02020603050405020304"/>
              </a:rPr>
              <a:t>is</a:t>
            </a:r>
            <a:r>
              <a:rPr sz="2800" spc="670" dirty="0">
                <a:latin typeface="Times New Roman" panose="02020603050405020304"/>
                <a:cs typeface="Times New Roman" panose="02020603050405020304"/>
              </a:rPr>
              <a:t> </a:t>
            </a:r>
            <a:r>
              <a:rPr sz="2800" dirty="0">
                <a:latin typeface="Times New Roman" panose="02020603050405020304"/>
                <a:cs typeface="Times New Roman" panose="02020603050405020304"/>
              </a:rPr>
              <a:t>obtained</a:t>
            </a:r>
            <a:r>
              <a:rPr sz="2800" spc="675" dirty="0">
                <a:latin typeface="Times New Roman" panose="02020603050405020304"/>
                <a:cs typeface="Times New Roman" panose="02020603050405020304"/>
              </a:rPr>
              <a:t> </a:t>
            </a:r>
            <a:r>
              <a:rPr sz="2800" dirty="0">
                <a:latin typeface="Times New Roman" panose="02020603050405020304"/>
                <a:cs typeface="Times New Roman" panose="02020603050405020304"/>
              </a:rPr>
              <a:t>by</a:t>
            </a:r>
            <a:r>
              <a:rPr sz="2800" spc="690" dirty="0">
                <a:latin typeface="Times New Roman" panose="02020603050405020304"/>
                <a:cs typeface="Times New Roman" panose="02020603050405020304"/>
              </a:rPr>
              <a:t> </a:t>
            </a:r>
            <a:r>
              <a:rPr sz="2800" dirty="0">
                <a:latin typeface="Times New Roman" panose="02020603050405020304"/>
                <a:cs typeface="Times New Roman" panose="02020603050405020304"/>
              </a:rPr>
              <a:t>majority</a:t>
            </a:r>
            <a:r>
              <a:rPr sz="2800" spc="69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voting </a:t>
            </a:r>
            <a:r>
              <a:rPr sz="2800" dirty="0">
                <a:latin typeface="Times New Roman" panose="02020603050405020304"/>
                <a:cs typeface="Times New Roman" panose="02020603050405020304"/>
              </a:rPr>
              <a:t>(classification)</a:t>
            </a:r>
            <a:r>
              <a:rPr sz="2800" spc="-35" dirty="0">
                <a:latin typeface="Times New Roman" panose="02020603050405020304"/>
                <a:cs typeface="Times New Roman" panose="02020603050405020304"/>
              </a:rPr>
              <a:t> </a:t>
            </a:r>
            <a:r>
              <a:rPr sz="2800" dirty="0">
                <a:latin typeface="Times New Roman" panose="02020603050405020304"/>
                <a:cs typeface="Times New Roman" panose="02020603050405020304"/>
              </a:rPr>
              <a:t>or</a:t>
            </a:r>
            <a:r>
              <a:rPr sz="2800" spc="-15" dirty="0">
                <a:latin typeface="Times New Roman" panose="02020603050405020304"/>
                <a:cs typeface="Times New Roman" panose="02020603050405020304"/>
              </a:rPr>
              <a:t> </a:t>
            </a:r>
            <a:r>
              <a:rPr sz="2800" dirty="0">
                <a:latin typeface="Times New Roman" panose="02020603050405020304"/>
                <a:cs typeface="Times New Roman" panose="02020603050405020304"/>
              </a:rPr>
              <a:t>average</a:t>
            </a:r>
            <a:r>
              <a:rPr sz="2800" spc="-20"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(regression).</a:t>
            </a:r>
            <a:endParaRPr sz="2800">
              <a:latin typeface="Times New Roman" panose="02020603050405020304"/>
              <a:cs typeface="Times New Roman" panose="02020603050405020304"/>
            </a:endParaRPr>
          </a:p>
          <a:p>
            <a:pPr>
              <a:lnSpc>
                <a:spcPct val="100000"/>
              </a:lnSpc>
              <a:spcBef>
                <a:spcPts val="2900"/>
              </a:spcBef>
            </a:pPr>
            <a:endParaRPr sz="2800">
              <a:latin typeface="Times New Roman" panose="02020603050405020304"/>
              <a:cs typeface="Times New Roman" panose="02020603050405020304"/>
            </a:endParaRPr>
          </a:p>
          <a:p>
            <a:pPr marL="12700">
              <a:lnSpc>
                <a:spcPct val="100000"/>
              </a:lnSpc>
            </a:pPr>
            <a:endParaRPr sz="280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844675" y="786130"/>
            <a:ext cx="8876030" cy="535241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3114548" y="17475"/>
            <a:ext cx="3860165" cy="690245"/>
          </a:xfrm>
          <a:prstGeom prst="rect">
            <a:avLst/>
          </a:prstGeom>
        </p:spPr>
        <p:txBody>
          <a:bodyPr vert="horz" wrap="square" lIns="0" tIns="13335" rIns="0" bIns="0" rtlCol="0">
            <a:spAutoFit/>
          </a:bodyPr>
          <a:lstStyle/>
          <a:p>
            <a:pPr marL="12700">
              <a:lnSpc>
                <a:spcPct val="100000"/>
              </a:lnSpc>
              <a:spcBef>
                <a:spcPts val="105"/>
              </a:spcBef>
            </a:pPr>
            <a:r>
              <a:rPr spc="-65" dirty="0">
                <a:latin typeface="Times New Roman" panose="02020603050405020304" charset="0"/>
                <a:cs typeface="Times New Roman" panose="02020603050405020304" charset="0"/>
              </a:rPr>
              <a:t>ADVANTAGES</a:t>
            </a:r>
            <a:endParaRPr spc="-65" dirty="0">
              <a:latin typeface="Times New Roman" panose="02020603050405020304" charset="0"/>
              <a:cs typeface="Times New Roman" panose="02020603050405020304" charset="0"/>
            </a:endParaRPr>
          </a:p>
        </p:txBody>
      </p:sp>
      <p:sp>
        <p:nvSpPr>
          <p:cNvPr id="8" name="object 8"/>
          <p:cNvSpPr txBox="1"/>
          <p:nvPr/>
        </p:nvSpPr>
        <p:spPr>
          <a:xfrm>
            <a:off x="2305939" y="800586"/>
            <a:ext cx="6567170" cy="5182870"/>
          </a:xfrm>
          <a:prstGeom prst="rect">
            <a:avLst/>
          </a:prstGeom>
        </p:spPr>
        <p:txBody>
          <a:bodyPr vert="horz" wrap="square" lIns="0" tIns="226695" rIns="0" bIns="0" rtlCol="0">
            <a:spAutoFit/>
          </a:bodyPr>
          <a:lstStyle/>
          <a:p>
            <a:pPr marL="354965" indent="-342265">
              <a:lnSpc>
                <a:spcPct val="100000"/>
              </a:lnSpc>
              <a:spcBef>
                <a:spcPts val="1785"/>
              </a:spcBef>
              <a:buFont typeface="Wingdings" panose="05000000000000000000"/>
              <a:buChar char=""/>
              <a:tabLst>
                <a:tab pos="354965" algn="l"/>
              </a:tabLst>
            </a:pPr>
            <a:r>
              <a:rPr sz="2800" dirty="0">
                <a:latin typeface="Times New Roman" panose="02020603050405020304" charset="0"/>
                <a:cs typeface="Times New Roman" panose="02020603050405020304" charset="0"/>
              </a:rPr>
              <a:t>Identifying</a:t>
            </a:r>
            <a:r>
              <a:rPr sz="2800" spc="-8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the</a:t>
            </a:r>
            <a:r>
              <a:rPr sz="2800" spc="-8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crime</a:t>
            </a:r>
            <a:r>
              <a:rPr sz="2800" spc="-8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hotspots.</a:t>
            </a:r>
            <a:endParaRPr sz="2800">
              <a:latin typeface="Times New Roman" panose="02020603050405020304" charset="0"/>
              <a:cs typeface="Times New Roman" panose="02020603050405020304" charset="0"/>
            </a:endParaRPr>
          </a:p>
          <a:p>
            <a:pPr marL="354965" indent="-342265">
              <a:lnSpc>
                <a:spcPct val="100000"/>
              </a:lnSpc>
              <a:spcBef>
                <a:spcPts val="1685"/>
              </a:spcBef>
              <a:buFont typeface="Wingdings" panose="05000000000000000000"/>
              <a:buChar char=""/>
              <a:tabLst>
                <a:tab pos="354965" algn="l"/>
              </a:tabLst>
            </a:pPr>
            <a:r>
              <a:rPr sz="2800" dirty="0">
                <a:latin typeface="Times New Roman" panose="02020603050405020304" charset="0"/>
                <a:cs typeface="Times New Roman" panose="02020603050405020304" charset="0"/>
              </a:rPr>
              <a:t>Accurate</a:t>
            </a:r>
            <a:r>
              <a:rPr sz="2800" spc="-10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Crime</a:t>
            </a:r>
            <a:r>
              <a:rPr sz="2800" spc="-7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prediction</a:t>
            </a:r>
            <a:endParaRPr sz="2800">
              <a:latin typeface="Times New Roman" panose="02020603050405020304" charset="0"/>
              <a:cs typeface="Times New Roman" panose="02020603050405020304" charset="0"/>
            </a:endParaRPr>
          </a:p>
          <a:p>
            <a:pPr marL="354965" indent="-342265">
              <a:lnSpc>
                <a:spcPct val="100000"/>
              </a:lnSpc>
              <a:spcBef>
                <a:spcPts val="1680"/>
              </a:spcBef>
              <a:buFont typeface="Wingdings" panose="05000000000000000000"/>
              <a:buChar char=""/>
              <a:tabLst>
                <a:tab pos="354965" algn="l"/>
              </a:tabLst>
            </a:pPr>
            <a:r>
              <a:rPr sz="2800" spc="-20" dirty="0">
                <a:latin typeface="Times New Roman" panose="02020603050405020304" charset="0"/>
                <a:cs typeface="Times New Roman" panose="02020603050405020304" charset="0"/>
              </a:rPr>
              <a:t>Real-</a:t>
            </a:r>
            <a:r>
              <a:rPr sz="2800" dirty="0">
                <a:latin typeface="Times New Roman" panose="02020603050405020304" charset="0"/>
                <a:cs typeface="Times New Roman" panose="02020603050405020304" charset="0"/>
              </a:rPr>
              <a:t>Time</a:t>
            </a:r>
            <a:r>
              <a:rPr sz="2800" spc="-10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Crime</a:t>
            </a:r>
            <a:r>
              <a:rPr sz="2800" spc="-18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Analysis</a:t>
            </a:r>
            <a:endParaRPr sz="2800">
              <a:latin typeface="Times New Roman" panose="02020603050405020304" charset="0"/>
              <a:cs typeface="Times New Roman" panose="02020603050405020304" charset="0"/>
            </a:endParaRPr>
          </a:p>
          <a:p>
            <a:pPr marL="354965" indent="-342265">
              <a:lnSpc>
                <a:spcPct val="100000"/>
              </a:lnSpc>
              <a:spcBef>
                <a:spcPts val="1680"/>
              </a:spcBef>
              <a:buFont typeface="Wingdings" panose="05000000000000000000"/>
              <a:buChar char=""/>
              <a:tabLst>
                <a:tab pos="354965" algn="l"/>
              </a:tabLst>
            </a:pPr>
            <a:r>
              <a:rPr sz="2800" dirty="0">
                <a:latin typeface="Times New Roman" panose="02020603050405020304" charset="0"/>
                <a:cs typeface="Times New Roman" panose="02020603050405020304" charset="0"/>
              </a:rPr>
              <a:t>Reduced</a:t>
            </a:r>
            <a:r>
              <a:rPr sz="2800" spc="-8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Crime</a:t>
            </a:r>
            <a:r>
              <a:rPr sz="2800" spc="-7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Rates</a:t>
            </a:r>
            <a:endParaRPr sz="2800">
              <a:latin typeface="Times New Roman" panose="02020603050405020304" charset="0"/>
              <a:cs typeface="Times New Roman" panose="02020603050405020304" charset="0"/>
            </a:endParaRPr>
          </a:p>
          <a:p>
            <a:pPr marL="354965" indent="-342265">
              <a:lnSpc>
                <a:spcPct val="100000"/>
              </a:lnSpc>
              <a:spcBef>
                <a:spcPts val="1680"/>
              </a:spcBef>
              <a:buFont typeface="Wingdings" panose="05000000000000000000"/>
              <a:buChar char=""/>
              <a:tabLst>
                <a:tab pos="354965" algn="l"/>
              </a:tabLst>
            </a:pPr>
            <a:r>
              <a:rPr sz="2800" dirty="0">
                <a:latin typeface="Times New Roman" panose="02020603050405020304" charset="0"/>
                <a:cs typeface="Times New Roman" panose="02020603050405020304" charset="0"/>
              </a:rPr>
              <a:t>Improved</a:t>
            </a:r>
            <a:r>
              <a:rPr sz="2800" spc="-8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Public</a:t>
            </a:r>
            <a:r>
              <a:rPr sz="2800" spc="-9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Safety</a:t>
            </a:r>
            <a:endParaRPr sz="2800">
              <a:latin typeface="Times New Roman" panose="02020603050405020304" charset="0"/>
              <a:cs typeface="Times New Roman" panose="02020603050405020304" charset="0"/>
            </a:endParaRPr>
          </a:p>
          <a:p>
            <a:pPr marL="354965" indent="-342265">
              <a:lnSpc>
                <a:spcPct val="100000"/>
              </a:lnSpc>
              <a:spcBef>
                <a:spcPts val="1680"/>
              </a:spcBef>
              <a:buFont typeface="Wingdings" panose="05000000000000000000"/>
              <a:buChar char=""/>
              <a:tabLst>
                <a:tab pos="354965" algn="l"/>
              </a:tabLst>
            </a:pPr>
            <a:r>
              <a:rPr sz="2800" dirty="0">
                <a:latin typeface="Times New Roman" panose="02020603050405020304" charset="0"/>
                <a:cs typeface="Times New Roman" panose="02020603050405020304" charset="0"/>
              </a:rPr>
              <a:t>Handling</a:t>
            </a:r>
            <a:r>
              <a:rPr sz="2800" spc="-7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Large</a:t>
            </a:r>
            <a:r>
              <a:rPr sz="2800" spc="-9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Datasets</a:t>
            </a:r>
            <a:endParaRPr sz="2800">
              <a:latin typeface="Times New Roman" panose="02020603050405020304" charset="0"/>
              <a:cs typeface="Times New Roman" panose="02020603050405020304" charset="0"/>
            </a:endParaRPr>
          </a:p>
          <a:p>
            <a:pPr marL="354965" indent="-342265">
              <a:lnSpc>
                <a:spcPct val="100000"/>
              </a:lnSpc>
              <a:spcBef>
                <a:spcPts val="1685"/>
              </a:spcBef>
              <a:buFont typeface="Wingdings" panose="05000000000000000000"/>
              <a:buChar char=""/>
              <a:tabLst>
                <a:tab pos="354965" algn="l"/>
              </a:tabLst>
            </a:pPr>
            <a:r>
              <a:rPr sz="2800" dirty="0">
                <a:latin typeface="Times New Roman" panose="02020603050405020304" charset="0"/>
                <a:cs typeface="Times New Roman" panose="02020603050405020304" charset="0"/>
              </a:rPr>
              <a:t>Faster</a:t>
            </a:r>
            <a:r>
              <a:rPr sz="2800" spc="-6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Investigations</a:t>
            </a:r>
            <a:endParaRPr sz="2800">
              <a:latin typeface="Times New Roman" panose="02020603050405020304" charset="0"/>
              <a:cs typeface="Times New Roman" panose="02020603050405020304" charset="0"/>
            </a:endParaRPr>
          </a:p>
          <a:p>
            <a:pPr marL="354965" indent="-342265">
              <a:lnSpc>
                <a:spcPct val="100000"/>
              </a:lnSpc>
              <a:spcBef>
                <a:spcPts val="1680"/>
              </a:spcBef>
              <a:buFont typeface="Wingdings" panose="05000000000000000000"/>
              <a:buChar char=""/>
              <a:tabLst>
                <a:tab pos="354965" algn="l"/>
              </a:tabLst>
            </a:pPr>
            <a:r>
              <a:rPr sz="2800" dirty="0">
                <a:latin typeface="Times New Roman" panose="02020603050405020304" charset="0"/>
                <a:cs typeface="Times New Roman" panose="02020603050405020304" charset="0"/>
              </a:rPr>
              <a:t>Predicting</a:t>
            </a:r>
            <a:r>
              <a:rPr sz="2800" spc="-8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the</a:t>
            </a:r>
            <a:r>
              <a:rPr sz="2800" spc="-7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future</a:t>
            </a:r>
            <a:r>
              <a:rPr sz="2800" spc="-8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crime</a:t>
            </a:r>
            <a:r>
              <a:rPr sz="2800" spc="-7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occurrences</a:t>
            </a:r>
            <a:endParaRPr sz="2800">
              <a:latin typeface="Times New Roman" panose="02020603050405020304" charset="0"/>
              <a:cs typeface="Times New Roman" panose="020206030504050203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8599" y="380873"/>
            <a:ext cx="3883025" cy="690245"/>
          </a:xfrm>
          <a:prstGeom prst="rect">
            <a:avLst/>
          </a:prstGeom>
        </p:spPr>
        <p:txBody>
          <a:bodyPr vert="horz" wrap="square" lIns="0" tIns="13335" rIns="0" bIns="0" rtlCol="0">
            <a:spAutoFit/>
          </a:bodyPr>
          <a:lstStyle/>
          <a:p>
            <a:pPr marL="12700">
              <a:lnSpc>
                <a:spcPct val="100000"/>
              </a:lnSpc>
              <a:spcBef>
                <a:spcPts val="105"/>
              </a:spcBef>
            </a:pPr>
            <a:r>
              <a:rPr spc="-310" dirty="0">
                <a:latin typeface="Times New Roman" panose="02020603050405020304" charset="0"/>
                <a:cs typeface="Times New Roman" panose="02020603050405020304" charset="0"/>
              </a:rPr>
              <a:t>APPLICATIONS</a:t>
            </a:r>
            <a:endParaRPr spc="-310" dirty="0">
              <a:latin typeface="Times New Roman" panose="02020603050405020304" charset="0"/>
              <a:cs typeface="Times New Roman" panose="02020603050405020304" charset="0"/>
            </a:endParaRPr>
          </a:p>
        </p:txBody>
      </p:sp>
      <p:sp>
        <p:nvSpPr>
          <p:cNvPr id="3" name="object 3"/>
          <p:cNvSpPr txBox="1">
            <a:spLocks noGrp="1"/>
          </p:cNvSpPr>
          <p:nvPr>
            <p:ph type="body" idx="1"/>
          </p:nvPr>
        </p:nvSpPr>
        <p:spPr>
          <a:xfrm>
            <a:off x="3047746" y="1371422"/>
            <a:ext cx="6273165" cy="5272405"/>
          </a:xfrm>
          <a:prstGeom prst="rect">
            <a:avLst/>
          </a:prstGeom>
        </p:spPr>
        <p:txBody>
          <a:bodyPr vert="horz" wrap="square" lIns="0" tIns="12065" rIns="0" bIns="0" rtlCol="0">
            <a:spAutoFit/>
          </a:bodyPr>
          <a:lstStyle/>
          <a:p>
            <a:pPr marL="469265" indent="-456565">
              <a:lnSpc>
                <a:spcPct val="100000"/>
              </a:lnSpc>
              <a:spcBef>
                <a:spcPts val="95"/>
              </a:spcBef>
              <a:buFont typeface="Wingdings" panose="05000000000000000000"/>
              <a:buChar char=""/>
              <a:tabLst>
                <a:tab pos="469265" algn="l"/>
                <a:tab pos="2898775" algn="l"/>
                <a:tab pos="4496435" algn="l"/>
              </a:tabLst>
            </a:pPr>
            <a:r>
              <a:rPr sz="2800" spc="-25" dirty="0">
                <a:latin typeface="Times New Roman" panose="02020603050405020304" charset="0"/>
                <a:cs typeface="Times New Roman" panose="02020603050405020304" charset="0"/>
              </a:rPr>
              <a:t>Real-</a:t>
            </a:r>
            <a:r>
              <a:rPr sz="2800" spc="-20" dirty="0">
                <a:latin typeface="Times New Roman" panose="02020603050405020304" charset="0"/>
                <a:cs typeface="Times New Roman" panose="02020603050405020304" charset="0"/>
              </a:rPr>
              <a:t>time</a:t>
            </a:r>
            <a:r>
              <a:rPr lang="en-IN" sz="2800" spc="-20" dirty="0">
                <a:latin typeface="Times New Roman" panose="02020603050405020304" charset="0"/>
                <a:cs typeface="Times New Roman" panose="02020603050405020304" charset="0"/>
              </a:rPr>
              <a:t> </a:t>
            </a:r>
            <a:r>
              <a:rPr sz="2800" spc="-20" dirty="0">
                <a:latin typeface="Times New Roman" panose="02020603050405020304" charset="0"/>
                <a:cs typeface="Times New Roman" panose="02020603050405020304" charset="0"/>
              </a:rPr>
              <a:t>data</a:t>
            </a:r>
            <a:r>
              <a:rPr sz="280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integration.</a:t>
            </a:r>
            <a:endParaRPr sz="2800" spc="-10" dirty="0">
              <a:latin typeface="Times New Roman" panose="02020603050405020304" charset="0"/>
              <a:cs typeface="Times New Roman" panose="02020603050405020304" charset="0"/>
            </a:endParaRPr>
          </a:p>
          <a:p>
            <a:pPr>
              <a:lnSpc>
                <a:spcPct val="100000"/>
              </a:lnSpc>
              <a:spcBef>
                <a:spcPts val="145"/>
              </a:spcBef>
              <a:buFont typeface="Wingdings" panose="05000000000000000000"/>
              <a:buChar char=""/>
            </a:pPr>
            <a:endParaRPr sz="2800">
              <a:latin typeface="Times New Roman" panose="02020603050405020304" charset="0"/>
              <a:cs typeface="Times New Roman" panose="02020603050405020304" charset="0"/>
            </a:endParaRPr>
          </a:p>
          <a:p>
            <a:pPr marL="469265" indent="-456565">
              <a:lnSpc>
                <a:spcPct val="100000"/>
              </a:lnSpc>
              <a:buFont typeface="Wingdings" panose="05000000000000000000"/>
              <a:buChar char=""/>
              <a:tabLst>
                <a:tab pos="469265" algn="l"/>
              </a:tabLst>
            </a:pPr>
            <a:r>
              <a:rPr sz="2800" dirty="0">
                <a:latin typeface="Times New Roman" panose="02020603050405020304" charset="0"/>
                <a:cs typeface="Times New Roman" panose="02020603050405020304" charset="0"/>
              </a:rPr>
              <a:t>GIS</a:t>
            </a:r>
            <a:r>
              <a:rPr sz="2800" spc="-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mapping.</a:t>
            </a:r>
            <a:endParaRPr sz="2800" spc="-10" dirty="0">
              <a:latin typeface="Times New Roman" panose="02020603050405020304" charset="0"/>
              <a:cs typeface="Times New Roman" panose="02020603050405020304" charset="0"/>
            </a:endParaRPr>
          </a:p>
          <a:p>
            <a:pPr>
              <a:lnSpc>
                <a:spcPct val="100000"/>
              </a:lnSpc>
              <a:spcBef>
                <a:spcPts val="140"/>
              </a:spcBef>
              <a:buFont typeface="Wingdings" panose="05000000000000000000"/>
              <a:buChar char=""/>
            </a:pPr>
            <a:endParaRPr sz="2800">
              <a:latin typeface="Times New Roman" panose="02020603050405020304" charset="0"/>
              <a:cs typeface="Times New Roman" panose="02020603050405020304" charset="0"/>
            </a:endParaRPr>
          </a:p>
          <a:p>
            <a:pPr marL="469265" indent="-456565">
              <a:lnSpc>
                <a:spcPct val="100000"/>
              </a:lnSpc>
              <a:buFont typeface="Wingdings" panose="05000000000000000000"/>
              <a:buChar char=""/>
              <a:tabLst>
                <a:tab pos="469265" algn="l"/>
              </a:tabLst>
            </a:pPr>
            <a:r>
              <a:rPr sz="2800" spc="-10" dirty="0">
                <a:latin typeface="Times New Roman" panose="02020603050405020304" charset="0"/>
                <a:cs typeface="Times New Roman" panose="02020603050405020304" charset="0"/>
              </a:rPr>
              <a:t>AI-</a:t>
            </a:r>
            <a:r>
              <a:rPr sz="2800" dirty="0">
                <a:latin typeface="Times New Roman" panose="02020603050405020304" charset="0"/>
                <a:cs typeface="Times New Roman" panose="02020603050405020304" charset="0"/>
              </a:rPr>
              <a:t>based</a:t>
            </a:r>
            <a:r>
              <a:rPr sz="2800" spc="-4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alert</a:t>
            </a:r>
            <a:r>
              <a:rPr sz="2800" spc="-3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systems.</a:t>
            </a:r>
            <a:endParaRPr sz="2800" spc="-10" dirty="0">
              <a:latin typeface="Times New Roman" panose="02020603050405020304" charset="0"/>
              <a:cs typeface="Times New Roman" panose="02020603050405020304" charset="0"/>
            </a:endParaRPr>
          </a:p>
          <a:p>
            <a:pPr>
              <a:lnSpc>
                <a:spcPct val="100000"/>
              </a:lnSpc>
              <a:spcBef>
                <a:spcPts val="140"/>
              </a:spcBef>
              <a:buFont typeface="Wingdings" panose="05000000000000000000"/>
              <a:buChar char=""/>
            </a:pPr>
            <a:endParaRPr sz="2800">
              <a:latin typeface="Times New Roman" panose="02020603050405020304" charset="0"/>
              <a:cs typeface="Times New Roman" panose="02020603050405020304" charset="0"/>
            </a:endParaRPr>
          </a:p>
          <a:p>
            <a:pPr marL="469265" indent="-456565">
              <a:lnSpc>
                <a:spcPct val="100000"/>
              </a:lnSpc>
              <a:buFont typeface="Wingdings" panose="05000000000000000000"/>
              <a:buChar char=""/>
              <a:tabLst>
                <a:tab pos="469265" algn="l"/>
              </a:tabLst>
            </a:pPr>
            <a:r>
              <a:rPr sz="2800" dirty="0">
                <a:latin typeface="Times New Roman" panose="02020603050405020304" charset="0"/>
                <a:cs typeface="Times New Roman" panose="02020603050405020304" charset="0"/>
              </a:rPr>
              <a:t>Crime</a:t>
            </a:r>
            <a:r>
              <a:rPr sz="2800" spc="-5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prevention</a:t>
            </a:r>
            <a:endParaRPr sz="2800" spc="-10" dirty="0">
              <a:latin typeface="Times New Roman" panose="02020603050405020304" charset="0"/>
              <a:cs typeface="Times New Roman" panose="02020603050405020304" charset="0"/>
            </a:endParaRPr>
          </a:p>
          <a:p>
            <a:pPr>
              <a:lnSpc>
                <a:spcPct val="100000"/>
              </a:lnSpc>
              <a:spcBef>
                <a:spcPts val="145"/>
              </a:spcBef>
              <a:buFont typeface="Wingdings" panose="05000000000000000000"/>
              <a:buChar char=""/>
            </a:pPr>
            <a:endParaRPr sz="2800">
              <a:latin typeface="Times New Roman" panose="02020603050405020304" charset="0"/>
              <a:cs typeface="Times New Roman" panose="02020603050405020304" charset="0"/>
            </a:endParaRPr>
          </a:p>
          <a:p>
            <a:pPr marL="469265" indent="-456565">
              <a:lnSpc>
                <a:spcPct val="100000"/>
              </a:lnSpc>
              <a:buFont typeface="Wingdings" panose="05000000000000000000"/>
              <a:buChar char=""/>
              <a:tabLst>
                <a:tab pos="469265" algn="l"/>
              </a:tabLst>
            </a:pPr>
            <a:r>
              <a:rPr sz="2800" dirty="0">
                <a:latin typeface="Times New Roman" panose="02020603050405020304" charset="0"/>
                <a:cs typeface="Times New Roman" panose="02020603050405020304" charset="0"/>
              </a:rPr>
              <a:t>Law</a:t>
            </a:r>
            <a:r>
              <a:rPr sz="2800" spc="-90"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enforcement</a:t>
            </a:r>
            <a:r>
              <a:rPr sz="2800" spc="-7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support.</a:t>
            </a:r>
            <a:endParaRPr sz="2800" spc="-10" dirty="0">
              <a:latin typeface="Times New Roman" panose="02020603050405020304" charset="0"/>
              <a:cs typeface="Times New Roman" panose="02020603050405020304" charset="0"/>
            </a:endParaRPr>
          </a:p>
          <a:p>
            <a:pPr>
              <a:lnSpc>
                <a:spcPct val="100000"/>
              </a:lnSpc>
              <a:spcBef>
                <a:spcPts val="140"/>
              </a:spcBef>
              <a:buFont typeface="Wingdings" panose="05000000000000000000"/>
              <a:buChar char=""/>
            </a:pPr>
            <a:endParaRPr sz="2800">
              <a:latin typeface="Times New Roman" panose="02020603050405020304" charset="0"/>
              <a:cs typeface="Times New Roman" panose="02020603050405020304" charset="0"/>
            </a:endParaRPr>
          </a:p>
          <a:p>
            <a:pPr marL="469265" indent="-456565">
              <a:lnSpc>
                <a:spcPct val="100000"/>
              </a:lnSpc>
              <a:buFont typeface="Wingdings" panose="05000000000000000000"/>
              <a:buChar char=""/>
              <a:tabLst>
                <a:tab pos="469265" algn="l"/>
              </a:tabLst>
            </a:pPr>
            <a:r>
              <a:rPr sz="2800" dirty="0">
                <a:latin typeface="Times New Roman" panose="02020603050405020304" charset="0"/>
                <a:cs typeface="Times New Roman" panose="02020603050405020304" charset="0"/>
              </a:rPr>
              <a:t>Public</a:t>
            </a:r>
            <a:r>
              <a:rPr sz="2800" spc="-75" dirty="0">
                <a:latin typeface="Times New Roman" panose="02020603050405020304" charset="0"/>
                <a:cs typeface="Times New Roman" panose="02020603050405020304" charset="0"/>
              </a:rPr>
              <a:t> </a:t>
            </a:r>
            <a:r>
              <a:rPr sz="2800" dirty="0">
                <a:latin typeface="Times New Roman" panose="02020603050405020304" charset="0"/>
                <a:cs typeface="Times New Roman" panose="02020603050405020304" charset="0"/>
              </a:rPr>
              <a:t>safety</a:t>
            </a:r>
            <a:r>
              <a:rPr sz="2800" spc="-7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improvement.</a:t>
            </a:r>
            <a:endParaRPr sz="2800" spc="-10" dirty="0">
              <a:latin typeface="Times New Roman" panose="02020603050405020304" charset="0"/>
              <a:cs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52801" y="471043"/>
            <a:ext cx="6637020" cy="690245"/>
          </a:xfrm>
          <a:prstGeom prst="rect">
            <a:avLst/>
          </a:prstGeom>
        </p:spPr>
        <p:txBody>
          <a:bodyPr vert="horz" wrap="square" lIns="0" tIns="13335" rIns="0" bIns="0" rtlCol="0">
            <a:spAutoFit/>
          </a:bodyPr>
          <a:lstStyle/>
          <a:p>
            <a:pPr marL="12700">
              <a:lnSpc>
                <a:spcPct val="100000"/>
              </a:lnSpc>
              <a:spcBef>
                <a:spcPts val="105"/>
              </a:spcBef>
            </a:pPr>
            <a:r>
              <a:rPr spc="-380" dirty="0">
                <a:latin typeface="Times New Roman" panose="02020603050405020304" charset="0"/>
                <a:cs typeface="Times New Roman" panose="02020603050405020304" charset="0"/>
              </a:rPr>
              <a:t>SOFTWARE</a:t>
            </a:r>
            <a:r>
              <a:rPr spc="-45" dirty="0">
                <a:latin typeface="Times New Roman" panose="02020603050405020304" charset="0"/>
                <a:cs typeface="Times New Roman" panose="02020603050405020304" charset="0"/>
              </a:rPr>
              <a:t> </a:t>
            </a:r>
            <a:r>
              <a:rPr spc="-440" dirty="0">
                <a:latin typeface="Times New Roman" panose="02020603050405020304" charset="0"/>
                <a:cs typeface="Times New Roman" panose="02020603050405020304" charset="0"/>
              </a:rPr>
              <a:t>REQUIREMENT</a:t>
            </a:r>
            <a:endParaRPr spc="-440" dirty="0">
              <a:latin typeface="Times New Roman" panose="02020603050405020304" charset="0"/>
              <a:cs typeface="Times New Roman" panose="02020603050405020304" charset="0"/>
            </a:endParaRPr>
          </a:p>
        </p:txBody>
      </p:sp>
      <p:sp>
        <p:nvSpPr>
          <p:cNvPr id="3" name="object 3"/>
          <p:cNvSpPr txBox="1"/>
          <p:nvPr/>
        </p:nvSpPr>
        <p:spPr>
          <a:xfrm>
            <a:off x="1743836" y="2114549"/>
            <a:ext cx="3201670" cy="1735455"/>
          </a:xfrm>
          <a:prstGeom prst="rect">
            <a:avLst/>
          </a:prstGeom>
        </p:spPr>
        <p:txBody>
          <a:bodyPr vert="horz" wrap="square" lIns="0" tIns="12065" rIns="0" bIns="0" rtlCol="0">
            <a:spAutoFit/>
          </a:bodyPr>
          <a:lstStyle/>
          <a:p>
            <a:pPr marL="12700" marR="112395">
              <a:lnSpc>
                <a:spcPct val="100000"/>
              </a:lnSpc>
              <a:spcBef>
                <a:spcPts val="95"/>
              </a:spcBef>
            </a:pPr>
            <a:r>
              <a:rPr sz="2800" dirty="0">
                <a:latin typeface="Times New Roman" panose="02020603050405020304" charset="0"/>
                <a:cs typeface="Times New Roman" panose="02020603050405020304" charset="0"/>
              </a:rPr>
              <a:t>Operating</a:t>
            </a:r>
            <a:r>
              <a:rPr sz="2800" spc="-180" dirty="0">
                <a:latin typeface="Times New Roman" panose="02020603050405020304" charset="0"/>
                <a:cs typeface="Times New Roman" panose="02020603050405020304" charset="0"/>
              </a:rPr>
              <a:t> </a:t>
            </a:r>
            <a:r>
              <a:rPr sz="2800" spc="-190" dirty="0">
                <a:latin typeface="Times New Roman" panose="02020603050405020304" charset="0"/>
                <a:cs typeface="Times New Roman" panose="02020603050405020304" charset="0"/>
              </a:rPr>
              <a:t>System </a:t>
            </a:r>
            <a:r>
              <a:rPr sz="2800" spc="-10" dirty="0">
                <a:latin typeface="Times New Roman" panose="02020603050405020304" charset="0"/>
                <a:cs typeface="Times New Roman" panose="02020603050405020304" charset="0"/>
              </a:rPr>
              <a:t>Technology</a:t>
            </a:r>
            <a:endParaRPr sz="2800">
              <a:latin typeface="Times New Roman" panose="02020603050405020304" charset="0"/>
              <a:cs typeface="Times New Roman" panose="02020603050405020304" charset="0"/>
            </a:endParaRPr>
          </a:p>
          <a:p>
            <a:pPr marL="12700" marR="5080">
              <a:lnSpc>
                <a:spcPct val="100000"/>
              </a:lnSpc>
            </a:pPr>
            <a:r>
              <a:rPr sz="2800" spc="55" dirty="0">
                <a:latin typeface="Times New Roman" panose="02020603050405020304" charset="0"/>
                <a:cs typeface="Times New Roman" panose="02020603050405020304" charset="0"/>
              </a:rPr>
              <a:t>Web</a:t>
            </a:r>
            <a:r>
              <a:rPr sz="2800" spc="-155" dirty="0">
                <a:latin typeface="Times New Roman" panose="02020603050405020304" charset="0"/>
                <a:cs typeface="Times New Roman" panose="02020603050405020304" charset="0"/>
              </a:rPr>
              <a:t> </a:t>
            </a:r>
            <a:r>
              <a:rPr sz="2800" spc="-40" dirty="0">
                <a:latin typeface="Times New Roman" panose="02020603050405020304" charset="0"/>
                <a:cs typeface="Times New Roman" panose="02020603050405020304" charset="0"/>
              </a:rPr>
              <a:t>Technologies </a:t>
            </a:r>
            <a:endParaRPr sz="2800" spc="-40" dirty="0">
              <a:latin typeface="Times New Roman" panose="02020603050405020304" charset="0"/>
              <a:cs typeface="Times New Roman" panose="02020603050405020304" charset="0"/>
            </a:endParaRPr>
          </a:p>
          <a:p>
            <a:pPr marL="12700" marR="5080">
              <a:lnSpc>
                <a:spcPct val="100000"/>
              </a:lnSpc>
            </a:pPr>
            <a:r>
              <a:rPr sz="2800" spc="-340" dirty="0">
                <a:latin typeface="Times New Roman" panose="02020603050405020304" charset="0"/>
                <a:cs typeface="Times New Roman" panose="02020603050405020304" charset="0"/>
              </a:rPr>
              <a:t>IDE</a:t>
            </a:r>
            <a:endParaRPr sz="2800">
              <a:latin typeface="Times New Roman" panose="02020603050405020304" charset="0"/>
              <a:cs typeface="Times New Roman" panose="02020603050405020304" charset="0"/>
            </a:endParaRPr>
          </a:p>
        </p:txBody>
      </p:sp>
      <p:sp>
        <p:nvSpPr>
          <p:cNvPr id="4" name="object 4"/>
          <p:cNvSpPr txBox="1"/>
          <p:nvPr/>
        </p:nvSpPr>
        <p:spPr>
          <a:xfrm>
            <a:off x="5401945" y="2114550"/>
            <a:ext cx="3954145" cy="1735455"/>
          </a:xfrm>
          <a:prstGeom prst="rect">
            <a:avLst/>
          </a:prstGeom>
        </p:spPr>
        <p:txBody>
          <a:bodyPr vert="horz" wrap="square" lIns="0" tIns="12065" rIns="0" bIns="0" rtlCol="0">
            <a:spAutoFit/>
          </a:bodyPr>
          <a:lstStyle/>
          <a:p>
            <a:pPr marL="12700">
              <a:lnSpc>
                <a:spcPct val="100000"/>
              </a:lnSpc>
              <a:spcBef>
                <a:spcPts val="95"/>
              </a:spcBef>
            </a:pPr>
            <a:r>
              <a:rPr sz="2800" spc="-509" dirty="0">
                <a:latin typeface="Times New Roman" panose="02020603050405020304" charset="0"/>
                <a:cs typeface="Times New Roman" panose="02020603050405020304" charset="0"/>
              </a:rPr>
              <a:t>:</a:t>
            </a:r>
            <a:r>
              <a:rPr sz="2800" spc="-190" dirty="0">
                <a:latin typeface="Times New Roman" panose="02020603050405020304" charset="0"/>
                <a:cs typeface="Times New Roman" panose="02020603050405020304" charset="0"/>
              </a:rPr>
              <a:t> </a:t>
            </a:r>
            <a:r>
              <a:rPr lang="en-US" altLang="" sz="2800" spc="-190" dirty="0">
                <a:latin typeface="Times New Roman" panose="02020603050405020304" charset="0"/>
                <a:cs typeface="Times New Roman" panose="02020603050405020304" charset="0"/>
              </a:rPr>
              <a:t>	</a:t>
            </a:r>
            <a:r>
              <a:rPr sz="2800" spc="-80" dirty="0">
                <a:latin typeface="Times New Roman" panose="02020603050405020304" charset="0"/>
                <a:cs typeface="Times New Roman" panose="02020603050405020304" charset="0"/>
              </a:rPr>
              <a:t>Windows</a:t>
            </a:r>
            <a:r>
              <a:rPr sz="2800" spc="-140" dirty="0">
                <a:latin typeface="Times New Roman" panose="02020603050405020304" charset="0"/>
                <a:cs typeface="Times New Roman" panose="02020603050405020304" charset="0"/>
              </a:rPr>
              <a:t> </a:t>
            </a:r>
            <a:endParaRPr sz="2800">
              <a:latin typeface="Times New Roman" panose="02020603050405020304" charset="0"/>
              <a:cs typeface="Times New Roman" panose="02020603050405020304" charset="0"/>
            </a:endParaRPr>
          </a:p>
          <a:p>
            <a:pPr marL="12700">
              <a:lnSpc>
                <a:spcPct val="100000"/>
              </a:lnSpc>
            </a:pPr>
            <a:r>
              <a:rPr sz="2800" spc="-509" dirty="0">
                <a:latin typeface="Times New Roman" panose="02020603050405020304" charset="0"/>
                <a:cs typeface="Times New Roman" panose="02020603050405020304" charset="0"/>
              </a:rPr>
              <a:t>:</a:t>
            </a:r>
            <a:r>
              <a:rPr sz="2800" spc="-215" dirty="0">
                <a:latin typeface="Times New Roman" panose="02020603050405020304" charset="0"/>
                <a:cs typeface="Times New Roman" panose="02020603050405020304" charset="0"/>
              </a:rPr>
              <a:t> </a:t>
            </a:r>
            <a:r>
              <a:rPr lang="en-US" altLang="" sz="2800" spc="-215"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Python</a:t>
            </a:r>
            <a:endParaRPr sz="2800">
              <a:latin typeface="Times New Roman" panose="02020603050405020304" charset="0"/>
              <a:cs typeface="Times New Roman" panose="02020603050405020304" charset="0"/>
            </a:endParaRPr>
          </a:p>
          <a:p>
            <a:pPr marL="12700">
              <a:lnSpc>
                <a:spcPct val="100000"/>
              </a:lnSpc>
            </a:pPr>
            <a:r>
              <a:rPr sz="2800" spc="-509" dirty="0">
                <a:latin typeface="Times New Roman" panose="02020603050405020304" charset="0"/>
                <a:cs typeface="Times New Roman" panose="02020603050405020304" charset="0"/>
              </a:rPr>
              <a:t>:</a:t>
            </a:r>
            <a:r>
              <a:rPr sz="2800" spc="-215" dirty="0">
                <a:latin typeface="Times New Roman" panose="02020603050405020304" charset="0"/>
                <a:cs typeface="Times New Roman" panose="02020603050405020304" charset="0"/>
              </a:rPr>
              <a:t> </a:t>
            </a:r>
            <a:r>
              <a:rPr lang="en-US" altLang="" sz="2800" spc="-215" dirty="0">
                <a:latin typeface="Times New Roman" panose="02020603050405020304" charset="0"/>
                <a:cs typeface="Times New Roman" panose="02020603050405020304" charset="0"/>
              </a:rPr>
              <a:t>	</a:t>
            </a:r>
            <a:r>
              <a:rPr sz="2800" spc="-20" dirty="0">
                <a:latin typeface="Times New Roman" panose="02020603050405020304" charset="0"/>
                <a:cs typeface="Times New Roman" panose="02020603050405020304" charset="0"/>
              </a:rPr>
              <a:t>Html</a:t>
            </a:r>
            <a:r>
              <a:rPr lang="en-US" altLang="" sz="2800" spc="-20" dirty="0">
                <a:latin typeface="Times New Roman" panose="02020603050405020304" charset="0"/>
                <a:cs typeface="Times New Roman" panose="02020603050405020304" charset="0"/>
              </a:rPr>
              <a:t>, CSS</a:t>
            </a:r>
            <a:endParaRPr sz="2800">
              <a:latin typeface="Times New Roman" panose="02020603050405020304" charset="0"/>
              <a:cs typeface="Times New Roman" panose="02020603050405020304" charset="0"/>
            </a:endParaRPr>
          </a:p>
          <a:p>
            <a:pPr marL="12700">
              <a:lnSpc>
                <a:spcPct val="100000"/>
              </a:lnSpc>
            </a:pPr>
            <a:r>
              <a:rPr sz="2800" spc="-509" dirty="0">
                <a:latin typeface="Times New Roman" panose="02020603050405020304" charset="0"/>
                <a:cs typeface="Times New Roman" panose="02020603050405020304" charset="0"/>
              </a:rPr>
              <a:t>:</a:t>
            </a:r>
            <a:r>
              <a:rPr sz="2800" spc="-200" dirty="0">
                <a:latin typeface="Times New Roman" panose="02020603050405020304" charset="0"/>
                <a:cs typeface="Times New Roman" panose="02020603050405020304" charset="0"/>
              </a:rPr>
              <a:t> </a:t>
            </a:r>
            <a:r>
              <a:rPr lang="en-US" altLang="" sz="2800" spc="-200" dirty="0">
                <a:latin typeface="Times New Roman" panose="02020603050405020304" charset="0"/>
                <a:cs typeface="Times New Roman" panose="02020603050405020304" charset="0"/>
              </a:rPr>
              <a:t>	</a:t>
            </a:r>
            <a:r>
              <a:rPr sz="2800" spc="-105" dirty="0">
                <a:latin typeface="Times New Roman" panose="02020603050405020304" charset="0"/>
                <a:cs typeface="Times New Roman" panose="02020603050405020304" charset="0"/>
              </a:rPr>
              <a:t>Visual</a:t>
            </a:r>
            <a:r>
              <a:rPr sz="2800" spc="-200" dirty="0">
                <a:latin typeface="Times New Roman" panose="02020603050405020304" charset="0"/>
                <a:cs typeface="Times New Roman" panose="02020603050405020304" charset="0"/>
              </a:rPr>
              <a:t> </a:t>
            </a:r>
            <a:r>
              <a:rPr sz="2800" spc="-100" dirty="0">
                <a:latin typeface="Times New Roman" panose="02020603050405020304" charset="0"/>
                <a:cs typeface="Times New Roman" panose="02020603050405020304" charset="0"/>
              </a:rPr>
              <a:t>studio</a:t>
            </a:r>
            <a:r>
              <a:rPr sz="2800" spc="-215" dirty="0">
                <a:latin typeface="Times New Roman" panose="02020603050405020304" charset="0"/>
                <a:cs typeface="Times New Roman" panose="02020603050405020304" charset="0"/>
              </a:rPr>
              <a:t> </a:t>
            </a:r>
            <a:r>
              <a:rPr sz="2800" spc="175" dirty="0">
                <a:latin typeface="Times New Roman" panose="02020603050405020304" charset="0"/>
                <a:cs typeface="Times New Roman" panose="02020603050405020304" charset="0"/>
              </a:rPr>
              <a:t>code</a:t>
            </a:r>
            <a:endParaRPr sz="2800">
              <a:latin typeface="Times New Roman" panose="02020603050405020304" charset="0"/>
              <a:cs typeface="Times New Roman" panose="0202060305040502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0185" y="775207"/>
            <a:ext cx="7167245" cy="690245"/>
          </a:xfrm>
          <a:prstGeom prst="rect">
            <a:avLst/>
          </a:prstGeom>
        </p:spPr>
        <p:txBody>
          <a:bodyPr vert="horz" wrap="square" lIns="0" tIns="13335" rIns="0" bIns="0" rtlCol="0">
            <a:spAutoFit/>
          </a:bodyPr>
          <a:lstStyle/>
          <a:p>
            <a:pPr marL="12700">
              <a:lnSpc>
                <a:spcPct val="100000"/>
              </a:lnSpc>
              <a:spcBef>
                <a:spcPts val="105"/>
              </a:spcBef>
            </a:pPr>
            <a:r>
              <a:rPr spc="-335" dirty="0">
                <a:latin typeface="Times New Roman" panose="02020603050405020304" charset="0"/>
                <a:cs typeface="Times New Roman" panose="02020603050405020304" charset="0"/>
              </a:rPr>
              <a:t>HARDWARE</a:t>
            </a:r>
            <a:r>
              <a:rPr spc="-100" dirty="0">
                <a:latin typeface="Times New Roman" panose="02020603050405020304" charset="0"/>
                <a:cs typeface="Times New Roman" panose="02020603050405020304" charset="0"/>
              </a:rPr>
              <a:t> </a:t>
            </a:r>
            <a:r>
              <a:rPr spc="-440" dirty="0">
                <a:latin typeface="Times New Roman" panose="02020603050405020304" charset="0"/>
                <a:cs typeface="Times New Roman" panose="02020603050405020304" charset="0"/>
              </a:rPr>
              <a:t>REQUIREMENTS</a:t>
            </a:r>
            <a:endParaRPr spc="-440" dirty="0">
              <a:latin typeface="Times New Roman" panose="02020603050405020304" charset="0"/>
              <a:cs typeface="Times New Roman" panose="02020603050405020304" charset="0"/>
            </a:endParaRPr>
          </a:p>
        </p:txBody>
      </p:sp>
      <p:sp>
        <p:nvSpPr>
          <p:cNvPr id="3" name="object 3"/>
          <p:cNvSpPr txBox="1"/>
          <p:nvPr/>
        </p:nvSpPr>
        <p:spPr>
          <a:xfrm>
            <a:off x="2338705" y="1887855"/>
            <a:ext cx="2957830" cy="2606040"/>
          </a:xfrm>
          <a:prstGeom prst="rect">
            <a:avLst/>
          </a:prstGeom>
        </p:spPr>
        <p:txBody>
          <a:bodyPr vert="horz" wrap="square" lIns="0" tIns="13335" rIns="0" bIns="0" rtlCol="0">
            <a:noAutofit/>
          </a:bodyPr>
          <a:lstStyle/>
          <a:p>
            <a:pPr marL="12700" marR="5080">
              <a:lnSpc>
                <a:spcPct val="100000"/>
              </a:lnSpc>
              <a:spcBef>
                <a:spcPts val="105"/>
              </a:spcBef>
            </a:pPr>
            <a:r>
              <a:rPr sz="2800" spc="-95" dirty="0">
                <a:latin typeface="Times New Roman" panose="02020603050405020304" charset="0"/>
                <a:cs typeface="Times New Roman" panose="02020603050405020304" charset="0"/>
              </a:rPr>
              <a:t>Processor </a:t>
            </a:r>
            <a:endParaRPr sz="2800" spc="-95" dirty="0">
              <a:latin typeface="Times New Roman" panose="02020603050405020304" charset="0"/>
              <a:cs typeface="Times New Roman" panose="02020603050405020304" charset="0"/>
            </a:endParaRPr>
          </a:p>
          <a:p>
            <a:pPr marL="12700" marR="5080">
              <a:lnSpc>
                <a:spcPct val="100000"/>
              </a:lnSpc>
              <a:spcBef>
                <a:spcPts val="105"/>
              </a:spcBef>
            </a:pPr>
            <a:r>
              <a:rPr sz="2800" spc="-10" dirty="0">
                <a:latin typeface="Times New Roman" panose="02020603050405020304" charset="0"/>
                <a:cs typeface="Times New Roman" panose="02020603050405020304" charset="0"/>
              </a:rPr>
              <a:t>Speed </a:t>
            </a:r>
            <a:endParaRPr sz="2800" spc="-10" dirty="0">
              <a:latin typeface="Times New Roman" panose="02020603050405020304" charset="0"/>
              <a:cs typeface="Times New Roman" panose="02020603050405020304" charset="0"/>
            </a:endParaRPr>
          </a:p>
          <a:p>
            <a:pPr marL="12700" marR="5080">
              <a:lnSpc>
                <a:spcPct val="100000"/>
              </a:lnSpc>
              <a:spcBef>
                <a:spcPts val="105"/>
              </a:spcBef>
            </a:pPr>
            <a:r>
              <a:rPr sz="2800" spc="-25" dirty="0">
                <a:latin typeface="Times New Roman" panose="02020603050405020304" charset="0"/>
                <a:cs typeface="Times New Roman" panose="02020603050405020304" charset="0"/>
              </a:rPr>
              <a:t>RAM</a:t>
            </a:r>
            <a:endParaRPr sz="2800">
              <a:latin typeface="Times New Roman" panose="02020603050405020304" charset="0"/>
              <a:cs typeface="Times New Roman" panose="02020603050405020304" charset="0"/>
            </a:endParaRPr>
          </a:p>
        </p:txBody>
      </p:sp>
      <p:sp>
        <p:nvSpPr>
          <p:cNvPr id="4" name="object 4"/>
          <p:cNvSpPr txBox="1"/>
          <p:nvPr/>
        </p:nvSpPr>
        <p:spPr>
          <a:xfrm>
            <a:off x="5188711" y="1887982"/>
            <a:ext cx="2712085" cy="1305560"/>
          </a:xfrm>
          <a:prstGeom prst="rect">
            <a:avLst/>
          </a:prstGeom>
        </p:spPr>
        <p:txBody>
          <a:bodyPr vert="horz" wrap="square" lIns="0" tIns="13335" rIns="0" bIns="0" rtlCol="0">
            <a:spAutoFit/>
          </a:bodyPr>
          <a:lstStyle/>
          <a:p>
            <a:pPr marL="12700">
              <a:lnSpc>
                <a:spcPct val="100000"/>
              </a:lnSpc>
              <a:spcBef>
                <a:spcPts val="105"/>
              </a:spcBef>
              <a:tabLst>
                <a:tab pos="362585" algn="l"/>
              </a:tabLst>
            </a:pPr>
            <a:r>
              <a:rPr sz="2800" spc="-620" dirty="0">
                <a:latin typeface="Times New Roman" panose="02020603050405020304" charset="0"/>
                <a:cs typeface="Times New Roman" panose="02020603050405020304" charset="0"/>
              </a:rPr>
              <a:t>:</a:t>
            </a:r>
            <a:r>
              <a:rPr sz="2800" dirty="0">
                <a:latin typeface="Times New Roman" panose="02020603050405020304" charset="0"/>
                <a:cs typeface="Times New Roman" panose="02020603050405020304" charset="0"/>
              </a:rPr>
              <a:t>	</a:t>
            </a:r>
            <a:r>
              <a:rPr sz="2800" spc="-204" dirty="0">
                <a:latin typeface="Times New Roman" panose="02020603050405020304" charset="0"/>
                <a:cs typeface="Times New Roman" panose="02020603050405020304" charset="0"/>
              </a:rPr>
              <a:t>Intel</a:t>
            </a:r>
            <a:r>
              <a:rPr sz="2800" spc="-220" dirty="0">
                <a:latin typeface="Times New Roman" panose="02020603050405020304" charset="0"/>
                <a:cs typeface="Times New Roman" panose="02020603050405020304" charset="0"/>
              </a:rPr>
              <a:t> </a:t>
            </a:r>
            <a:r>
              <a:rPr sz="2800" spc="60" dirty="0">
                <a:latin typeface="Times New Roman" panose="02020603050405020304" charset="0"/>
                <a:cs typeface="Times New Roman" panose="02020603050405020304" charset="0"/>
              </a:rPr>
              <a:t>Core</a:t>
            </a:r>
            <a:r>
              <a:rPr sz="2800" spc="-235" dirty="0">
                <a:latin typeface="Times New Roman" panose="02020603050405020304" charset="0"/>
                <a:cs typeface="Times New Roman" panose="02020603050405020304" charset="0"/>
              </a:rPr>
              <a:t> </a:t>
            </a:r>
            <a:r>
              <a:rPr sz="2800" spc="-295" dirty="0">
                <a:latin typeface="Times New Roman" panose="02020603050405020304" charset="0"/>
                <a:cs typeface="Times New Roman" panose="02020603050405020304" charset="0"/>
              </a:rPr>
              <a:t>i5</a:t>
            </a:r>
            <a:endParaRPr sz="2800">
              <a:latin typeface="Times New Roman" panose="02020603050405020304" charset="0"/>
              <a:cs typeface="Times New Roman" panose="02020603050405020304" charset="0"/>
            </a:endParaRPr>
          </a:p>
          <a:p>
            <a:pPr marL="12700">
              <a:lnSpc>
                <a:spcPct val="100000"/>
              </a:lnSpc>
              <a:tabLst>
                <a:tab pos="362585" algn="l"/>
              </a:tabLst>
            </a:pPr>
            <a:r>
              <a:rPr sz="2800" spc="-620" dirty="0">
                <a:latin typeface="Times New Roman" panose="02020603050405020304" charset="0"/>
                <a:cs typeface="Times New Roman" panose="02020603050405020304" charset="0"/>
              </a:rPr>
              <a:t>:</a:t>
            </a:r>
            <a:r>
              <a:rPr sz="2800" dirty="0">
                <a:latin typeface="Times New Roman" panose="02020603050405020304" charset="0"/>
                <a:cs typeface="Times New Roman" panose="02020603050405020304" charset="0"/>
              </a:rPr>
              <a:t>	</a:t>
            </a:r>
            <a:r>
              <a:rPr sz="2800" spc="-285" dirty="0">
                <a:latin typeface="Times New Roman" panose="02020603050405020304" charset="0"/>
                <a:cs typeface="Times New Roman" panose="02020603050405020304" charset="0"/>
              </a:rPr>
              <a:t>3.6</a:t>
            </a:r>
            <a:r>
              <a:rPr sz="2800" spc="-235"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GHz</a:t>
            </a:r>
            <a:endParaRPr sz="2800">
              <a:latin typeface="Times New Roman" panose="02020603050405020304" charset="0"/>
              <a:cs typeface="Times New Roman" panose="02020603050405020304" charset="0"/>
            </a:endParaRPr>
          </a:p>
          <a:p>
            <a:pPr marL="12700">
              <a:lnSpc>
                <a:spcPct val="100000"/>
              </a:lnSpc>
              <a:tabLst>
                <a:tab pos="362585" algn="l"/>
              </a:tabLst>
            </a:pPr>
            <a:r>
              <a:rPr sz="2800" spc="-620" dirty="0">
                <a:latin typeface="Times New Roman" panose="02020603050405020304" charset="0"/>
                <a:cs typeface="Times New Roman" panose="02020603050405020304" charset="0"/>
              </a:rPr>
              <a:t>:</a:t>
            </a:r>
            <a:r>
              <a:rPr sz="2800" dirty="0">
                <a:latin typeface="Times New Roman" panose="02020603050405020304" charset="0"/>
                <a:cs typeface="Times New Roman" panose="02020603050405020304" charset="0"/>
              </a:rPr>
              <a:t>	</a:t>
            </a:r>
            <a:r>
              <a:rPr sz="2800" spc="-25" dirty="0">
                <a:latin typeface="Times New Roman" panose="02020603050405020304" charset="0"/>
                <a:cs typeface="Times New Roman" panose="02020603050405020304" charset="0"/>
              </a:rPr>
              <a:t>8GB</a:t>
            </a:r>
            <a:endParaRPr sz="2800">
              <a:latin typeface="Times New Roman" panose="02020603050405020304" charset="0"/>
              <a:cs typeface="Times New Roman" panose="02020603050405020304" charset="0"/>
            </a:endParaRPr>
          </a:p>
        </p:txBody>
      </p:sp>
      <p:sp>
        <p:nvSpPr>
          <p:cNvPr id="5" name="object 5"/>
          <p:cNvSpPr txBox="1"/>
          <p:nvPr/>
        </p:nvSpPr>
        <p:spPr>
          <a:xfrm>
            <a:off x="2338577" y="3276472"/>
            <a:ext cx="6744334" cy="875030"/>
          </a:xfrm>
          <a:prstGeom prst="rect">
            <a:avLst/>
          </a:prstGeom>
        </p:spPr>
        <p:txBody>
          <a:bodyPr vert="horz" wrap="square" lIns="0" tIns="13335" rIns="0" bIns="0" rtlCol="0">
            <a:spAutoFit/>
          </a:bodyPr>
          <a:lstStyle/>
          <a:p>
            <a:pPr marL="12700">
              <a:lnSpc>
                <a:spcPct val="100000"/>
              </a:lnSpc>
              <a:spcBef>
                <a:spcPts val="105"/>
              </a:spcBef>
              <a:tabLst>
                <a:tab pos="2840990" algn="l"/>
                <a:tab pos="3213100" algn="l"/>
              </a:tabLst>
            </a:pPr>
            <a:r>
              <a:rPr sz="2800" spc="-65" dirty="0">
                <a:latin typeface="Times New Roman" panose="02020603050405020304" charset="0"/>
                <a:cs typeface="Times New Roman" panose="02020603050405020304" charset="0"/>
              </a:rPr>
              <a:t>Hard</a:t>
            </a:r>
            <a:r>
              <a:rPr sz="2800" spc="-215" dirty="0">
                <a:latin typeface="Times New Roman" panose="02020603050405020304" charset="0"/>
                <a:cs typeface="Times New Roman" panose="02020603050405020304" charset="0"/>
              </a:rPr>
              <a:t> </a:t>
            </a:r>
            <a:r>
              <a:rPr sz="2800" spc="-280" dirty="0">
                <a:latin typeface="Times New Roman" panose="02020603050405020304" charset="0"/>
                <a:cs typeface="Times New Roman" panose="02020603050405020304" charset="0"/>
              </a:rPr>
              <a:t>Disk</a:t>
            </a:r>
            <a:r>
              <a:rPr sz="2800" dirty="0">
                <a:latin typeface="Times New Roman" panose="02020603050405020304" charset="0"/>
                <a:cs typeface="Times New Roman" panose="02020603050405020304" charset="0"/>
              </a:rPr>
              <a:t>	</a:t>
            </a:r>
            <a:r>
              <a:rPr sz="2800" spc="-620" dirty="0">
                <a:latin typeface="Times New Roman" panose="02020603050405020304" charset="0"/>
                <a:cs typeface="Times New Roman" panose="02020603050405020304" charset="0"/>
              </a:rPr>
              <a:t>:</a:t>
            </a:r>
            <a:r>
              <a:rPr sz="280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516GB</a:t>
            </a:r>
            <a:endParaRPr sz="2800">
              <a:latin typeface="Times New Roman" panose="02020603050405020304" charset="0"/>
              <a:cs typeface="Times New Roman" panose="02020603050405020304" charset="0"/>
            </a:endParaRPr>
          </a:p>
          <a:p>
            <a:pPr marL="12700">
              <a:lnSpc>
                <a:spcPct val="100000"/>
              </a:lnSpc>
              <a:tabLst>
                <a:tab pos="2910205" algn="l"/>
                <a:tab pos="3361690" algn="l"/>
              </a:tabLst>
            </a:pPr>
            <a:r>
              <a:rPr sz="2800" spc="-165" dirty="0">
                <a:latin typeface="Times New Roman" panose="02020603050405020304" charset="0"/>
                <a:cs typeface="Times New Roman" panose="02020603050405020304" charset="0"/>
              </a:rPr>
              <a:t>Input</a:t>
            </a:r>
            <a:r>
              <a:rPr sz="2800" spc="-20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Devices</a:t>
            </a:r>
            <a:r>
              <a:rPr lang="en-US" altLang="" sz="2800" spc="-10" dirty="0">
                <a:latin typeface="Times New Roman" panose="02020603050405020304" charset="0"/>
                <a:cs typeface="Times New Roman" panose="02020603050405020304" charset="0"/>
              </a:rPr>
              <a:t>	</a:t>
            </a:r>
            <a:r>
              <a:rPr lang="en-US" altLang="" sz="2800" dirty="0">
                <a:latin typeface="Times New Roman" panose="02020603050405020304" charset="0"/>
                <a:cs typeface="Times New Roman" panose="02020603050405020304" charset="0"/>
              </a:rPr>
              <a:t>:</a:t>
            </a:r>
            <a:r>
              <a:rPr sz="2800" dirty="0">
                <a:latin typeface="Times New Roman" panose="02020603050405020304" charset="0"/>
                <a:cs typeface="Times New Roman" panose="02020603050405020304" charset="0"/>
              </a:rPr>
              <a:t>	</a:t>
            </a:r>
            <a:r>
              <a:rPr sz="2800" spc="-10" dirty="0">
                <a:latin typeface="Times New Roman" panose="02020603050405020304" charset="0"/>
                <a:cs typeface="Times New Roman" panose="02020603050405020304" charset="0"/>
              </a:rPr>
              <a:t>Keyboard,Mouse</a:t>
            </a:r>
            <a:endParaRPr sz="2800">
              <a:latin typeface="Times New Roman" panose="02020603050405020304" charset="0"/>
              <a:cs typeface="Times New Roman"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p:nvPr>
            <p:ph type="title"/>
          </p:nvPr>
        </p:nvSpPr>
        <p:spPr/>
        <p:txBody>
          <a:bodyPr/>
          <a:p>
            <a:r>
              <a:rPr lang="en-US">
                <a:latin typeface="Times New Roman" panose="02020603050405020304" charset="0"/>
                <a:cs typeface="Times New Roman" panose="02020603050405020304" charset="0"/>
              </a:rPr>
              <a:t>REFERENCE</a:t>
            </a:r>
            <a:endParaRPr lang="en-US">
              <a:latin typeface="Times New Roman" panose="02020603050405020304" charset="0"/>
              <a:cs typeface="Times New Roman" panose="02020603050405020304" charset="0"/>
            </a:endParaRPr>
          </a:p>
        </p:txBody>
      </p:sp>
      <p:sp>
        <p:nvSpPr>
          <p:cNvPr id="11" name="Text Box 10"/>
          <p:cNvSpPr txBox="1"/>
          <p:nvPr/>
        </p:nvSpPr>
        <p:spPr>
          <a:xfrm>
            <a:off x="534035" y="1482725"/>
            <a:ext cx="11021060" cy="4912360"/>
          </a:xfrm>
          <a:prstGeom prst="rect">
            <a:avLst/>
          </a:prstGeom>
          <a:noFill/>
        </p:spPr>
        <p:txBody>
          <a:bodyPr wrap="square" rtlCol="0">
            <a:noAutofit/>
          </a:bodyPr>
          <a:p>
            <a:pPr algn="just"/>
            <a:r>
              <a:rPr lang="en-US" altLang="en-US" sz="2800" dirty="0">
                <a:solidFill>
                  <a:schemeClr val="tx1"/>
                </a:solidFill>
                <a:latin typeface="Times New Roman" panose="02020603050405020304" charset="0"/>
                <a:cs typeface="Times New Roman" panose="02020603050405020304" charset="0"/>
                <a:sym typeface="+mn-ea"/>
              </a:rPr>
              <a:t>[1]  A. Sarkar, A. K. Mishra, U. P. Singh et al., “Real-Time Crime Prediction in India Using Machine Learning,” International Journal for Research in Applied Science &amp; Engineering Technology, vol. 13, 2025.</a:t>
            </a:r>
            <a:endParaRPr lang="en-US" altLang="en-US" sz="2800" dirty="0">
              <a:solidFill>
                <a:schemeClr val="tx1"/>
              </a:solidFill>
              <a:latin typeface="Times New Roman" panose="02020603050405020304" charset="0"/>
              <a:cs typeface="Times New Roman" panose="02020603050405020304" charset="0"/>
              <a:sym typeface="+mn-ea"/>
            </a:endParaRPr>
          </a:p>
          <a:p>
            <a:endParaRPr lang="en-IN" sz="2800" dirty="0">
              <a:solidFill>
                <a:schemeClr val="tx1"/>
              </a:solidFill>
              <a:latin typeface="Times New Roman" panose="02020603050405020304" charset="0"/>
              <a:cs typeface="Times New Roman" panose="02020603050405020304" charset="0"/>
            </a:endParaRPr>
          </a:p>
          <a:p>
            <a:pPr algn="just"/>
            <a:r>
              <a:rPr lang="en-US" altLang="en-US" sz="2800" dirty="0">
                <a:solidFill>
                  <a:schemeClr val="tx1"/>
                </a:solidFill>
                <a:latin typeface="Times New Roman" panose="02020603050405020304" charset="0"/>
                <a:cs typeface="Times New Roman" panose="02020603050405020304" charset="0"/>
              </a:rPr>
              <a:t>[2]  I. Singh, G. Bhandari, S. Khatwani, “Predictive Crime Rate Analysis System,” International Journal for Research in Applied Science &amp; Engineering Technology, 2025.</a:t>
            </a:r>
            <a:endParaRPr lang="en-US" altLang="en-US" sz="2800" dirty="0">
              <a:solidFill>
                <a:schemeClr val="tx1"/>
              </a:solidFill>
              <a:latin typeface="Times New Roman" panose="02020603050405020304" charset="0"/>
              <a:cs typeface="Times New Roman" panose="02020603050405020304" charset="0"/>
            </a:endParaRPr>
          </a:p>
          <a:p>
            <a:endParaRPr lang="en-US" altLang="en-US" sz="2800" dirty="0">
              <a:solidFill>
                <a:schemeClr val="tx1"/>
              </a:solidFill>
              <a:latin typeface="Times New Roman" panose="02020603050405020304" charset="0"/>
              <a:cs typeface="Times New Roman" panose="02020603050405020304" charset="0"/>
            </a:endParaRPr>
          </a:p>
          <a:p>
            <a:pPr algn="just"/>
            <a:r>
              <a:rPr lang="en-IN" sz="2800" dirty="0">
                <a:solidFill>
                  <a:schemeClr val="tx1"/>
                </a:solidFill>
                <a:latin typeface="Times New Roman" panose="02020603050405020304" charset="0"/>
                <a:cs typeface="Times New Roman" panose="02020603050405020304" charset="0"/>
                <a:sym typeface="+mn-ea"/>
              </a:rPr>
              <a:t>[</a:t>
            </a:r>
            <a:r>
              <a:rPr lang="en-US" altLang="en-IN" sz="2800" dirty="0">
                <a:solidFill>
                  <a:schemeClr val="tx1"/>
                </a:solidFill>
                <a:latin typeface="Times New Roman" panose="02020603050405020304" charset="0"/>
                <a:cs typeface="Times New Roman" panose="02020603050405020304" charset="0"/>
                <a:sym typeface="+mn-ea"/>
              </a:rPr>
              <a:t>3</a:t>
            </a:r>
            <a:r>
              <a:rPr lang="en-IN" sz="2800" dirty="0">
                <a:solidFill>
                  <a:schemeClr val="tx1"/>
                </a:solidFill>
                <a:latin typeface="Times New Roman" panose="02020603050405020304" charset="0"/>
                <a:cs typeface="Times New Roman" panose="02020603050405020304" charset="0"/>
                <a:sym typeface="+mn-ea"/>
              </a:rPr>
              <a:t>] </a:t>
            </a:r>
            <a:r>
              <a:rPr lang="en-US" altLang="en-IN" sz="2800" dirty="0">
                <a:solidFill>
                  <a:schemeClr val="tx1"/>
                </a:solidFill>
                <a:latin typeface="Times New Roman" panose="02020603050405020304" charset="0"/>
                <a:cs typeface="Times New Roman" panose="02020603050405020304" charset="0"/>
                <a:sym typeface="+mn-ea"/>
              </a:rPr>
              <a:t> </a:t>
            </a:r>
            <a:r>
              <a:rPr lang="en-US" altLang="en-US" sz="2800" dirty="0">
                <a:solidFill>
                  <a:schemeClr val="tx1"/>
                </a:solidFill>
                <a:latin typeface="Times New Roman" panose="02020603050405020304" charset="0"/>
                <a:cs typeface="Times New Roman" panose="02020603050405020304" charset="0"/>
              </a:rPr>
              <a:t>A. Karkhur and R. Dubey, “A Study on Predicting Crime Rates through Machine Learning,” International Journal for Research in Applied Science &amp; Engineering Technology, 2025.</a:t>
            </a:r>
            <a:endParaRPr lang="en-US" altLang="en-US" sz="2800" dirty="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1" cstate="print"/>
            <a:stretch>
              <a:fillRect/>
            </a:stretch>
          </p:blipFill>
          <p:spPr>
            <a:xfrm>
              <a:off x="0" y="0"/>
              <a:ext cx="12192000" cy="6857999"/>
            </a:xfrm>
            <a:prstGeom prst="rect">
              <a:avLst/>
            </a:prstGeom>
          </p:spPr>
        </p:pic>
        <p:pic>
          <p:nvPicPr>
            <p:cNvPr id="4" name="object 4"/>
            <p:cNvPicPr/>
            <p:nvPr/>
          </p:nvPicPr>
          <p:blipFill>
            <a:blip r:embed="rId2" cstate="print"/>
            <a:stretch>
              <a:fillRect/>
            </a:stretch>
          </p:blipFill>
          <p:spPr>
            <a:xfrm>
              <a:off x="0" y="126"/>
              <a:ext cx="2851530" cy="6857873"/>
            </a:xfrm>
            <a:prstGeom prst="rect">
              <a:avLst/>
            </a:prstGeom>
          </p:spPr>
        </p:pic>
        <p:sp>
          <p:nvSpPr>
            <p:cNvPr id="5" name="object 5"/>
            <p:cNvSpPr/>
            <p:nvPr/>
          </p:nvSpPr>
          <p:spPr>
            <a:xfrm>
              <a:off x="0" y="0"/>
              <a:ext cx="182880" cy="6858000"/>
            </a:xfrm>
            <a:custGeom>
              <a:avLst/>
              <a:gdLst/>
              <a:ahLst/>
              <a:cxnLst/>
              <a:rect l="l" t="t" r="r" b="b"/>
              <a:pathLst>
                <a:path w="182880" h="6858000">
                  <a:moveTo>
                    <a:pt x="182880" y="0"/>
                  </a:moveTo>
                  <a:lnTo>
                    <a:pt x="0" y="0"/>
                  </a:lnTo>
                  <a:lnTo>
                    <a:pt x="0" y="6858000"/>
                  </a:lnTo>
                  <a:lnTo>
                    <a:pt x="182880" y="6858000"/>
                  </a:lnTo>
                  <a:lnTo>
                    <a:pt x="182880" y="0"/>
                  </a:lnTo>
                  <a:close/>
                </a:path>
              </a:pathLst>
            </a:custGeom>
            <a:solidFill>
              <a:srgbClr val="D1282D"/>
            </a:solidFill>
          </p:spPr>
          <p:txBody>
            <a:bodyPr wrap="square" lIns="0" tIns="0" rIns="0" bIns="0" rtlCol="0"/>
            <a:lstStyle/>
            <a:p/>
          </p:txBody>
        </p:sp>
        <p:sp>
          <p:nvSpPr>
            <p:cNvPr id="6" name="object 6"/>
            <p:cNvSpPr/>
            <p:nvPr/>
          </p:nvSpPr>
          <p:spPr>
            <a:xfrm>
              <a:off x="0" y="714375"/>
              <a:ext cx="1591945" cy="507365"/>
            </a:xfrm>
            <a:custGeom>
              <a:avLst/>
              <a:gdLst/>
              <a:ahLst/>
              <a:cxnLst/>
              <a:rect l="l" t="t" r="r" b="b"/>
              <a:pathLst>
                <a:path w="1591945" h="507365">
                  <a:moveTo>
                    <a:pt x="0" y="0"/>
                  </a:moveTo>
                  <a:lnTo>
                    <a:pt x="0" y="503820"/>
                  </a:lnTo>
                  <a:lnTo>
                    <a:pt x="1245438" y="507238"/>
                  </a:lnTo>
                  <a:lnTo>
                    <a:pt x="1345692" y="507238"/>
                  </a:lnTo>
                  <a:lnTo>
                    <a:pt x="1351915" y="500888"/>
                  </a:lnTo>
                  <a:lnTo>
                    <a:pt x="1353820" y="499363"/>
                  </a:lnTo>
                  <a:lnTo>
                    <a:pt x="1584325" y="268859"/>
                  </a:lnTo>
                  <a:lnTo>
                    <a:pt x="1589611" y="261695"/>
                  </a:lnTo>
                  <a:lnTo>
                    <a:pt x="1591373" y="254508"/>
                  </a:lnTo>
                  <a:lnTo>
                    <a:pt x="1589611" y="247320"/>
                  </a:lnTo>
                  <a:lnTo>
                    <a:pt x="1584325" y="240157"/>
                  </a:lnTo>
                  <a:lnTo>
                    <a:pt x="1355344" y="11302"/>
                  </a:lnTo>
                  <a:lnTo>
                    <a:pt x="1350391" y="11302"/>
                  </a:lnTo>
                  <a:lnTo>
                    <a:pt x="1350391" y="6476"/>
                  </a:lnTo>
                  <a:lnTo>
                    <a:pt x="1345692" y="6476"/>
                  </a:lnTo>
                  <a:lnTo>
                    <a:pt x="1340993" y="1777"/>
                  </a:lnTo>
                  <a:lnTo>
                    <a:pt x="0" y="0"/>
                  </a:lnTo>
                  <a:close/>
                </a:path>
              </a:pathLst>
            </a:custGeom>
            <a:solidFill>
              <a:srgbClr val="797979"/>
            </a:solidFill>
          </p:spPr>
          <p:txBody>
            <a:bodyPr wrap="square" lIns="0" tIns="0" rIns="0" bIns="0" rtlCol="0"/>
            <a:lstStyle/>
            <a:p/>
          </p:txBody>
        </p:sp>
      </p:grpSp>
      <p:sp>
        <p:nvSpPr>
          <p:cNvPr id="7" name="object 7"/>
          <p:cNvSpPr txBox="1"/>
          <p:nvPr/>
        </p:nvSpPr>
        <p:spPr>
          <a:xfrm rot="10860000">
            <a:off x="6651638" y="4377437"/>
            <a:ext cx="795795" cy="762000"/>
          </a:xfrm>
          <a:prstGeom prst="rect">
            <a:avLst/>
          </a:prstGeom>
        </p:spPr>
        <p:txBody>
          <a:bodyPr vert="horz" wrap="square" lIns="0" tIns="0" rIns="0" bIns="0" rtlCol="0">
            <a:spAutoFit/>
          </a:bodyPr>
          <a:lstStyle/>
          <a:p>
            <a:pPr>
              <a:lnSpc>
                <a:spcPts val="6000"/>
              </a:lnSpc>
            </a:pPr>
            <a:r>
              <a:rPr sz="6000" spc="-600" dirty="0">
                <a:latin typeface="Verdana" panose="020B0604030504040204"/>
                <a:cs typeface="Verdana" panose="020B0604030504040204"/>
              </a:rPr>
              <a:t>.</a:t>
            </a:r>
            <a:endParaRPr sz="6000">
              <a:latin typeface="Verdana" panose="020B0604030504040204"/>
              <a:cs typeface="Verdana" panose="020B0604030504040204"/>
            </a:endParaRPr>
          </a:p>
        </p:txBody>
      </p:sp>
      <p:sp>
        <p:nvSpPr>
          <p:cNvPr id="8" name="object 8"/>
          <p:cNvSpPr txBox="1">
            <a:spLocks noGrp="1"/>
          </p:cNvSpPr>
          <p:nvPr>
            <p:ph type="title"/>
          </p:nvPr>
        </p:nvSpPr>
        <p:spPr>
          <a:xfrm>
            <a:off x="5363971" y="198831"/>
            <a:ext cx="4277360" cy="940435"/>
          </a:xfrm>
          <a:prstGeom prst="rect">
            <a:avLst/>
          </a:prstGeom>
        </p:spPr>
        <p:txBody>
          <a:bodyPr vert="horz" wrap="square" lIns="0" tIns="12700" rIns="0" bIns="0" rtlCol="0">
            <a:spAutoFit/>
          </a:bodyPr>
          <a:lstStyle/>
          <a:p>
            <a:pPr marL="12700">
              <a:lnSpc>
                <a:spcPct val="100000"/>
              </a:lnSpc>
              <a:spcBef>
                <a:spcPts val="100"/>
              </a:spcBef>
            </a:pPr>
            <a:r>
              <a:rPr sz="6000" spc="-430" dirty="0">
                <a:solidFill>
                  <a:srgbClr val="D1282D"/>
                </a:solidFill>
              </a:rPr>
              <a:t>THANK</a:t>
            </a:r>
            <a:r>
              <a:rPr sz="6000" spc="-70" dirty="0">
                <a:solidFill>
                  <a:srgbClr val="D1282D"/>
                </a:solidFill>
              </a:rPr>
              <a:t> </a:t>
            </a:r>
            <a:r>
              <a:rPr sz="6000" spc="-100" dirty="0">
                <a:solidFill>
                  <a:srgbClr val="D1282D"/>
                </a:solidFill>
              </a:rPr>
              <a:t>YOU</a:t>
            </a:r>
            <a:endParaRPr sz="6000"/>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7521</Words>
  <Application>WPS Presentation</Application>
  <PresentationFormat>On-screen Show (4:3)</PresentationFormat>
  <Paragraphs>163</Paragraphs>
  <Slides>24</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24</vt:i4>
      </vt:variant>
    </vt:vector>
  </HeadingPairs>
  <TitlesOfParts>
    <vt:vector size="41" baseType="lpstr">
      <vt:lpstr>Arial</vt:lpstr>
      <vt:lpstr>SimSun</vt:lpstr>
      <vt:lpstr>Wingdings</vt:lpstr>
      <vt:lpstr>Tahoma</vt:lpstr>
      <vt:lpstr>Arial MT</vt:lpstr>
      <vt:lpstr>Verdana</vt:lpstr>
      <vt:lpstr>Microsoft Sans Serif</vt:lpstr>
      <vt:lpstr>Calibri</vt:lpstr>
      <vt:lpstr>Times New Roman</vt:lpstr>
      <vt:lpstr>Arial</vt:lpstr>
      <vt:lpstr>Microsoft YaHei</vt:lpstr>
      <vt:lpstr>Arial Unicode MS</vt:lpstr>
      <vt:lpstr>Wingdings</vt:lpstr>
      <vt:lpstr>Times New Roman</vt:lpstr>
      <vt:lpstr>Wingdings</vt:lpstr>
      <vt:lpstr>Calibri</vt:lpstr>
      <vt:lpstr>Default Design</vt:lpstr>
      <vt:lpstr>LEARNING</vt:lpstr>
      <vt:lpstr>CRIME RATE ANALYSIS AND PREDICTION USING MACHINE LEARNING</vt:lpstr>
      <vt:lpstr>CONTENTS</vt:lpstr>
      <vt:lpstr>INTRODUCTION</vt:lpstr>
      <vt:lpstr>PowerPoint 演示文稿</vt:lpstr>
      <vt:lpstr>OBJECTIVE</vt:lpstr>
      <vt:lpstr>ABSTRACT</vt:lpstr>
      <vt:lpstr>PROBLEM STATEMENT</vt:lpstr>
      <vt:lpstr>PowerPoint 演示文稿</vt:lpstr>
      <vt:lpstr>EXISTING SYSTEM</vt:lpstr>
      <vt:lpstr>DISADVANTAGES</vt:lpstr>
      <vt:lpstr>PROPOSED SYSTEM</vt:lpstr>
      <vt:lpstr>MODULES</vt:lpstr>
      <vt:lpstr>PowerPoint 演示文稿</vt:lpstr>
      <vt:lpstr>Decision  Tree  is  a  supervised  machine learning algorithm that uses a tree-like structure to make decisions. It splits data into branches based on feature conditions, leading to a final decision or class label at the leaf nodes.</vt:lpstr>
      <vt:lpstr>PowerPoint 演示文稿</vt:lpstr>
      <vt:lpstr>PowerPoint 演示文稿</vt:lpstr>
      <vt:lpstr>PowerPoint 演示文稿</vt:lpstr>
      <vt:lpstr>ADVANTAGES</vt:lpstr>
      <vt:lpstr>APPLICATIONS</vt:lpstr>
      <vt:lpstr>SOFTWARE REQUIREMENT</vt:lpstr>
      <vt:lpstr>HARDWARE REQUIREMENTS</vt:lpstr>
      <vt:lpstr>REFERENCE</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CRIME RATE ANALYSIS AND PREDICTION USING MACHINELEARNING</dc:title>
  <dc:creator>pallapothu sindhu</dc:creator>
  <cp:lastModifiedBy>Priyanka Bandarupalli</cp:lastModifiedBy>
  <cp:revision>11</cp:revision>
  <dcterms:created xsi:type="dcterms:W3CDTF">2026-02-04T08:58:00Z</dcterms:created>
  <dcterms:modified xsi:type="dcterms:W3CDTF">2026-02-05T07:47:15Z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2026-02-03T11:00:00Z</vt:filetime>
  </property>
  <property fmtid="{D5CDD505-2E9C-101B-9397-08002B2CF9AE}" pid="3" name="Creator">
    <vt:lpwstr>Microsoft® PowerPoint® 2021</vt:lpwstr>
  </property>
  <property fmtid="{D5CDD505-2E9C-101B-9397-08002B2CF9AE}" pid="4" name="LastSaved">
    <vt:filetime>2026-02-04T11:00:00Z</vt:filetime>
  </property>
  <property fmtid="{D5CDD505-2E9C-101B-9397-08002B2CF9AE}" pid="5" name="Producer">
    <vt:lpwstr>Microsoft® PowerPoint® 2021</vt:lpwstr>
  </property>
  <property fmtid="{D5CDD505-2E9C-101B-9397-08002B2CF9AE}" pid="6" name="ICV">
    <vt:lpwstr>6AC820B0F4814159B0C698803C14F5C1_13</vt:lpwstr>
  </property>
  <property fmtid="{D5CDD505-2E9C-101B-9397-08002B2CF9AE}" pid="7" name="KSOProductBuildVer">
    <vt:lpwstr>1033-12.2.0.21179</vt:lpwstr>
  </property>
</Properties>
</file>